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53"/>
  </p:notesMasterIdLst>
  <p:sldIdLst>
    <p:sldId id="256" r:id="rId4"/>
    <p:sldId id="257" r:id="rId5"/>
    <p:sldId id="258" r:id="rId6"/>
    <p:sldId id="301" r:id="rId7"/>
    <p:sldId id="259" r:id="rId8"/>
    <p:sldId id="302" r:id="rId9"/>
    <p:sldId id="260" r:id="rId10"/>
    <p:sldId id="303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99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304" r:id="rId50"/>
    <p:sldId id="298" r:id="rId51"/>
    <p:sldId id="300" r:id="rId52"/>
  </p:sldIdLst>
  <p:sldSz cx="9144000" cy="5143500" type="screen16x9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590" autoAdjust="0"/>
  </p:normalViewPr>
  <p:slideViewPr>
    <p:cSldViewPr snapToGrid="0">
      <p:cViewPr varScale="1">
        <p:scale>
          <a:sx n="117" d="100"/>
          <a:sy n="117" d="100"/>
        </p:scale>
        <p:origin x="13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rgbClr val="EC0044"/>
            </a:solidFill>
            <a:ln>
              <a:noFill/>
            </a:ln>
          </c:spPr>
          <c:dPt>
            <c:idx val="0"/>
            <c:bubble3D val="0"/>
            <c:spPr>
              <a:solidFill>
                <a:srgbClr val="EC0044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24FD-47E0-AE9C-E19D6D78C0A5}"/>
              </c:ext>
            </c:extLst>
          </c:dPt>
          <c:dPt>
            <c:idx val="1"/>
            <c:bubble3D val="0"/>
            <c:spPr>
              <a:solidFill>
                <a:srgbClr val="0230AC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24FD-47E0-AE9C-E19D6D78C0A5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FD-47E0-AE9C-E19D6D78C0A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FD-47E0-AE9C-E19D6D78C0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strike="noStrike" spc="-1">
                    <a:solidFill>
                      <a:srgbClr val="0230AC"/>
                    </a:solidFill>
                    <a:latin typeface="Calibri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 руб.</c:v>
                </c:pt>
                <c:pt idx="1">
                  <c:v>5 руб.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FD-47E0-AE9C-E19D6D78C0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rgbClr val="EC0044"/>
            </a:solidFill>
            <a:ln>
              <a:noFill/>
            </a:ln>
          </c:spPr>
          <c:dPt>
            <c:idx val="0"/>
            <c:bubble3D val="0"/>
            <c:spPr>
              <a:solidFill>
                <a:srgbClr val="EC0044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6190-4639-9CB0-96783E305952}"/>
              </c:ext>
            </c:extLst>
          </c:dPt>
          <c:dPt>
            <c:idx val="1"/>
            <c:bubble3D val="0"/>
            <c:spPr>
              <a:solidFill>
                <a:srgbClr val="0230AC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6190-4639-9CB0-96783E30595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90-4639-9CB0-96783E30595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90-4639-9CB0-96783E3059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strike="noStrike" spc="-1">
                    <a:solidFill>
                      <a:srgbClr val="0230AC"/>
                    </a:solidFill>
                    <a:latin typeface="Calibri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 руб.</c:v>
                </c:pt>
                <c:pt idx="1">
                  <c:v>5 руб.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90-4639-9CB0-96783E305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rgbClr val="EC0044"/>
            </a:solidFill>
            <a:ln>
              <a:noFill/>
            </a:ln>
          </c:spPr>
          <c:dPt>
            <c:idx val="0"/>
            <c:bubble3D val="0"/>
            <c:spPr>
              <a:solidFill>
                <a:srgbClr val="EC0044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21EF-4190-BC80-E47F58EDE40E}"/>
              </c:ext>
            </c:extLst>
          </c:dPt>
          <c:dPt>
            <c:idx val="1"/>
            <c:bubble3D val="0"/>
            <c:spPr>
              <a:solidFill>
                <a:srgbClr val="0230AC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21EF-4190-BC80-E47F58EDE40E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EF-4190-BC80-E47F58EDE40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EF-4190-BC80-E47F58EDE4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strike="noStrike" spc="-1">
                    <a:solidFill>
                      <a:srgbClr val="0230AC"/>
                    </a:solidFill>
                    <a:latin typeface="Calibri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 руб.</c:v>
                </c:pt>
                <c:pt idx="1">
                  <c:v>5 руб.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EF-4190-BC80-E47F58EDE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rgbClr val="EC0044"/>
            </a:solidFill>
            <a:ln>
              <a:noFill/>
            </a:ln>
          </c:spPr>
          <c:dPt>
            <c:idx val="0"/>
            <c:bubble3D val="0"/>
            <c:spPr>
              <a:solidFill>
                <a:srgbClr val="EC0044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5B5F-4410-9C83-574434B31EB8}"/>
              </c:ext>
            </c:extLst>
          </c:dPt>
          <c:dPt>
            <c:idx val="1"/>
            <c:bubble3D val="0"/>
            <c:spPr>
              <a:solidFill>
                <a:srgbClr val="0230AC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5B5F-4410-9C83-574434B31EB8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5F-4410-9C83-574434B31EB8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5F-4410-9C83-574434B31E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strike="noStrike" spc="-1">
                    <a:solidFill>
                      <a:srgbClr val="0230AC"/>
                    </a:solidFill>
                    <a:latin typeface="Calibri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 руб.</c:v>
                </c:pt>
                <c:pt idx="1">
                  <c:v>5 руб.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5F-4410-9C83-574434B31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rgbClr val="EC0044"/>
            </a:solidFill>
            <a:ln>
              <a:noFill/>
            </a:ln>
          </c:spPr>
          <c:dPt>
            <c:idx val="0"/>
            <c:bubble3D val="0"/>
            <c:spPr>
              <a:solidFill>
                <a:srgbClr val="EC0044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AE73-4232-8FFE-5ADDE6C333EF}"/>
              </c:ext>
            </c:extLst>
          </c:dPt>
          <c:dPt>
            <c:idx val="1"/>
            <c:bubble3D val="0"/>
            <c:spPr>
              <a:solidFill>
                <a:srgbClr val="0230AC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AE73-4232-8FFE-5ADDE6C333E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73-4232-8FFE-5ADDE6C333E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 b="0" strike="noStrike" spc="-1">
                      <a:solidFill>
                        <a:srgbClr val="0230AC"/>
                      </a:solidFill>
                      <a:latin typeface="Calibri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73-4232-8FFE-5ADDE6C333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strike="noStrike" spc="-1">
                    <a:solidFill>
                      <a:srgbClr val="0230AC"/>
                    </a:solidFill>
                    <a:latin typeface="Calibri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 руб.</c:v>
                </c:pt>
                <c:pt idx="1">
                  <c:v>5 руб.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87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73-4232-8FFE-5ADDE6C33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 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 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 </a:t>
            </a:r>
          </a:p>
        </p:txBody>
      </p:sp>
      <p:sp>
        <p:nvSpPr>
          <p:cNvPr id="12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D8EE337A-07A8-4441-9446-2BC43825879E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Эмоции играют важную роль в способности</a:t>
            </a:r>
            <a:r>
              <a:rPr lang="ru-RU" baseline="0" dirty="0"/>
              <a:t> принимать решения и влияют на поведение человека, нельзя недооценивать их влияние на принятие решений.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D8EE337A-07A8-4441-9446-2BC43825879E}" type="slidenum">
              <a:rPr lang="ru-RU" sz="1400" b="0" strike="noStrike" spc="-1" smtClean="0">
                <a:latin typeface="Times New Roman"/>
              </a:rPr>
              <a:t>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682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/>
              <a:t>Направления ТРВ: нормативный подход отвечает на вопрос «Что есть рациональное поведение?»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D8EE337A-07A8-4441-9446-2BC43825879E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6107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6392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strike="noStrike" spc="-1" dirty="0">
                <a:solidFill>
                  <a:srgbClr val="0230AC"/>
                </a:solidFill>
                <a:latin typeface="Calibri"/>
                <a:ea typeface="+mn-ea"/>
              </a:rPr>
              <a:t>Аксиома полной упорядоченности предпочтений потребителя</a:t>
            </a:r>
            <a:endParaRPr lang="ru-RU" sz="1200" b="0" strike="noStrike" spc="-1" dirty="0">
              <a:solidFill>
                <a:srgbClr val="0230AC"/>
              </a:solidFill>
              <a:latin typeface="Calibri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spc="-1" dirty="0">
                <a:solidFill>
                  <a:srgbClr val="0230AC"/>
                </a:solidFill>
                <a:latin typeface="Calibri"/>
                <a:ea typeface="+mn-ea"/>
              </a:rPr>
              <a:t>Потребитель способен упорядочить все возможные наборы товаров с помощью отношений предпочтения (</a:t>
            </a:r>
            <a:r>
              <a:rPr lang="en-US" sz="1200" spc="-1" dirty="0">
                <a:solidFill>
                  <a:srgbClr val="0230AC"/>
                </a:solidFill>
                <a:latin typeface="Calibri"/>
                <a:ea typeface="+mn-ea"/>
              </a:rPr>
              <a:t>&gt;</a:t>
            </a:r>
            <a:r>
              <a:rPr lang="ru-RU" sz="1200" spc="-1" dirty="0">
                <a:solidFill>
                  <a:srgbClr val="0230AC"/>
                </a:solidFill>
                <a:latin typeface="Calibri"/>
                <a:ea typeface="+mn-ea"/>
              </a:rPr>
              <a:t>) и безразличия (</a:t>
            </a:r>
            <a:r>
              <a:rPr lang="en-US" sz="1200" spc="-1" dirty="0">
                <a:solidFill>
                  <a:srgbClr val="0230AC"/>
                </a:solidFill>
                <a:latin typeface="Calibri"/>
                <a:ea typeface="+mn-ea"/>
              </a:rPr>
              <a:t>~</a:t>
            </a:r>
            <a:r>
              <a:rPr lang="ru-RU" sz="1200" spc="-1" dirty="0">
                <a:solidFill>
                  <a:srgbClr val="0230AC"/>
                </a:solidFill>
                <a:latin typeface="Calibri"/>
                <a:ea typeface="+mn-ea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spc="-1" dirty="0">
                <a:solidFill>
                  <a:srgbClr val="0230AC"/>
                </a:solidFill>
                <a:latin typeface="Calibri"/>
                <a:ea typeface="+mn-ea"/>
              </a:rPr>
              <a:t>Аксиома транзитивности </a:t>
            </a:r>
            <a:r>
              <a:rPr lang="ru-RU" sz="1200" spc="-1" dirty="0">
                <a:solidFill>
                  <a:srgbClr val="0230AC"/>
                </a:solidFill>
                <a:latin typeface="Calibri"/>
                <a:ea typeface="+mn-ea"/>
              </a:rPr>
              <a:t>гарантирует согласованность предпочтений, например, исключает возможность следующей ситуации: А &gt; В, В &gt; С и одновременно С &gt; 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spc="-1" dirty="0">
              <a:solidFill>
                <a:srgbClr val="0230AC"/>
              </a:solidFill>
              <a:latin typeface="Calibri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spc="-1" dirty="0">
              <a:solidFill>
                <a:srgbClr val="0230AC"/>
              </a:solidFill>
              <a:latin typeface="Calibri"/>
              <a:ea typeface="+mn-ea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D8EE337A-07A8-4441-9446-2BC43825879E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80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spc="-1" dirty="0">
              <a:solidFill>
                <a:srgbClr val="0230AC"/>
              </a:solidFill>
              <a:latin typeface="Calibri"/>
              <a:ea typeface="+mn-ea"/>
            </a:endParaRPr>
          </a:p>
          <a:p>
            <a:endParaRPr lang="ru-RU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6734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656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2000" b="0" strike="noStrike" spc="-1" dirty="0">
                <a:latin typeface="Arial"/>
              </a:rPr>
              <a:t>Пример эффекта ожидания. В эксперименте, проведённом в MIT, группе студентов дали на пробу два варианта пива, не объясняя, что в одно из них добавлен уксус. Студентам больше по вкусу пришлось пиво с уксусом. Когда этой же группе предложили то же пиво, объяснив, в каком из них содержится уксус, результаты оказались прямо противоположными. Знание изменило их вкусовые ощущения!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708336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</a:t>
            </a:r>
            <a:r>
              <a:rPr lang="ru-RU" baseline="0" dirty="0"/>
              <a:t> мы сталкиваемся с выбором или принятием решения, эмоции играют решающую роль в том, как мы воспринимаем ситуацию и принимаем окончательное решение.</a:t>
            </a:r>
          </a:p>
          <a:p>
            <a:r>
              <a:rPr lang="ru-RU" baseline="0" dirty="0"/>
              <a:t>Эмоции могут возникать как непосредственно перед принятием решения, так и влиять на наше состояние, анализ и оценку альтернатив.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D8EE337A-07A8-4441-9446-2BC43825879E}" type="slidenum">
              <a:rPr lang="ru-RU" sz="1400" b="0" strike="noStrike" spc="-1" smtClean="0">
                <a:latin typeface="Times New Roman"/>
              </a:rPr>
              <a:t>19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3157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2000" b="0" strike="noStrike" spc="-1" dirty="0">
                <a:latin typeface="Arial"/>
              </a:rPr>
              <a:t>Проекционное мышление: когда на улице очень жарко, люди покупают машины с откидным верхом и не покупают чёрные автомобили.</a:t>
            </a:r>
          </a:p>
          <a:p>
            <a:r>
              <a:rPr lang="ru-RU" sz="2000" b="0" strike="noStrike" spc="-1" dirty="0">
                <a:latin typeface="Arial"/>
              </a:rPr>
              <a:t>Эффект якоря: в ресторанах включают в меню очень дорогие вина, чтобы цены «средних» вин казались более приемлемыми.</a:t>
            </a:r>
          </a:p>
          <a:p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 влияют на наши решения, поскольку корректируют сферу внимания.</a:t>
            </a:r>
            <a:endParaRPr lang="ru-RU" sz="1800" b="0" strike="noStrike" spc="-1" dirty="0">
              <a:latin typeface="Arial"/>
            </a:endParaRPr>
          </a:p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Например, если вашего ребенка нет дома, вам трудно сосредоточиться.</a:t>
            </a:r>
            <a:endParaRPr lang="ru-RU" sz="1800" b="0" strike="noStrike" spc="-1" dirty="0">
              <a:latin typeface="Arial"/>
            </a:endParaRPr>
          </a:p>
          <a:p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Мы постоянно находимся в поиске той информации, которая подходит под наше настроение. Особенно когда мы не в духе. Именно поэтому люди часто слушают печальные мелодии, когда им грустно. </a:t>
            </a:r>
            <a:endParaRPr lang="ru-RU" sz="1800" b="0" strike="noStrike" spc="-1" dirty="0">
              <a:latin typeface="Arial"/>
            </a:endParaRPr>
          </a:p>
          <a:p>
            <a:endParaRPr lang="ru-RU" sz="1800" b="0" strike="noStrike" spc="-1" dirty="0">
              <a:latin typeface="Arial"/>
            </a:endParaRPr>
          </a:p>
          <a:p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  <a:p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Так сложилось в ходе эволюции. Когда наши предки испытывали эмоции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, они они 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сравнивали 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доступные варианты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0612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Например, было проведено исследование с целью измерить желание людей платить за CD-диск Мадонны. Для начала респондентам задали не относящиеся к делу вопросы, чтобы направить их мышление рациональным или эмоциональным образом. После чего спросили: «Сколько бы вы заплатили за набор из пяти или десяти CD-дисков?».</a:t>
            </a:r>
            <a:endParaRPr lang="ru-RU" sz="1800" b="0" strike="noStrike" spc="-1" dirty="0">
              <a:latin typeface="Arial"/>
            </a:endParaRPr>
          </a:p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Люди вычисляют желание заплатить за товар в зависимости от типа мышления:</a:t>
            </a:r>
            <a:endParaRPr lang="ru-RU" sz="1800" b="0" strike="noStrike" spc="-1" dirty="0">
              <a:latin typeface="Arial"/>
            </a:endParaRPr>
          </a:p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Представители рациональной группы подсчитали, сколько бы они заплатили за один CD-диск (например, $3). После чего умножили значение на количество CD-дисков (например, $15 за набор из пяти CD-дисков, $30 за набор из десяти CD-дисков).</a:t>
            </a:r>
            <a:endParaRPr lang="ru-RU" sz="1800" b="0" strike="noStrike" spc="-1" dirty="0">
              <a:latin typeface="Arial"/>
            </a:endParaRPr>
          </a:p>
          <a:p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Представители эмоциональной группы в вычислениях основывались на личном отношении к Мадонне. Вне зависимости от количества дисков в наборе оно оставалось одинаковым, поэтому и интенсивность желания заплатить не изменялось (около $20).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D8EE337A-07A8-4441-9446-2BC43825879E}" type="slidenum">
              <a:rPr lang="ru-RU" sz="1400" b="0" strike="noStrike" spc="-1" smtClean="0">
                <a:latin typeface="Times New Roman"/>
              </a:rPr>
              <a:t>46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5137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5098320" y="490320"/>
            <a:ext cx="183960" cy="36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2"/>
          <p:cNvSpPr/>
          <p:nvPr/>
        </p:nvSpPr>
        <p:spPr>
          <a:xfrm>
            <a:off x="5910840" y="427320"/>
            <a:ext cx="183960" cy="36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 fontScale="88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171360" y="4280040"/>
            <a:ext cx="1675800" cy="704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 fontScale="88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 fontScale="88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hart" Target="../charts/chart5.xml"/><Relationship Id="rId7" Type="http://schemas.openxmlformats.org/officeDocument/2006/relationships/image" Target="../media/image44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50.png"/><Relationship Id="rId7" Type="http://schemas.openxmlformats.org/officeDocument/2006/relationships/image" Target="../media/image3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2294280"/>
            <a:ext cx="9143280" cy="70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3200" b="0" strike="noStrike" spc="-1">
                <a:solidFill>
                  <a:srgbClr val="FFFFFF"/>
                </a:solidFill>
                <a:latin typeface="Calibri"/>
              </a:rPr>
              <a:t>Влияние эмоций на принятие решений</a:t>
            </a:r>
            <a:endParaRPr lang="ru-RU" sz="3200" b="0" strike="noStrike" spc="-1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0" y="4667400"/>
            <a:ext cx="9143280" cy="30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"/>
          <p:cNvSpPr/>
          <p:nvPr/>
        </p:nvSpPr>
        <p:spPr>
          <a:xfrm>
            <a:off x="1371600" y="3637080"/>
            <a:ext cx="6400080" cy="462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рационального выбора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1401AB5-7FB7-48F5-9FDD-9C33F775475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243360" y="851400"/>
            <a:ext cx="8480880" cy="608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4"/>
          <p:cNvSpPr/>
          <p:nvPr/>
        </p:nvSpPr>
        <p:spPr>
          <a:xfrm>
            <a:off x="243360" y="862560"/>
            <a:ext cx="8480880" cy="285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Теория рационального выбора формировалась столетиями</a:t>
            </a:r>
          </a:p>
          <a:p>
            <a:pPr marL="343080" indent="-34236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StarSymbol"/>
              <a:buChar char="*"/>
            </a:pP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Заключается в определении наилучшего варианта действий по достижению цели при ограниченных ресурсах</a:t>
            </a:r>
          </a:p>
          <a:p>
            <a:pPr marL="343080" indent="-34236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Является основой принятия экономических решений</a:t>
            </a:r>
            <a:endParaRPr lang="ru-RU" sz="1800" b="0" strike="noStrike" spc="-1" dirty="0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Служит двум основным целям:</a:t>
            </a:r>
            <a:endParaRPr lang="ru-RU" sz="1800" b="0" strike="noStrike" spc="-1" dirty="0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Нормативной (как должны думать), которая позволяет:</a:t>
            </a:r>
            <a:endParaRPr lang="ru-RU" sz="1800" b="0" strike="noStrike" spc="-1" dirty="0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281"/>
              </a:spcBef>
              <a:buClr>
                <a:srgbClr val="0230AC"/>
              </a:buClr>
              <a:buFont typeface="Arial"/>
              <a:buChar char="•"/>
            </a:pPr>
            <a:r>
              <a:rPr lang="ru-RU" sz="14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Избегать нелепых домыслов</a:t>
            </a:r>
            <a:endParaRPr lang="ru-RU" sz="1400" b="0" strike="noStrike" spc="-1" dirty="0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281"/>
              </a:spcBef>
              <a:buClr>
                <a:srgbClr val="0230AC"/>
              </a:buClr>
              <a:buFont typeface="Arial"/>
              <a:buChar char="•"/>
            </a:pPr>
            <a:r>
              <a:rPr lang="ru-RU" sz="14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Анализировать аргументы</a:t>
            </a:r>
            <a:endParaRPr lang="ru-RU" sz="1400" b="0" strike="noStrike" spc="-1" dirty="0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281"/>
              </a:spcBef>
              <a:buClr>
                <a:srgbClr val="0230AC"/>
              </a:buClr>
              <a:buFont typeface="Arial"/>
              <a:buChar char="•"/>
            </a:pPr>
            <a:r>
              <a:rPr lang="ru-RU" sz="14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Спроектировать оптимальные алгоритмы искусственного интеллекта</a:t>
            </a:r>
            <a:endParaRPr lang="ru-RU" sz="1400" b="0" strike="noStrike" spc="-1" dirty="0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Дескриптивной (как думают на самом деле):</a:t>
            </a:r>
          </a:p>
          <a:p>
            <a:pPr marL="1200150" lvl="2" indent="-284163">
              <a:spcBef>
                <a:spcPts val="36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400" spc="-1" dirty="0">
                <a:solidFill>
                  <a:srgbClr val="0230AC"/>
                </a:solidFill>
                <a:latin typeface="Calibri"/>
                <a:ea typeface="DejaVu Sans"/>
              </a:rPr>
              <a:t>Заключается в выражении и проверке гипотез, характеризующих рациональное поведение</a:t>
            </a:r>
          </a:p>
          <a:p>
            <a:pPr marL="1143000" lvl="2" indent="-227880">
              <a:lnSpc>
                <a:spcPct val="100000"/>
              </a:lnSpc>
              <a:spcBef>
                <a:spcPts val="281"/>
              </a:spcBef>
              <a:buClr>
                <a:srgbClr val="0230AC"/>
              </a:buClr>
              <a:buFont typeface="Arial"/>
              <a:buChar char="•"/>
            </a:pPr>
            <a:r>
              <a:rPr lang="ru-RU" sz="14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Фундаментальный постулат – люди мыслят рационально</a:t>
            </a:r>
            <a:endParaRPr lang="ru-RU" sz="1400" b="0" strike="noStrike" spc="-1" dirty="0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281"/>
              </a:spcBef>
              <a:buClr>
                <a:srgbClr val="0230AC"/>
              </a:buClr>
              <a:buFont typeface="Arial"/>
              <a:buChar char="•"/>
            </a:pPr>
            <a:r>
              <a:rPr lang="ru-RU" sz="14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Допускает, что люди могут мыслить нерационально, однако воспринимает это как шум, считая, что население в целом действует рационально</a:t>
            </a:r>
            <a:endParaRPr lang="ru-RU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C037DD6-EA78-481E-842C-73FD6353E086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243360" y="851400"/>
            <a:ext cx="8480880" cy="608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CustomShape 3"/>
          <p:cNvSpPr/>
          <p:nvPr/>
        </p:nvSpPr>
        <p:spPr>
          <a:xfrm>
            <a:off x="243360" y="862560"/>
            <a:ext cx="6487200" cy="285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Теория рационального выбора включает:</a:t>
            </a:r>
            <a:endParaRPr lang="ru-RU" sz="1800" b="0" strike="noStrike" spc="-1" dirty="0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Теорию принятия решений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, основанную на расчетах затрат и выгод, которые люди делают без учета планов и решений других людей</a:t>
            </a:r>
            <a:endParaRPr lang="ru-RU" sz="1800" b="0" strike="noStrike" spc="-1" dirty="0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6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Теорию игр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, которая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анализирует, как люди делают выбор, основываясь на том, что они ожидают от других людей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рационального выбора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179F99C-8A6C-4896-8C0C-3A38D237A51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b="1" spc="-1" dirty="0">
                <a:solidFill>
                  <a:srgbClr val="0230AC"/>
                </a:solidFill>
                <a:latin typeface="Calibri"/>
                <a:ea typeface="DejaVu Sans"/>
              </a:rPr>
              <a:t>Предпочтения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 – один из основных факторов, воздействующих на выбор конкретных благ отдельными потребителями.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b="1" spc="-1" dirty="0">
                <a:solidFill>
                  <a:srgbClr val="0230AC"/>
                </a:solidFill>
                <a:latin typeface="Calibri"/>
                <a:ea typeface="DejaVu Sans"/>
              </a:rPr>
              <a:t>Благо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 в теории потребления – любой объект потребления, доставляющий определенное удовлетворение потребителю.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При выборе благ потребитель исходит из достижения </a:t>
            </a:r>
            <a:r>
              <a:rPr lang="ru-RU" b="1" spc="-1" dirty="0">
                <a:solidFill>
                  <a:srgbClr val="0230AC"/>
                </a:solidFill>
                <a:latin typeface="Calibri"/>
                <a:ea typeface="DejaVu Sans"/>
              </a:rPr>
              <a:t>наибольшей выгоды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при имеющихся возможностях, которая представляет собой меру удовлетворения потребностей потребителя, т.е. </a:t>
            </a:r>
            <a:r>
              <a:rPr lang="ru-RU" b="1" spc="-1" dirty="0">
                <a:solidFill>
                  <a:srgbClr val="0230AC"/>
                </a:solidFill>
                <a:latin typeface="Calibri"/>
                <a:ea typeface="DejaVu Sans"/>
              </a:rPr>
              <a:t>полезность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Отношение предпочтения </a:t>
            </a:r>
            <a:r>
              <a:rPr lang="en-US" i="1" spc="-1" dirty="0">
                <a:solidFill>
                  <a:srgbClr val="0230AC"/>
                </a:solidFill>
                <a:latin typeface="Calibri"/>
                <a:ea typeface="DejaVu Sans"/>
              </a:rPr>
              <a:t>x &gt; y</a:t>
            </a:r>
            <a:r>
              <a:rPr lang="ru-RU" sz="16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означает, что для потребителя набор благ </a:t>
            </a:r>
            <a:r>
              <a:rPr lang="en-US" sz="1600" i="1" spc="-1" dirty="0">
                <a:solidFill>
                  <a:srgbClr val="0230AC"/>
                </a:solidFill>
                <a:latin typeface="Calibri"/>
                <a:ea typeface="DejaVu Sans"/>
              </a:rPr>
              <a:t>x</a:t>
            </a:r>
            <a:r>
              <a:rPr lang="en-US" sz="1600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предпочтительнее набора </a:t>
            </a:r>
            <a:r>
              <a:rPr lang="en-US" sz="1600" i="1" spc="-1" dirty="0">
                <a:solidFill>
                  <a:srgbClr val="0230AC"/>
                </a:solidFill>
                <a:latin typeface="Calibri"/>
                <a:ea typeface="DejaVu Sans"/>
              </a:rPr>
              <a:t>y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Гипотеза о рациональности предполагает три основные свойства отношения предпочтения: </a:t>
            </a: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сравнимость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, </a:t>
            </a: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транзитивность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 и </a:t>
            </a:r>
            <a:r>
              <a:rPr lang="ru-RU" sz="1600" i="1" spc="-1" dirty="0" err="1">
                <a:solidFill>
                  <a:srgbClr val="0230AC"/>
                </a:solidFill>
                <a:latin typeface="Calibri"/>
                <a:ea typeface="DejaVu Sans"/>
              </a:rPr>
              <a:t>рефлексивность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  <a:endParaRPr lang="ru-RU" sz="1600" b="0" strike="noStrike" spc="-1" dirty="0"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Предпочтения</a:t>
            </a:r>
            <a:endParaRPr lang="ru-RU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72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Аксиомы теории принятия решений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896DE456-EE9A-4EE0-9BD1-C432695D0ECF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5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36" name="CustomShape 3"/>
          <p:cNvSpPr/>
          <p:nvPr/>
        </p:nvSpPr>
        <p:spPr>
          <a:xfrm>
            <a:off x="243360" y="851400"/>
            <a:ext cx="8480880" cy="608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CustomShape 4"/>
          <p:cNvSpPr/>
          <p:nvPr/>
        </p:nvSpPr>
        <p:spPr>
          <a:xfrm>
            <a:off x="243360" y="862560"/>
            <a:ext cx="7471440" cy="285696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179F99C-8A6C-4896-8C0C-3A38D237A51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1" spc="-1" dirty="0">
                <a:solidFill>
                  <a:srgbClr val="0230AC"/>
                </a:solidFill>
                <a:latin typeface="Calibri"/>
                <a:ea typeface="DejaVu Sans"/>
              </a:rPr>
              <a:t>Аксиома </a:t>
            </a:r>
            <a:r>
              <a:rPr lang="ru-RU" sz="1600" b="1" spc="-1" dirty="0" err="1">
                <a:solidFill>
                  <a:srgbClr val="0230AC"/>
                </a:solidFill>
                <a:latin typeface="Calibri"/>
                <a:ea typeface="DejaVu Sans"/>
              </a:rPr>
              <a:t>ненасыщения</a:t>
            </a:r>
            <a:endParaRPr lang="ru-RU" sz="1600" b="1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Если набор А содержит не меньшее количество каждого товара, а одного из них больше, чем набор В, то А &gt; В. 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Таким образом, предполагается, что увеличение потребления любого товара при фиксированных объемах потребления других товаров ≈ улучшает положение потребителя.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1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1" spc="-1" dirty="0">
                <a:solidFill>
                  <a:srgbClr val="0230AC"/>
                </a:solidFill>
                <a:latin typeface="Calibri"/>
                <a:ea typeface="DejaVu Sans"/>
              </a:rPr>
              <a:t>Аксиома независимости потребителя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Удовлетворение потребителя зависит только от количества потребляемых им благ и не зависит от количества благ, потребляемых другими.</a:t>
            </a:r>
          </a:p>
        </p:txBody>
      </p:sp>
      <p:sp>
        <p:nvSpPr>
          <p:cNvPr id="203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Аксиомы теории принятия решений</a:t>
            </a:r>
            <a:endParaRPr lang="ru-RU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748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Аксиомы теории принятия решений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781C5FCF-2F67-4DC5-90C0-0FBF363CCDE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243360" y="851400"/>
            <a:ext cx="8480880" cy="608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CustomShape 4"/>
          <p:cNvSpPr/>
          <p:nvPr/>
        </p:nvSpPr>
        <p:spPr>
          <a:xfrm>
            <a:off x="243360" y="862560"/>
            <a:ext cx="5782320" cy="285696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179F99C-8A6C-4896-8C0C-3A38D237A51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8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just">
              <a:lnSpc>
                <a:spcPct val="100000"/>
              </a:lnSpc>
              <a:spcBef>
                <a:spcPts val="320"/>
              </a:spcBef>
            </a:pPr>
            <a:r>
              <a:rPr lang="ru-RU" sz="16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Функция полезности </a:t>
            </a:r>
            <a:r>
              <a:rPr lang="ru-RU" sz="160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–</a:t>
            </a:r>
            <a:r>
              <a:rPr lang="ru-RU" sz="16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это соотношение между объемами потребляемых благ и уровнем полезности, достигаемым при этом потребителем, т.е. показывает предпочтения потребителя.</a:t>
            </a: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endParaRPr lang="ru-RU" sz="1600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Является целевой функцией действий потребителя в потребительском выборе, выражающей процесс упорядочивания выбираемых потребителем наборов благ.</a:t>
            </a: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endParaRPr lang="ru-RU" sz="1600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r>
              <a:rPr lang="ru-RU" sz="1600" b="1" spc="-1" dirty="0">
                <a:solidFill>
                  <a:srgbClr val="0230AC"/>
                </a:solidFill>
                <a:latin typeface="Calibri"/>
                <a:ea typeface="DejaVu Sans"/>
              </a:rPr>
              <a:t>Полезность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 выражает меру удовлетворения, которое получает субъект от потребления блага или выполнения какого-либо действия.</a:t>
            </a:r>
          </a:p>
        </p:txBody>
      </p:sp>
      <p:sp>
        <p:nvSpPr>
          <p:cNvPr id="203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Функция полезности</a:t>
            </a:r>
            <a:endParaRPr lang="ru-RU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038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принятия решений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E4DD57E-40C7-46D0-835A-96241D28F346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9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243360" y="851400"/>
            <a:ext cx="8480880" cy="358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4"/>
          <p:cNvSpPr/>
          <p:nvPr/>
        </p:nvSpPr>
        <p:spPr>
          <a:xfrm>
            <a:off x="243360" y="862560"/>
            <a:ext cx="7223760" cy="349920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Пример вычисления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6FC5A322-702A-42A8-ADC1-44979363A0E9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10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48" name="CustomShape 3"/>
          <p:cNvSpPr/>
          <p:nvPr/>
        </p:nvSpPr>
        <p:spPr>
          <a:xfrm>
            <a:off x="558720" y="2571840"/>
            <a:ext cx="424800" cy="42480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49" name="CustomShape 4"/>
          <p:cNvSpPr/>
          <p:nvPr/>
        </p:nvSpPr>
        <p:spPr>
          <a:xfrm>
            <a:off x="2451240" y="1720440"/>
            <a:ext cx="424800" cy="42480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50" name="CustomShape 5"/>
          <p:cNvSpPr/>
          <p:nvPr/>
        </p:nvSpPr>
        <p:spPr>
          <a:xfrm>
            <a:off x="2451240" y="3518280"/>
            <a:ext cx="424800" cy="42480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51" name="Line 6"/>
          <p:cNvSpPr/>
          <p:nvPr/>
        </p:nvSpPr>
        <p:spPr>
          <a:xfrm flipV="1">
            <a:off x="984240" y="1932840"/>
            <a:ext cx="1466640" cy="85140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152" name="Line 7"/>
          <p:cNvSpPr/>
          <p:nvPr/>
        </p:nvSpPr>
        <p:spPr>
          <a:xfrm>
            <a:off x="984240" y="2784240"/>
            <a:ext cx="1466640" cy="94644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153" name="CustomShape 8"/>
          <p:cNvSpPr/>
          <p:nvPr/>
        </p:nvSpPr>
        <p:spPr>
          <a:xfrm>
            <a:off x="4271400" y="1294920"/>
            <a:ext cx="424800" cy="42480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54" name="CustomShape 9"/>
          <p:cNvSpPr/>
          <p:nvPr/>
        </p:nvSpPr>
        <p:spPr>
          <a:xfrm>
            <a:off x="4271400" y="2145960"/>
            <a:ext cx="424800" cy="42480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55" name="CustomShape 10"/>
          <p:cNvSpPr/>
          <p:nvPr/>
        </p:nvSpPr>
        <p:spPr>
          <a:xfrm>
            <a:off x="4271400" y="3943800"/>
            <a:ext cx="424800" cy="42480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56" name="CustomShape 11"/>
          <p:cNvSpPr/>
          <p:nvPr/>
        </p:nvSpPr>
        <p:spPr>
          <a:xfrm>
            <a:off x="4271400" y="3088800"/>
            <a:ext cx="424800" cy="42480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57" name="Line 12"/>
          <p:cNvSpPr/>
          <p:nvPr/>
        </p:nvSpPr>
        <p:spPr>
          <a:xfrm flipV="1">
            <a:off x="2876400" y="1507680"/>
            <a:ext cx="1394640" cy="42516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158" name="Line 13"/>
          <p:cNvSpPr/>
          <p:nvPr/>
        </p:nvSpPr>
        <p:spPr>
          <a:xfrm>
            <a:off x="2876400" y="1932840"/>
            <a:ext cx="1394640" cy="42552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159" name="Line 14"/>
          <p:cNvSpPr/>
          <p:nvPr/>
        </p:nvSpPr>
        <p:spPr>
          <a:xfrm flipV="1">
            <a:off x="2876400" y="3301560"/>
            <a:ext cx="1394640" cy="42912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160" name="Line 15"/>
          <p:cNvSpPr/>
          <p:nvPr/>
        </p:nvSpPr>
        <p:spPr>
          <a:xfrm>
            <a:off x="2876400" y="3730680"/>
            <a:ext cx="1394640" cy="42552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161" name="CustomShape 16"/>
          <p:cNvSpPr/>
          <p:nvPr/>
        </p:nvSpPr>
        <p:spPr>
          <a:xfrm>
            <a:off x="1243080" y="2003400"/>
            <a:ext cx="603000" cy="30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Плащ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162" name="CustomShape 17"/>
          <p:cNvSpPr/>
          <p:nvPr/>
        </p:nvSpPr>
        <p:spPr>
          <a:xfrm>
            <a:off x="1060560" y="3423240"/>
            <a:ext cx="968760" cy="30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Без плаща</a:t>
            </a:r>
            <a:endParaRPr lang="ru-RU" sz="1400" b="0" strike="noStrike" spc="-1">
              <a:latin typeface="Arial"/>
            </a:endParaRPr>
          </a:p>
        </p:txBody>
      </p:sp>
      <p:pic>
        <p:nvPicPr>
          <p:cNvPr id="163" name="Picture 4"/>
          <p:cNvPicPr/>
          <p:nvPr/>
        </p:nvPicPr>
        <p:blipFill>
          <a:blip r:embed="rId2"/>
          <a:srcRect b="11853"/>
          <a:stretch/>
        </p:blipFill>
        <p:spPr>
          <a:xfrm flipH="1">
            <a:off x="3475080" y="1094400"/>
            <a:ext cx="388800" cy="370080"/>
          </a:xfrm>
          <a:prstGeom prst="rect">
            <a:avLst/>
          </a:prstGeom>
          <a:ln>
            <a:noFill/>
          </a:ln>
        </p:spPr>
      </p:pic>
      <p:pic>
        <p:nvPicPr>
          <p:cNvPr id="164" name="Picture 4"/>
          <p:cNvPicPr/>
          <p:nvPr/>
        </p:nvPicPr>
        <p:blipFill>
          <a:blip r:embed="rId2"/>
          <a:srcRect b="11853"/>
          <a:stretch/>
        </p:blipFill>
        <p:spPr>
          <a:xfrm flipH="1">
            <a:off x="3475080" y="2979360"/>
            <a:ext cx="388800" cy="370080"/>
          </a:xfrm>
          <a:prstGeom prst="rect">
            <a:avLst/>
          </a:prstGeom>
          <a:ln>
            <a:noFill/>
          </a:ln>
        </p:spPr>
      </p:pic>
      <p:pic>
        <p:nvPicPr>
          <p:cNvPr id="165" name="Picture 10"/>
          <p:cNvPicPr/>
          <p:nvPr/>
        </p:nvPicPr>
        <p:blipFill>
          <a:blip r:embed="rId3"/>
          <a:stretch/>
        </p:blipFill>
        <p:spPr>
          <a:xfrm>
            <a:off x="3474360" y="2310120"/>
            <a:ext cx="370080" cy="370080"/>
          </a:xfrm>
          <a:prstGeom prst="rect">
            <a:avLst/>
          </a:prstGeom>
          <a:ln>
            <a:noFill/>
          </a:ln>
        </p:spPr>
      </p:pic>
      <p:pic>
        <p:nvPicPr>
          <p:cNvPr id="166" name="Picture 10"/>
          <p:cNvPicPr/>
          <p:nvPr/>
        </p:nvPicPr>
        <p:blipFill>
          <a:blip r:embed="rId3"/>
          <a:stretch/>
        </p:blipFill>
        <p:spPr>
          <a:xfrm>
            <a:off x="3474360" y="4112280"/>
            <a:ext cx="370080" cy="370080"/>
          </a:xfrm>
          <a:prstGeom prst="rect">
            <a:avLst/>
          </a:prstGeom>
          <a:ln>
            <a:noFill/>
          </a:ln>
        </p:spPr>
      </p:pic>
      <p:sp>
        <p:nvSpPr>
          <p:cNvPr id="167" name="CustomShape 18"/>
          <p:cNvSpPr/>
          <p:nvPr/>
        </p:nvSpPr>
        <p:spPr>
          <a:xfrm>
            <a:off x="4289400" y="1342080"/>
            <a:ext cx="388800" cy="37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70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168" name="CustomShape 19"/>
          <p:cNvSpPr/>
          <p:nvPr/>
        </p:nvSpPr>
        <p:spPr>
          <a:xfrm>
            <a:off x="4289400" y="2200680"/>
            <a:ext cx="388800" cy="37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70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169" name="CustomShape 20"/>
          <p:cNvSpPr/>
          <p:nvPr/>
        </p:nvSpPr>
        <p:spPr>
          <a:xfrm>
            <a:off x="4349880" y="3133440"/>
            <a:ext cx="336600" cy="37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0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170" name="CustomShape 21"/>
          <p:cNvSpPr/>
          <p:nvPr/>
        </p:nvSpPr>
        <p:spPr>
          <a:xfrm>
            <a:off x="4240800" y="3998520"/>
            <a:ext cx="502200" cy="37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100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171" name="CustomShape 22"/>
          <p:cNvSpPr/>
          <p:nvPr/>
        </p:nvSpPr>
        <p:spPr>
          <a:xfrm>
            <a:off x="4838760" y="1274400"/>
            <a:ext cx="177732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Дождь и ношение нужного плаща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172" name="CustomShape 23"/>
          <p:cNvSpPr/>
          <p:nvPr/>
        </p:nvSpPr>
        <p:spPr>
          <a:xfrm>
            <a:off x="4838760" y="2109600"/>
            <a:ext cx="177732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Ясно и ношение ненужного плаща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173" name="CustomShape 24"/>
          <p:cNvSpPr/>
          <p:nvPr/>
        </p:nvSpPr>
        <p:spPr>
          <a:xfrm>
            <a:off x="4838760" y="3069360"/>
            <a:ext cx="177732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Дождь и отсутствие нужного плаща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174" name="CustomShape 25"/>
          <p:cNvSpPr/>
          <p:nvPr/>
        </p:nvSpPr>
        <p:spPr>
          <a:xfrm>
            <a:off x="4838760" y="3936960"/>
            <a:ext cx="177732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Ясно и отсутствие ненужного плаща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175" name="CustomShape 26"/>
          <p:cNvSpPr/>
          <p:nvPr/>
        </p:nvSpPr>
        <p:spPr>
          <a:xfrm>
            <a:off x="6366960" y="1813320"/>
            <a:ext cx="2437560" cy="27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27"/>
          <p:cNvSpPr/>
          <p:nvPr/>
        </p:nvSpPr>
        <p:spPr>
          <a:xfrm>
            <a:off x="6366960" y="1813320"/>
            <a:ext cx="2437560" cy="27612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77" name="CustomShape 28"/>
          <p:cNvSpPr/>
          <p:nvPr/>
        </p:nvSpPr>
        <p:spPr>
          <a:xfrm>
            <a:off x="6386040" y="3584520"/>
            <a:ext cx="2437560" cy="27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29"/>
          <p:cNvSpPr/>
          <p:nvPr/>
        </p:nvSpPr>
        <p:spPr>
          <a:xfrm>
            <a:off x="6386040" y="3584520"/>
            <a:ext cx="2437560" cy="27612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79" name="CustomShape 30"/>
          <p:cNvSpPr/>
          <p:nvPr/>
        </p:nvSpPr>
        <p:spPr>
          <a:xfrm>
            <a:off x="2822760" y="1349280"/>
            <a:ext cx="4687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0,2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80" name="CustomShape 31"/>
          <p:cNvSpPr/>
          <p:nvPr/>
        </p:nvSpPr>
        <p:spPr>
          <a:xfrm>
            <a:off x="2822760" y="2113560"/>
            <a:ext cx="4687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0,8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81" name="CustomShape 32"/>
          <p:cNvSpPr/>
          <p:nvPr/>
        </p:nvSpPr>
        <p:spPr>
          <a:xfrm>
            <a:off x="2874240" y="3129480"/>
            <a:ext cx="4687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0,2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82" name="CustomShape 33"/>
          <p:cNvSpPr/>
          <p:nvPr/>
        </p:nvSpPr>
        <p:spPr>
          <a:xfrm>
            <a:off x="2873160" y="3943800"/>
            <a:ext cx="4687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0,8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00408810-A9D8-4BF1-ABD9-C918DD0AE1D3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11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4" name="CustomShape 2"/>
          <p:cNvSpPr/>
          <p:nvPr/>
        </p:nvSpPr>
        <p:spPr>
          <a:xfrm>
            <a:off x="243360" y="851400"/>
            <a:ext cx="8480880" cy="358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принятия решений 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основана на расчетах затрат и выгод, которые люди делают без учета планов и решений других людей</a:t>
            </a:r>
            <a:endParaRPr lang="ru-RU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Затрагивает многие аспекты того, как люди принимают решения (максимизация удовольствий)</a:t>
            </a:r>
            <a:endParaRPr lang="ru-RU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Основные положения теории лежат в основе экономики и принятии решений в области экономики</a:t>
            </a:r>
            <a:endParaRPr lang="ru-RU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Основные положения теории лежат в основе построения интеллектуальных систем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185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рационального выбора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6B6C4555-4F8C-4447-8CE8-4663DB2BF985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Контрпример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88" name="CustomShape 3"/>
          <p:cNvSpPr/>
          <p:nvPr/>
        </p:nvSpPr>
        <p:spPr>
          <a:xfrm>
            <a:off x="1096560" y="3656880"/>
            <a:ext cx="29469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Каждый день ездить по КАД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89" name="CustomShape 4"/>
          <p:cNvSpPr/>
          <p:nvPr/>
        </p:nvSpPr>
        <p:spPr>
          <a:xfrm>
            <a:off x="5188680" y="3651120"/>
            <a:ext cx="2349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Жить недалеко от АЭС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90" name="CustomShape 5"/>
          <p:cNvSpPr/>
          <p:nvPr/>
        </p:nvSpPr>
        <p:spPr>
          <a:xfrm>
            <a:off x="938520" y="4401360"/>
            <a:ext cx="726588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Люди переоценивают события, происходящие с низкой вероятностью,</a:t>
            </a:r>
            <a:endParaRPr lang="ru-RU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и недооценивают события, происходящие с высокой вероятностью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91" name="Рисунок 11"/>
          <p:cNvPicPr/>
          <p:nvPr/>
        </p:nvPicPr>
        <p:blipFill>
          <a:blip r:embed="rId2"/>
          <a:stretch/>
        </p:blipFill>
        <p:spPr>
          <a:xfrm>
            <a:off x="823320" y="1335960"/>
            <a:ext cx="3493800" cy="2319840"/>
          </a:xfrm>
          <a:prstGeom prst="rect">
            <a:avLst/>
          </a:prstGeom>
          <a:ln>
            <a:noFill/>
          </a:ln>
        </p:spPr>
      </p:pic>
      <p:pic>
        <p:nvPicPr>
          <p:cNvPr id="192" name="Рисунок 13"/>
          <p:cNvPicPr/>
          <p:nvPr/>
        </p:nvPicPr>
        <p:blipFill>
          <a:blip r:embed="rId3"/>
          <a:stretch/>
        </p:blipFill>
        <p:spPr>
          <a:xfrm>
            <a:off x="4616640" y="1323360"/>
            <a:ext cx="3493800" cy="2326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8AC4DE71-45C8-4DC4-96FF-921159E76B8B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94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Впервые ввёл в употребление психолог Герберт </a:t>
            </a:r>
            <a:r>
              <a:rPr lang="ru-RU" sz="1600" b="0" strike="noStrike" spc="-1" dirty="0" err="1">
                <a:solidFill>
                  <a:srgbClr val="0230AC"/>
                </a:solidFill>
                <a:latin typeface="Calibri"/>
                <a:ea typeface="DejaVu Sans"/>
              </a:rPr>
              <a:t>Саймон</a:t>
            </a: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Решения, принимаемые людьми, ограничены информацией, которой они владеют, их личными познавательными особенностями, а также временем, в течение которого они должны быть приняты.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У человека недостаточно ресурсов и знаний для принятия оптимального, идеально взвешенного решения</a:t>
            </a:r>
            <a:endParaRPr lang="ru-RU" sz="1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</a:t>
            </a:r>
            <a:endParaRPr lang="ru-RU" sz="1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Людям свойственно предельно упрощать существующие варианты, чтобы справиться со стрессом выбора</a:t>
            </a: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endParaRPr lang="ru-RU" sz="1600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Остается нерешенной проблема 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универсальных объективных критериев рациональности 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  <a:sym typeface="Symbol" panose="05050102010706020507" pitchFamily="18" charset="2"/>
              </a:rPr>
              <a:t> 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рациональность субъективна</a:t>
            </a:r>
          </a:p>
        </p:txBody>
      </p:sp>
      <p:sp>
        <p:nvSpPr>
          <p:cNvPr id="195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Ограниченная рациональность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96" name="CustomShape 4"/>
          <p:cNvSpPr/>
          <p:nvPr/>
        </p:nvSpPr>
        <p:spPr>
          <a:xfrm>
            <a:off x="4248000" y="2808000"/>
            <a:ext cx="144000" cy="432000"/>
          </a:xfrm>
          <a:custGeom>
            <a:avLst/>
            <a:gdLst/>
            <a:ahLst/>
            <a:cxnLst/>
            <a:rect l="0" t="0" r="r" b="b"/>
            <a:pathLst>
              <a:path w="402" h="1202">
                <a:moveTo>
                  <a:pt x="100" y="0"/>
                </a:moveTo>
                <a:lnTo>
                  <a:pt x="100" y="900"/>
                </a:lnTo>
                <a:lnTo>
                  <a:pt x="0" y="900"/>
                </a:lnTo>
                <a:lnTo>
                  <a:pt x="200" y="1201"/>
                </a:lnTo>
                <a:lnTo>
                  <a:pt x="401" y="900"/>
                </a:lnTo>
                <a:lnTo>
                  <a:pt x="300" y="900"/>
                </a:lnTo>
                <a:lnTo>
                  <a:pt x="300" y="0"/>
                </a:lnTo>
                <a:lnTo>
                  <a:pt x="100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E865740-764A-43D9-A551-3CCD2B4633A5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Туристическая компания предлагает на выбор три варианта: 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* поездка в Париж с оплатой завтрака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* поездка в Рим без завтрака 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* поездка в Рим с завтраком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Какой вариант Вы предпочтете?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 большой вероятностью клиенты выберут поездку в Рим с оплаченным завтраком</a:t>
            </a:r>
            <a:endParaRPr lang="ru-RU" sz="16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Эффект приманки</a:t>
            </a:r>
            <a:endParaRPr lang="ru-RU" sz="2800" b="0" strike="noStrike" spc="-1" dirty="0">
              <a:latin typeface="Arial"/>
            </a:endParaRPr>
          </a:p>
        </p:txBody>
      </p:sp>
      <p:pic>
        <p:nvPicPr>
          <p:cNvPr id="200" name="Рисунок 199"/>
          <p:cNvPicPr/>
          <p:nvPr/>
        </p:nvPicPr>
        <p:blipFill>
          <a:blip r:embed="rId2"/>
          <a:stretch/>
        </p:blipFill>
        <p:spPr>
          <a:xfrm>
            <a:off x="6840000" y="1008000"/>
            <a:ext cx="1790280" cy="1361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179F99C-8A6C-4896-8C0C-3A38D237A51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15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spcBef>
                <a:spcPts val="320"/>
              </a:spcBef>
            </a:pP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Примеры из книги Дэна </a:t>
            </a:r>
            <a:r>
              <a:rPr lang="ru-RU" sz="1600" spc="-1" dirty="0" err="1">
                <a:solidFill>
                  <a:srgbClr val="0230AC"/>
                </a:solidFill>
                <a:latin typeface="Calibri"/>
                <a:ea typeface="DejaVu Sans"/>
              </a:rPr>
              <a:t>Ариели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 «Предсказуемая иррациональность»: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«</a:t>
            </a:r>
            <a:r>
              <a:rPr lang="ru-RU" sz="16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Эффект приманки</a:t>
            </a: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»: потребители склонны с большей решимостью выбирать один из похожих вариантов, если им также дан третий — явно отличающийся — вариант. 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Иррациональное восприятии ценности вещей</a:t>
            </a: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: если продукт впервые появляется в продаже, достаточно установить на него высокую цену и снять рекламу, в которой он будет стоять в ряду с другими дорогими товарами, чтобы покупатели автоматически причислили его к вещам, обладающим высокой ценностью.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Эффект ожидания</a:t>
            </a: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: наши представления о вещах могут затмевать истинные ощущения от них.</a:t>
            </a:r>
            <a:endParaRPr lang="ru-RU" sz="16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1600" b="0" strike="noStrike" spc="-1" dirty="0"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Предсказуемая иррациональность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CAE7EFA0-B69A-4726-A48A-9D8B47A835D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 момент перед покупкой люди обычно испытывают сильные положительные эмоции: желание обладать, предвкушение удовольствия и новых возможностей. 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После покупки, напротив, они становятся очень уязвимы и часто испытывают чувство раскаяния. 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Чем больше сил, времени и денег человек потратил на покупку, тем сильнее его чувство опустошения. 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Главная причина подобного состояния — </a:t>
            </a:r>
            <a:r>
              <a:rPr lang="ru-RU" sz="16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ощущение упущенных возможностей</a:t>
            </a: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  <a:endParaRPr lang="ru-RU" sz="1600" b="0" strike="noStrike" spc="-1" dirty="0">
              <a:latin typeface="Arial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Упущенные возможности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B7AE5120-8955-423C-88E3-1D9A50F0E77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Существует разное отношение людей к риску: избегание риска, стремление к нему (поиск риска) и безразличие.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Для равного приращения значения в денежном эквиваленте, полезность будет различной для людей с разным отношением к риску. Абсолютная полезность определяется не значением, а результирующей эмоцией.</a:t>
            </a:r>
            <a:endParaRPr lang="ru-RU" sz="1600" b="0" strike="noStrike" spc="-1" dirty="0">
              <a:latin typeface="Arial"/>
            </a:endParaRPr>
          </a:p>
        </p:txBody>
      </p:sp>
      <p:sp>
        <p:nvSpPr>
          <p:cNvPr id="209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Риск и эмоции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10" name="Рисунок 2"/>
          <p:cNvPicPr/>
          <p:nvPr/>
        </p:nvPicPr>
        <p:blipFill>
          <a:blip r:embed="rId2"/>
          <a:stretch/>
        </p:blipFill>
        <p:spPr>
          <a:xfrm>
            <a:off x="2086200" y="2660040"/>
            <a:ext cx="5092920" cy="2221560"/>
          </a:xfrm>
          <a:prstGeom prst="rect">
            <a:avLst/>
          </a:prstGeom>
          <a:ln>
            <a:noFill/>
          </a:ln>
        </p:spPr>
      </p:pic>
      <p:sp>
        <p:nvSpPr>
          <p:cNvPr id="211" name="CustomShape 4"/>
          <p:cNvSpPr/>
          <p:nvPr/>
        </p:nvSpPr>
        <p:spPr>
          <a:xfrm>
            <a:off x="3678840" y="2576520"/>
            <a:ext cx="9417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Полезность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212" name="CustomShape 5"/>
          <p:cNvSpPr/>
          <p:nvPr/>
        </p:nvSpPr>
        <p:spPr>
          <a:xfrm>
            <a:off x="6241320" y="4519080"/>
            <a:ext cx="7887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Прибыль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213" name="CustomShape 6"/>
          <p:cNvSpPr/>
          <p:nvPr/>
        </p:nvSpPr>
        <p:spPr>
          <a:xfrm>
            <a:off x="4726440" y="4004640"/>
            <a:ext cx="147924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Стремление к риску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214" name="CustomShape 7"/>
          <p:cNvSpPr/>
          <p:nvPr/>
        </p:nvSpPr>
        <p:spPr>
          <a:xfrm>
            <a:off x="2476080" y="3746520"/>
            <a:ext cx="126720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Избегание риска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215" name="CustomShape 8"/>
          <p:cNvSpPr/>
          <p:nvPr/>
        </p:nvSpPr>
        <p:spPr>
          <a:xfrm>
            <a:off x="5740920" y="3128760"/>
            <a:ext cx="151560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Безразличие к риску</a:t>
            </a:r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804B8A13-4104-41F3-A78D-5423C01ADB15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18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Моделирование принятия решений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218" name="CustomShape 3"/>
          <p:cNvSpPr/>
          <p:nvPr/>
        </p:nvSpPr>
        <p:spPr>
          <a:xfrm>
            <a:off x="374040" y="358740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Случайные воздействия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19" name="CustomShape 4"/>
          <p:cNvSpPr/>
          <p:nvPr/>
        </p:nvSpPr>
        <p:spPr>
          <a:xfrm>
            <a:off x="374040" y="113760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Упреждающие воздействия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20" name="CustomShape 5"/>
          <p:cNvSpPr/>
          <p:nvPr/>
        </p:nvSpPr>
        <p:spPr>
          <a:xfrm>
            <a:off x="37404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Текущие эмоции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21" name="CustomShape 6"/>
          <p:cNvSpPr/>
          <p:nvPr/>
        </p:nvSpPr>
        <p:spPr>
          <a:xfrm>
            <a:off x="256176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Решения / 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Поведение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22" name="CustomShape 7"/>
          <p:cNvSpPr/>
          <p:nvPr/>
        </p:nvSpPr>
        <p:spPr>
          <a:xfrm>
            <a:off x="474984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Ожидаемые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последствия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23" name="CustomShape 8"/>
          <p:cNvSpPr/>
          <p:nvPr/>
        </p:nvSpPr>
        <p:spPr>
          <a:xfrm>
            <a:off x="693792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Ожидаемые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эмоции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24" name="CustomShape 9"/>
          <p:cNvSpPr/>
          <p:nvPr/>
        </p:nvSpPr>
        <p:spPr>
          <a:xfrm>
            <a:off x="1208880" y="1708920"/>
            <a:ext cx="360" cy="652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25" name="CustomShape 10"/>
          <p:cNvSpPr/>
          <p:nvPr/>
        </p:nvSpPr>
        <p:spPr>
          <a:xfrm flipV="1">
            <a:off x="1208880" y="2932920"/>
            <a:ext cx="360" cy="653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26" name="CustomShape 11"/>
          <p:cNvSpPr/>
          <p:nvPr/>
        </p:nvSpPr>
        <p:spPr>
          <a:xfrm>
            <a:off x="2044080" y="264780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27" name="CustomShape 12"/>
          <p:cNvSpPr/>
          <p:nvPr/>
        </p:nvSpPr>
        <p:spPr>
          <a:xfrm>
            <a:off x="4231800" y="264780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28" name="CustomShape 13"/>
          <p:cNvSpPr/>
          <p:nvPr/>
        </p:nvSpPr>
        <p:spPr>
          <a:xfrm>
            <a:off x="6419880" y="264780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29" name="CustomShape 14"/>
          <p:cNvSpPr/>
          <p:nvPr/>
        </p:nvSpPr>
        <p:spPr>
          <a:xfrm rot="16200000" flipV="1">
            <a:off x="4439520" y="-971640"/>
            <a:ext cx="938160" cy="5727960"/>
          </a:xfrm>
          <a:prstGeom prst="curvedConnector2">
            <a:avLst/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30" name="CustomShape 15"/>
          <p:cNvSpPr/>
          <p:nvPr/>
        </p:nvSpPr>
        <p:spPr>
          <a:xfrm rot="16200000" flipV="1">
            <a:off x="3345480" y="121680"/>
            <a:ext cx="938160" cy="3540240"/>
          </a:xfrm>
          <a:prstGeom prst="curvedConnector2">
            <a:avLst/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31" name="CustomShape 16"/>
          <p:cNvSpPr/>
          <p:nvPr/>
        </p:nvSpPr>
        <p:spPr>
          <a:xfrm rot="16200000" flipV="1">
            <a:off x="5585760" y="173520"/>
            <a:ext cx="11880" cy="4375080"/>
          </a:xfrm>
          <a:prstGeom prst="curvedConnector3">
            <a:avLst>
              <a:gd name="adj1" fmla="val 240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32" name="CustomShape 17"/>
          <p:cNvSpPr/>
          <p:nvPr/>
        </p:nvSpPr>
        <p:spPr>
          <a:xfrm rot="16200000" flipH="1">
            <a:off x="3396960" y="745920"/>
            <a:ext cx="11880" cy="4375080"/>
          </a:xfrm>
          <a:prstGeom prst="curvedConnector3">
            <a:avLst>
              <a:gd name="adj1" fmla="val 180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33" name="CustomShape 18"/>
          <p:cNvSpPr/>
          <p:nvPr/>
        </p:nvSpPr>
        <p:spPr>
          <a:xfrm rot="16200000" flipH="1">
            <a:off x="4491000" y="-347400"/>
            <a:ext cx="11880" cy="6563160"/>
          </a:xfrm>
          <a:prstGeom prst="curvedConnector3">
            <a:avLst>
              <a:gd name="adj1" fmla="val 5150016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" name="Прямоугольник 1"/>
          <p:cNvSpPr/>
          <p:nvPr/>
        </p:nvSpPr>
        <p:spPr>
          <a:xfrm>
            <a:off x="2405202" y="3941145"/>
            <a:ext cx="67380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Эмоции вызывают некоторые виды поведения, которые, в свою очередь, ведут к различным последствиям (упрощенная модель)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8977C53A-E08A-435C-B078-1FCAC30BE723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19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Американский экономист Джордж </a:t>
            </a:r>
            <a:r>
              <a:rPr lang="ru-RU" sz="1800" b="0" strike="noStrike" spc="-1" dirty="0" err="1">
                <a:solidFill>
                  <a:srgbClr val="0230AC"/>
                </a:solidFill>
                <a:latin typeface="Calibri"/>
                <a:ea typeface="DejaVu Sans"/>
              </a:rPr>
              <a:t>Лёвенштайн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выделил два типа эмоций, влияющих на процесс принятия решений: </a:t>
            </a:r>
            <a:endParaRPr lang="ru-RU" sz="18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Эмоции, которые человек испытывает в настоящий момент.</a:t>
            </a:r>
            <a:endParaRPr lang="ru-RU" sz="18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Эмоции, которые он предполагает испытать в будущем.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Основная эмоция будущего — это страх 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ошибки, потери, последствий неверно принятого решения, а не предвкушение удовольствия от правильного выбора.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 настоящего влияют на то, насколько быстро и обдуманно человек примет решение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, на какой риск он будет готов пойти.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Например, разозлённые или голодные люди принимают решения быстрее спокойных.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Счастливые люди не принимают рискованных решений.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Испуганные и расстроенные люди отказываются от принятия решения вовсе. 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236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Влияние эмоций на принятие решений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B052762E-4CB8-4B1E-8F00-D693231D9D3A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20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38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Ожидаемые эмоции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239" name="CustomShape 3"/>
          <p:cNvSpPr/>
          <p:nvPr/>
        </p:nvSpPr>
        <p:spPr>
          <a:xfrm>
            <a:off x="1399680" y="27367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Решения / 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Поведение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40" name="CustomShape 4"/>
          <p:cNvSpPr/>
          <p:nvPr/>
        </p:nvSpPr>
        <p:spPr>
          <a:xfrm>
            <a:off x="3587760" y="27367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Ожидаемые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последствия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41" name="CustomShape 5"/>
          <p:cNvSpPr/>
          <p:nvPr/>
        </p:nvSpPr>
        <p:spPr>
          <a:xfrm>
            <a:off x="5775840" y="27367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Ожидаемые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эмоции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242" name="CustomShape 6"/>
          <p:cNvSpPr/>
          <p:nvPr/>
        </p:nvSpPr>
        <p:spPr>
          <a:xfrm>
            <a:off x="3069720" y="302256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43" name="CustomShape 7"/>
          <p:cNvSpPr/>
          <p:nvPr/>
        </p:nvSpPr>
        <p:spPr>
          <a:xfrm>
            <a:off x="5257800" y="302256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44" name="CustomShape 8"/>
          <p:cNvSpPr/>
          <p:nvPr/>
        </p:nvSpPr>
        <p:spPr>
          <a:xfrm rot="16200000" flipV="1">
            <a:off x="4423680" y="548280"/>
            <a:ext cx="11880" cy="4375080"/>
          </a:xfrm>
          <a:prstGeom prst="curvedConnector3">
            <a:avLst>
              <a:gd name="adj1" fmla="val 240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245" name="CustomShape 9"/>
          <p:cNvSpPr/>
          <p:nvPr/>
        </p:nvSpPr>
        <p:spPr>
          <a:xfrm>
            <a:off x="243360" y="867240"/>
            <a:ext cx="3636000" cy="87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То, какие эмоции вы ожидаете получить в результате, влияет на принимаемые вами решения.</a:t>
            </a:r>
            <a:endParaRPr lang="ru-RU" sz="1600" b="0" strike="noStrike" spc="-1">
              <a:latin typeface="Arial"/>
            </a:endParaRPr>
          </a:p>
        </p:txBody>
      </p:sp>
      <p:pic>
        <p:nvPicPr>
          <p:cNvPr id="246" name="Рисунок 5"/>
          <p:cNvPicPr/>
          <p:nvPr/>
        </p:nvPicPr>
        <p:blipFill>
          <a:blip r:embed="rId2"/>
          <a:stretch/>
        </p:blipFill>
        <p:spPr>
          <a:xfrm>
            <a:off x="6594840" y="1104840"/>
            <a:ext cx="2184120" cy="1301040"/>
          </a:xfrm>
          <a:prstGeom prst="rect">
            <a:avLst/>
          </a:prstGeom>
          <a:ln>
            <a:noFill/>
          </a:ln>
        </p:spPr>
      </p:pic>
      <p:pic>
        <p:nvPicPr>
          <p:cNvPr id="247" name="Рисунок 13"/>
          <p:cNvPicPr/>
          <p:nvPr/>
        </p:nvPicPr>
        <p:blipFill>
          <a:blip r:embed="rId3"/>
          <a:stretch/>
        </p:blipFill>
        <p:spPr>
          <a:xfrm>
            <a:off x="6617160" y="3586680"/>
            <a:ext cx="2173320" cy="1399680"/>
          </a:xfrm>
          <a:prstGeom prst="rect">
            <a:avLst/>
          </a:prstGeom>
          <a:ln>
            <a:noFill/>
          </a:ln>
        </p:spPr>
      </p:pic>
      <p:pic>
        <p:nvPicPr>
          <p:cNvPr id="248" name="Picture 4"/>
          <p:cNvPicPr/>
          <p:nvPr/>
        </p:nvPicPr>
        <p:blipFill>
          <a:blip r:embed="rId4"/>
          <a:stretch/>
        </p:blipFill>
        <p:spPr>
          <a:xfrm>
            <a:off x="5704200" y="1416960"/>
            <a:ext cx="551160" cy="551880"/>
          </a:xfrm>
          <a:prstGeom prst="rect">
            <a:avLst/>
          </a:prstGeom>
          <a:ln>
            <a:noFill/>
          </a:ln>
        </p:spPr>
      </p:pic>
      <p:pic>
        <p:nvPicPr>
          <p:cNvPr id="249" name="Picture 6"/>
          <p:cNvPicPr/>
          <p:nvPr/>
        </p:nvPicPr>
        <p:blipFill>
          <a:blip r:embed="rId5"/>
          <a:stretch/>
        </p:blipFill>
        <p:spPr>
          <a:xfrm>
            <a:off x="5566680" y="3822840"/>
            <a:ext cx="826200" cy="619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3B66B5D4-EE79-4331-8F64-28B746FEAAA9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21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488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Случайные воздействия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89" name="CustomShape 3"/>
          <p:cNvSpPr/>
          <p:nvPr/>
        </p:nvSpPr>
        <p:spPr>
          <a:xfrm>
            <a:off x="374040" y="358740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Случайные воздействия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90" name="CustomShape 4"/>
          <p:cNvSpPr/>
          <p:nvPr/>
        </p:nvSpPr>
        <p:spPr>
          <a:xfrm>
            <a:off x="374040" y="113760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Упреждающие воздействия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91" name="CustomShape 5"/>
          <p:cNvSpPr/>
          <p:nvPr/>
        </p:nvSpPr>
        <p:spPr>
          <a:xfrm>
            <a:off x="37404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Текущие эмоции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92" name="CustomShape 6"/>
          <p:cNvSpPr/>
          <p:nvPr/>
        </p:nvSpPr>
        <p:spPr>
          <a:xfrm>
            <a:off x="256176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Решения / 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Поведение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93" name="CustomShape 7"/>
          <p:cNvSpPr/>
          <p:nvPr/>
        </p:nvSpPr>
        <p:spPr>
          <a:xfrm>
            <a:off x="474984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Ожидаемые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последствия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94" name="CustomShape 8"/>
          <p:cNvSpPr/>
          <p:nvPr/>
        </p:nvSpPr>
        <p:spPr>
          <a:xfrm>
            <a:off x="6937920" y="236232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Ожидаемые</a:t>
            </a:r>
            <a:endParaRPr lang="ru-RU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эмоции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95" name="CustomShape 9"/>
          <p:cNvSpPr/>
          <p:nvPr/>
        </p:nvSpPr>
        <p:spPr>
          <a:xfrm>
            <a:off x="1208880" y="1708920"/>
            <a:ext cx="360" cy="652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96" name="CustomShape 10"/>
          <p:cNvSpPr/>
          <p:nvPr/>
        </p:nvSpPr>
        <p:spPr>
          <a:xfrm flipV="1">
            <a:off x="1208880" y="2932920"/>
            <a:ext cx="360" cy="653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97" name="CustomShape 11"/>
          <p:cNvSpPr/>
          <p:nvPr/>
        </p:nvSpPr>
        <p:spPr>
          <a:xfrm>
            <a:off x="2044080" y="264780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98" name="CustomShape 12"/>
          <p:cNvSpPr/>
          <p:nvPr/>
        </p:nvSpPr>
        <p:spPr>
          <a:xfrm>
            <a:off x="4231800" y="264780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99" name="CustomShape 13"/>
          <p:cNvSpPr/>
          <p:nvPr/>
        </p:nvSpPr>
        <p:spPr>
          <a:xfrm>
            <a:off x="6419880" y="2647800"/>
            <a:ext cx="51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500" name="CustomShape 14"/>
          <p:cNvSpPr/>
          <p:nvPr/>
        </p:nvSpPr>
        <p:spPr>
          <a:xfrm rot="16200000" flipV="1">
            <a:off x="4439520" y="-971640"/>
            <a:ext cx="938160" cy="5727960"/>
          </a:xfrm>
          <a:prstGeom prst="curvedConnector2">
            <a:avLst/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501" name="CustomShape 15"/>
          <p:cNvSpPr/>
          <p:nvPr/>
        </p:nvSpPr>
        <p:spPr>
          <a:xfrm rot="16200000" flipV="1">
            <a:off x="3345480" y="121680"/>
            <a:ext cx="938160" cy="3540240"/>
          </a:xfrm>
          <a:prstGeom prst="curvedConnector2">
            <a:avLst/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502" name="CustomShape 16"/>
          <p:cNvSpPr/>
          <p:nvPr/>
        </p:nvSpPr>
        <p:spPr>
          <a:xfrm rot="16200000" flipV="1">
            <a:off x="5585760" y="173520"/>
            <a:ext cx="11880" cy="4375080"/>
          </a:xfrm>
          <a:prstGeom prst="curvedConnector3">
            <a:avLst>
              <a:gd name="adj1" fmla="val 240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503" name="CustomShape 17"/>
          <p:cNvSpPr/>
          <p:nvPr/>
        </p:nvSpPr>
        <p:spPr>
          <a:xfrm rot="16200000" flipH="1">
            <a:off x="3396960" y="745920"/>
            <a:ext cx="11880" cy="4375080"/>
          </a:xfrm>
          <a:prstGeom prst="curvedConnector3">
            <a:avLst>
              <a:gd name="adj1" fmla="val 180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504" name="CustomShape 18"/>
          <p:cNvSpPr/>
          <p:nvPr/>
        </p:nvSpPr>
        <p:spPr>
          <a:xfrm rot="16200000" flipH="1">
            <a:off x="4491000" y="-347400"/>
            <a:ext cx="11880" cy="6563160"/>
          </a:xfrm>
          <a:prstGeom prst="curvedConnector3">
            <a:avLst>
              <a:gd name="adj1" fmla="val 5150016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505" name="CustomShape 19"/>
          <p:cNvSpPr/>
          <p:nvPr/>
        </p:nvSpPr>
        <p:spPr>
          <a:xfrm>
            <a:off x="2118960" y="3974400"/>
            <a:ext cx="4547880" cy="95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Солнечный день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Радостная или грустная музыка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Некомфортная обстановка</a:t>
            </a:r>
            <a:endParaRPr lang="ru-RU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7EB91745-063A-4FD7-B2EB-402DDFA3B872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243360" y="851400"/>
            <a:ext cx="7811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«</a:t>
            </a:r>
            <a:r>
              <a:rPr lang="ru-RU" sz="18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Проекционное мышление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» заставляет ум верить, что настоящее состояние продлится в будущем.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«</a:t>
            </a:r>
            <a:r>
              <a:rPr lang="ru-RU" sz="1800" b="0" i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Эффект якоря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»: человек склонен судить о вещи в сравнении с окружающими её вещами, и не понимает её объективной ценности. 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252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Причины неожиданных решений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C7B2649A-62FD-44D7-8840-39AF095B4362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54" name="CustomShape 2"/>
          <p:cNvSpPr/>
          <p:nvPr/>
        </p:nvSpPr>
        <p:spPr>
          <a:xfrm>
            <a:off x="243359" y="851400"/>
            <a:ext cx="8719485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Людям свойственно выносить своё мнение о целом предмете на основе одной его черты.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Впервые заметил психолог Эдвард </a:t>
            </a:r>
            <a:r>
              <a:rPr lang="ru-RU" sz="1800" b="0" strike="noStrike" spc="-1" dirty="0" err="1">
                <a:solidFill>
                  <a:srgbClr val="0230AC"/>
                </a:solidFill>
                <a:latin typeface="Calibri"/>
                <a:ea typeface="DejaVu Sans"/>
              </a:rPr>
              <a:t>Торндайк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 исследовании </a:t>
            </a:r>
            <a:r>
              <a:rPr lang="ru-RU" sz="1800" b="0" strike="noStrike" spc="-1" dirty="0" err="1">
                <a:solidFill>
                  <a:srgbClr val="0230AC"/>
                </a:solidFill>
                <a:latin typeface="Calibri"/>
                <a:ea typeface="DejaVu Sans"/>
              </a:rPr>
              <a:t>Торндайка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офицеры оценивали своих солдат по их внешности. </a:t>
            </a: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 результате оказалось, что внешне привлекательных солдат автоматически считали более умными, ответственными и обладающими лидерскими качествами. 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Впоследствии </a:t>
            </a:r>
            <a:r>
              <a:rPr lang="ru-RU" sz="1800" b="0" strike="noStrike" spc="-1" dirty="0" err="1">
                <a:solidFill>
                  <a:srgbClr val="0230AC"/>
                </a:solidFill>
                <a:latin typeface="Calibri"/>
                <a:ea typeface="DejaVu Sans"/>
              </a:rPr>
              <a:t>Торндайк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доказал, как гало-эффект влияет на предвзятость судей по отношению к подсудимым и преподавателей — к ученикам.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255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Гало-эффект</a:t>
            </a: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7DC59366-9C9D-4E46-9B56-138BE94A1CD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243360" y="851400"/>
            <a:ext cx="8540640" cy="144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Интегральные эмоции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, напрямую связанные с решением.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Человек испытывает такие эмоции из-за текущих вариантов выбора или ожидаемого результата (например, удовлетворение от выбора варианта «Б»).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Случайные эмоции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, текущее настроение.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Этот принцип также называют «чувства-как-информация», потому что текущие состояния (чувства) используются для построения суждений (информации).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Ситуативные эмоции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 одном из исследований респондентов попросили оценить степень удовлетворенности жизнью. В дождливую погоду люди были гораздо менее счастливы. Их пасмурное настроение, проистекающее из погоды, влияло на общую оценку.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Типы эмоций, влияющих на решения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51477EB-E0C1-4676-AABA-4DF1E6892453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25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Все три эмоции ведут к промежуточным эффектам: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 Изменение области внимания.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 Смещение информационного, социального, нормативного и временного фокусов.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 Колебание уровня уверенности.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Поведение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3E226E01-CB1D-4EF3-A6C5-92CB800C48EB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63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i="1" strike="noStrike" spc="-1">
                <a:solidFill>
                  <a:srgbClr val="0230AC"/>
                </a:solidFill>
                <a:latin typeface="Calibri"/>
                <a:ea typeface="DejaVu Sans"/>
              </a:rPr>
              <a:t>Негативные эмоции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(к примеру, страх) означают суженный объём внимания.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i="1" strike="noStrike" spc="-1">
                <a:solidFill>
                  <a:srgbClr val="0230AC"/>
                </a:solidFill>
                <a:latin typeface="Calibri"/>
                <a:ea typeface="DejaVu Sans"/>
              </a:rPr>
              <a:t>Положительные эмоции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(например, счастье) усиливают внимание.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Когда наши предки были счастливы, они находились в безопасном месте, где расширенный объём внимания помогал найти нужные ресурсы.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264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Область внимания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65" name="Рисунок 264"/>
          <p:cNvPicPr/>
          <p:nvPr/>
        </p:nvPicPr>
        <p:blipFill>
          <a:blip r:embed="rId3"/>
          <a:stretch/>
        </p:blipFill>
        <p:spPr>
          <a:xfrm>
            <a:off x="2016000" y="1944000"/>
            <a:ext cx="4689720" cy="295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B49E4200-7EFA-4BA7-80A3-DB84C93FF93F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Негативные эмоции сужают внимание, поскольку мы сосредотачиваемся на базовых подробностях. Это триггер низкого уровня трактовки.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Позитивные эмоции усиливают внимание, поскольку мы сосредотачиваемся на абстрактной информации и общих принципах. Это триггер высокого уровня трактовки.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268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Уровень трактовки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69" name="Рисунок 268"/>
          <p:cNvPicPr/>
          <p:nvPr/>
        </p:nvPicPr>
        <p:blipFill>
          <a:blip r:embed="rId3"/>
          <a:stretch/>
        </p:blipFill>
        <p:spPr>
          <a:xfrm>
            <a:off x="2316240" y="2016000"/>
            <a:ext cx="4667760" cy="2615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C7F26E0D-6E93-4525-9C64-0CCCD442F0C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28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 влияют на наши решения, потому что мы фокусируемся на «настроенческой» информации.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 примере отпуска: Счастливые люди уделяют больше внимания положительным моментам — например, отдыху на пляже. Несчастные — отрицательным (стоимости поездки).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Взаимодействие с настроением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73" name="Рисунок 272"/>
          <p:cNvPicPr/>
          <p:nvPr/>
        </p:nvPicPr>
        <p:blipFill>
          <a:blip r:embed="rId3"/>
          <a:stretch/>
        </p:blipFill>
        <p:spPr>
          <a:xfrm>
            <a:off x="1848600" y="1872000"/>
            <a:ext cx="5495400" cy="2800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0C7467B3-1915-4F6E-840D-A817EA3DDE9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29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 влияют на склонность приобретать или отвергать.</a:t>
            </a:r>
            <a:endParaRPr lang="ru-RU" sz="18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С отвращением возникает желание отвергать. Эта эмоция помогала нашим предкам избегать токсических раздражителей.</a:t>
            </a:r>
            <a:endParaRPr lang="ru-RU" sz="1800" b="0" strike="noStrike" spc="-1" dirty="0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С грустью возникает желание изменить обстоятельства. Эта эмоция может повысить нашу склонность к принятию.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Обе эмоции негативны, но вызывают разные эффекты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276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Регулирующий фокус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77" name="Рисунок 276"/>
          <p:cNvPicPr/>
          <p:nvPr/>
        </p:nvPicPr>
        <p:blipFill>
          <a:blip r:embed="rId3"/>
          <a:stretch/>
        </p:blipFill>
        <p:spPr>
          <a:xfrm>
            <a:off x="2085480" y="2664000"/>
            <a:ext cx="4682520" cy="2384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C16530F0-238E-4605-8924-F5F9B82DA71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30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79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 отправляют нас к прошлому, настоящему или будущему.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Временной фокус влияет на наши решения.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Например, когда мы фокусируемся на будущем, у нас лучше развит самоконтроль.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280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Временной фокус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81" name="Рисунок 280"/>
          <p:cNvPicPr/>
          <p:nvPr/>
        </p:nvPicPr>
        <p:blipFill>
          <a:blip r:embed="rId3"/>
          <a:stretch/>
        </p:blipFill>
        <p:spPr>
          <a:xfrm>
            <a:off x="1519200" y="2088000"/>
            <a:ext cx="5752800" cy="2371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AFE72745-139C-4482-8744-2B2D99152363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31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83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 имеют разные уровни уверенности: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Когда мы напуганы, мы меньше уверены в исходе ситуации.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Когда мы испытываем гнев, мы знаем его причину.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284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Уровень уверенности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85" name="Рисунок 284"/>
          <p:cNvPicPr/>
          <p:nvPr/>
        </p:nvPicPr>
        <p:blipFill>
          <a:blip r:embed="rId3"/>
          <a:stretch/>
        </p:blipFill>
        <p:spPr>
          <a:xfrm>
            <a:off x="1603800" y="1872000"/>
            <a:ext cx="5524200" cy="2676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3CA0C08C-3A4E-46BD-A0FF-7140E77171E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Перечисленные факторы увеличивают влияние в последующих направлениях: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​Глубина обработки информации.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Скорость принятия решения.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Оценка важности.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Оценка вероятности.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Выбор поведения.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288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Последствия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A371845A-6AD9-48FB-8AB3-36EF5F7642FF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90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 влияют на наши решения, потому что они воздействуют на степень мыслительной обработки информации.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Один из факторов — уровень уверенности: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 с глубокой степенью уверенности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(гнев) влекут за собой эвристическую обработку информации. Мы чувствуем себя уверенными в наших эмоциях и переносим эти ощущения на уверенность в принятии решений. Нам не нужно долго размышлять, потому что мы заранее уверены в правильности решения.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 с низкой степенью уверенности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(страх) влекут за собой систематическую обработку информации. Мы уже не так уверены в своих эмоциях, а значит, и в самом решении. Возникает потребность тщательно всё изучить.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291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Глубина обработки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9A621BA-5436-443D-B959-E1C62EABC32B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Другой фактор — валентность: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 </a:t>
            </a: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Позитивные эмоции активизируют процесс эвристической обработки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информации. Положительные эмоции для нас — сигнал о безопасности нашего окружения, мы чувствуем себя более защищенными в момент принятия решения.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 </a:t>
            </a: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Негативные эмоции активизируют процесс систематической обработки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информации. Негативные эмоции сигнализируют о небезопасности, нестабильности нашего окружения, мы считаем, что обязаны тщательно обдумывать решения.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Глубина обработки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95" name="Рисунок 294"/>
          <p:cNvPicPr/>
          <p:nvPr/>
        </p:nvPicPr>
        <p:blipFill>
          <a:blip r:embed="rId3"/>
          <a:stretch/>
        </p:blipFill>
        <p:spPr>
          <a:xfrm>
            <a:off x="2592000" y="2736000"/>
            <a:ext cx="3780360" cy="2405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EB3CD7F4-CC7A-40EF-BA93-8800F66C52A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35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97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 влияют на наши решения, сокращая или увеличивая скорость их принятия.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Под действием эмоций мы быстрее принимаем решения и выбираем те варианты, которые предоставляют немедленную выгоду.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Наши предки развили в себе эмоции для помощи в ситуациях, когда решение нужно прямо сейчас (например, бежать или драться).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298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Скорость принятия решений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299" name="Рисунок 298"/>
          <p:cNvPicPr/>
          <p:nvPr/>
        </p:nvPicPr>
        <p:blipFill>
          <a:blip r:embed="rId3"/>
          <a:stretch/>
        </p:blipFill>
        <p:spPr>
          <a:xfrm>
            <a:off x="2160000" y="2130840"/>
            <a:ext cx="4968000" cy="2621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0058A1D6-4566-4CE4-B419-762EAC9D145B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 воздействуют на восприятие ценности.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Относительная ценность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Используют два метода для расчёта ценности: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 Кардинальная полезность — абсолютное значение на количественной шкале.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 Обычная полезность — относительное значение, сравниваемое с остальными вариантами.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302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Оценка ценности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303" name="Рисунок 302"/>
          <p:cNvPicPr/>
          <p:nvPr/>
        </p:nvPicPr>
        <p:blipFill>
          <a:blip r:embed="rId3"/>
          <a:stretch/>
        </p:blipFill>
        <p:spPr>
          <a:xfrm>
            <a:off x="2232000" y="2304000"/>
            <a:ext cx="4896000" cy="273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7A376570-0759-4418-8154-D5C09C97C3BA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05" name="CustomShape 2"/>
          <p:cNvSpPr/>
          <p:nvPr/>
        </p:nvSpPr>
        <p:spPr>
          <a:xfrm>
            <a:off x="243360" y="61200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У эмоций существует проблема с масштабом: когда люди полагаются на эмоции, они чувствительны к наличию или отсутствию стимула, но невосприимчивы к большим вариациям оценивания.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306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Нечувствительность обзора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307" name="Рисунок 306"/>
          <p:cNvPicPr/>
          <p:nvPr/>
        </p:nvPicPr>
        <p:blipFill>
          <a:blip r:embed="rId3"/>
          <a:stretch/>
        </p:blipFill>
        <p:spPr>
          <a:xfrm>
            <a:off x="1937880" y="1800000"/>
            <a:ext cx="5406120" cy="2876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23DB1C53-95F5-4096-8D76-77A088A0EFA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38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216000" y="516240"/>
            <a:ext cx="8540640" cy="9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Когда люди оценивают предметы последовательно, эмоции больше всего влияют на первый вариант.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Первый вариант мы воспринимаем как источник настроения.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Последующие варианты обладают меньшим эффектом, потому что мы уже назвали свои эмоции.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310" name="CustomShape 3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Выбор поведения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311" name="Рисунок 310"/>
          <p:cNvPicPr/>
          <p:nvPr/>
        </p:nvPicPr>
        <p:blipFill>
          <a:blip r:embed="rId3"/>
          <a:stretch/>
        </p:blipFill>
        <p:spPr>
          <a:xfrm>
            <a:off x="2016000" y="2117880"/>
            <a:ext cx="4989240" cy="2778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7856239D-D108-4037-AE18-BD09698CA20B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39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13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эмоционального выбора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243360" y="851400"/>
            <a:ext cx="8480880" cy="179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Утверждает, что люди анализируют, как они будут относиться к результатам решений, и используют свои прогнозы для выбора.</a:t>
            </a:r>
            <a:endParaRPr lang="ru-RU" sz="1600" b="0" strike="noStrike" spc="-1" dirty="0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Предполагается, что люди выбирают вариант с большим субъективным ожидаемым удовольствием.</a:t>
            </a:r>
            <a:endParaRPr lang="ru-RU" sz="1600" b="0" strike="noStrike" spc="-1" dirty="0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Предлагает математическую модель, предсказывающую то, как люди себя чувствуют.</a:t>
            </a:r>
            <a:endParaRPr lang="ru-RU" sz="1600" b="0" strike="noStrike" spc="-1" dirty="0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Подчеркивает роль определенных эмоций: удивление, разочарование и сожаление.</a:t>
            </a:r>
            <a:endParaRPr lang="ru-RU" sz="1600" b="0" strike="noStrike" spc="-1" dirty="0">
              <a:latin typeface="Arial"/>
            </a:endParaRPr>
          </a:p>
        </p:txBody>
      </p:sp>
      <p:graphicFrame>
        <p:nvGraphicFramePr>
          <p:cNvPr id="315" name="Диаграмма 15"/>
          <p:cNvGraphicFramePr/>
          <p:nvPr/>
        </p:nvGraphicFramePr>
        <p:xfrm>
          <a:off x="1149480" y="2811240"/>
          <a:ext cx="2247120" cy="190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6" name="Диаграмма 16"/>
          <p:cNvGraphicFramePr/>
          <p:nvPr/>
        </p:nvGraphicFramePr>
        <p:xfrm>
          <a:off x="4659480" y="2811240"/>
          <a:ext cx="2247120" cy="190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7" name="CustomShape 4"/>
          <p:cNvSpPr/>
          <p:nvPr/>
        </p:nvSpPr>
        <p:spPr>
          <a:xfrm>
            <a:off x="2464560" y="3577680"/>
            <a:ext cx="470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1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18" name="CustomShape 5"/>
          <p:cNvSpPr/>
          <p:nvPr/>
        </p:nvSpPr>
        <p:spPr>
          <a:xfrm>
            <a:off x="6026040" y="3577680"/>
            <a:ext cx="470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1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19" name="CustomShape 6"/>
          <p:cNvSpPr/>
          <p:nvPr/>
        </p:nvSpPr>
        <p:spPr>
          <a:xfrm>
            <a:off x="1689480" y="3257280"/>
            <a:ext cx="470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5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20" name="CustomShape 7"/>
          <p:cNvSpPr/>
          <p:nvPr/>
        </p:nvSpPr>
        <p:spPr>
          <a:xfrm>
            <a:off x="5367240" y="2997000"/>
            <a:ext cx="470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5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21" name="CustomShape 8"/>
          <p:cNvSpPr/>
          <p:nvPr/>
        </p:nvSpPr>
        <p:spPr>
          <a:xfrm>
            <a:off x="1051200" y="4632120"/>
            <a:ext cx="6864840" cy="30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Выигрыш в лотерее 2 кажется более удивительным и, следовательно, более радостным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322" name="CustomShape 9"/>
          <p:cNvSpPr/>
          <p:nvPr/>
        </p:nvSpPr>
        <p:spPr>
          <a:xfrm>
            <a:off x="1858680" y="2706120"/>
            <a:ext cx="8283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Лотерея 1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23" name="CustomShape 10"/>
          <p:cNvSpPr/>
          <p:nvPr/>
        </p:nvSpPr>
        <p:spPr>
          <a:xfrm>
            <a:off x="5368680" y="2673000"/>
            <a:ext cx="8283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Лотерея 2</a:t>
            </a:r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1251300-4FA6-4C3D-9386-A49A5A615803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40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25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эмоционального выбора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326" name="Рисунок 8"/>
          <p:cNvPicPr/>
          <p:nvPr/>
        </p:nvPicPr>
        <p:blipFill>
          <a:blip r:embed="rId2"/>
          <a:stretch/>
        </p:blipFill>
        <p:spPr>
          <a:xfrm>
            <a:off x="1708200" y="1015560"/>
            <a:ext cx="5113080" cy="3682800"/>
          </a:xfrm>
          <a:prstGeom prst="rect">
            <a:avLst/>
          </a:prstGeom>
          <a:ln>
            <a:noFill/>
          </a:ln>
        </p:spPr>
      </p:pic>
      <p:sp>
        <p:nvSpPr>
          <p:cNvPr id="327" name="CustomShape 3"/>
          <p:cNvSpPr/>
          <p:nvPr/>
        </p:nvSpPr>
        <p:spPr>
          <a:xfrm>
            <a:off x="3886920" y="1066680"/>
            <a:ext cx="7095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28" name="CustomShape 4"/>
          <p:cNvSpPr/>
          <p:nvPr/>
        </p:nvSpPr>
        <p:spPr>
          <a:xfrm>
            <a:off x="5874840" y="3038040"/>
            <a:ext cx="7887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Прибыль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29" name="CustomShape 5"/>
          <p:cNvSpPr/>
          <p:nvPr/>
        </p:nvSpPr>
        <p:spPr>
          <a:xfrm>
            <a:off x="5655600" y="1908360"/>
            <a:ext cx="10065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1" strike="noStrike" spc="-1">
                <a:solidFill>
                  <a:srgbClr val="0230AC"/>
                </a:solidFill>
                <a:latin typeface="Calibri"/>
                <a:ea typeface="DejaVu Sans"/>
              </a:rPr>
              <a:t>Вероятность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30" name="CustomShape 6"/>
          <p:cNvSpPr/>
          <p:nvPr/>
        </p:nvSpPr>
        <p:spPr>
          <a:xfrm rot="19923000">
            <a:off x="4501080" y="2189520"/>
            <a:ext cx="120960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EC0044"/>
                </a:solidFill>
                <a:latin typeface="Calibri"/>
                <a:ea typeface="DejaVu Sans"/>
              </a:rPr>
              <a:t>Более вероятно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31" name="CustomShape 7"/>
          <p:cNvSpPr/>
          <p:nvPr/>
        </p:nvSpPr>
        <p:spPr>
          <a:xfrm rot="19923000">
            <a:off x="4322160" y="1532520"/>
            <a:ext cx="125820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EC0044"/>
                </a:solidFill>
                <a:latin typeface="Calibri"/>
                <a:ea typeface="DejaVu Sans"/>
              </a:rPr>
              <a:t>Менее вероятно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32" name="CustomShape 8"/>
          <p:cNvSpPr/>
          <p:nvPr/>
        </p:nvSpPr>
        <p:spPr>
          <a:xfrm rot="20487000">
            <a:off x="2462040" y="3504240"/>
            <a:ext cx="120960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EC0044"/>
                </a:solidFill>
                <a:latin typeface="Calibri"/>
                <a:ea typeface="DejaVu Sans"/>
              </a:rPr>
              <a:t>Более вероятно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33" name="CustomShape 9"/>
          <p:cNvSpPr/>
          <p:nvPr/>
        </p:nvSpPr>
        <p:spPr>
          <a:xfrm rot="20355000">
            <a:off x="2841840" y="4113000"/>
            <a:ext cx="125820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EC0044"/>
                </a:solidFill>
                <a:latin typeface="Calibri"/>
                <a:ea typeface="DejaVu Sans"/>
              </a:rPr>
              <a:t>Менее вероятно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34" name="CustomShape 10"/>
          <p:cNvSpPr/>
          <p:nvPr/>
        </p:nvSpPr>
        <p:spPr>
          <a:xfrm>
            <a:off x="3049200" y="1487880"/>
            <a:ext cx="115164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Восторженный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35" name="CustomShape 11"/>
          <p:cNvSpPr/>
          <p:nvPr/>
        </p:nvSpPr>
        <p:spPr>
          <a:xfrm>
            <a:off x="4605120" y="4251240"/>
            <a:ext cx="107820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Недовольный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36" name="CustomShape 12"/>
          <p:cNvSpPr/>
          <p:nvPr/>
        </p:nvSpPr>
        <p:spPr>
          <a:xfrm>
            <a:off x="6349320" y="1226880"/>
            <a:ext cx="180720" cy="69228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7" name="CustomShape 13"/>
          <p:cNvSpPr/>
          <p:nvPr/>
        </p:nvSpPr>
        <p:spPr>
          <a:xfrm>
            <a:off x="6632640" y="1342440"/>
            <a:ext cx="176724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Априорная вероятность </a:t>
            </a:r>
            <a:endParaRPr lang="ru-RU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результата</a:t>
            </a:r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4B579D4-4C05-40C2-8409-4501F4F2116C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41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39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эмоционального выбора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340" name="CustomShape 3"/>
          <p:cNvSpPr/>
          <p:nvPr/>
        </p:nvSpPr>
        <p:spPr>
          <a:xfrm>
            <a:off x="243360" y="851400"/>
            <a:ext cx="7811640" cy="288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800" b="0" strike="noStrike" spc="-1">
              <a:latin typeface="Arial"/>
            </a:endParaRPr>
          </a:p>
        </p:txBody>
      </p:sp>
      <p:graphicFrame>
        <p:nvGraphicFramePr>
          <p:cNvPr id="341" name="Диаграмма 5"/>
          <p:cNvGraphicFramePr/>
          <p:nvPr/>
        </p:nvGraphicFramePr>
        <p:xfrm>
          <a:off x="5905440" y="3008160"/>
          <a:ext cx="2247120" cy="190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2" name="CustomShape 4"/>
          <p:cNvSpPr/>
          <p:nvPr/>
        </p:nvSpPr>
        <p:spPr>
          <a:xfrm>
            <a:off x="7211880" y="3834360"/>
            <a:ext cx="464400" cy="36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3" name="CustomShape 5"/>
          <p:cNvSpPr/>
          <p:nvPr/>
        </p:nvSpPr>
        <p:spPr>
          <a:xfrm>
            <a:off x="7211880" y="3834360"/>
            <a:ext cx="464400" cy="36864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44" name="CustomShape 6"/>
          <p:cNvSpPr/>
          <p:nvPr/>
        </p:nvSpPr>
        <p:spPr>
          <a:xfrm>
            <a:off x="6547680" y="3275640"/>
            <a:ext cx="464400" cy="36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CustomShape 7"/>
          <p:cNvSpPr/>
          <p:nvPr/>
        </p:nvSpPr>
        <p:spPr>
          <a:xfrm>
            <a:off x="6547680" y="3275640"/>
            <a:ext cx="464400" cy="36864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46" name="CustomShape 8"/>
          <p:cNvSpPr/>
          <p:nvPr/>
        </p:nvSpPr>
        <p:spPr>
          <a:xfrm rot="14109000">
            <a:off x="6490080" y="3050280"/>
            <a:ext cx="113760" cy="34848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7" name="CustomShape 9"/>
          <p:cNvSpPr/>
          <p:nvPr/>
        </p:nvSpPr>
        <p:spPr>
          <a:xfrm>
            <a:off x="6146280" y="2832480"/>
            <a:ext cx="464400" cy="36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10"/>
          <p:cNvSpPr/>
          <p:nvPr/>
        </p:nvSpPr>
        <p:spPr>
          <a:xfrm>
            <a:off x="6146280" y="2832480"/>
            <a:ext cx="464400" cy="36864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49" name="CustomShape 11"/>
          <p:cNvSpPr/>
          <p:nvPr/>
        </p:nvSpPr>
        <p:spPr>
          <a:xfrm>
            <a:off x="243360" y="851400"/>
            <a:ext cx="7811640" cy="2881800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3A510C96-926B-4512-BD51-39CB6388B3E9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эмоционального выбора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243360" y="842774"/>
            <a:ext cx="7811640" cy="288180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53" name="CustomShape 4"/>
          <p:cNvSpPr/>
          <p:nvPr/>
        </p:nvSpPr>
        <p:spPr>
          <a:xfrm>
            <a:off x="2445480" y="434088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354" name="CustomShape 5"/>
          <p:cNvSpPr/>
          <p:nvPr/>
        </p:nvSpPr>
        <p:spPr>
          <a:xfrm>
            <a:off x="3079800" y="413172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A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3079800" y="454608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B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56" name="Line 7"/>
          <p:cNvSpPr/>
          <p:nvPr/>
        </p:nvSpPr>
        <p:spPr>
          <a:xfrm flipV="1">
            <a:off x="2650320" y="4233960"/>
            <a:ext cx="429480" cy="20916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357" name="Line 8"/>
          <p:cNvSpPr/>
          <p:nvPr/>
        </p:nvSpPr>
        <p:spPr>
          <a:xfrm>
            <a:off x="2650320" y="4443120"/>
            <a:ext cx="429480" cy="20520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358" name="CustomShape 9"/>
          <p:cNvSpPr/>
          <p:nvPr/>
        </p:nvSpPr>
        <p:spPr>
          <a:xfrm>
            <a:off x="2696760" y="4117320"/>
            <a:ext cx="11160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696760" y="4117320"/>
            <a:ext cx="111600" cy="16848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595960" y="4578840"/>
            <a:ext cx="35856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1" name="CustomShape 12"/>
          <p:cNvSpPr/>
          <p:nvPr/>
        </p:nvSpPr>
        <p:spPr>
          <a:xfrm>
            <a:off x="2595960" y="4578840"/>
            <a:ext cx="358560" cy="16848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62" name="CustomShape 13"/>
          <p:cNvSpPr/>
          <p:nvPr/>
        </p:nvSpPr>
        <p:spPr>
          <a:xfrm>
            <a:off x="1924560" y="4304880"/>
            <a:ext cx="21240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L1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63" name="CustomShape 14"/>
          <p:cNvSpPr/>
          <p:nvPr/>
        </p:nvSpPr>
        <p:spPr>
          <a:xfrm>
            <a:off x="5608080" y="434376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364" name="CustomShape 15"/>
          <p:cNvSpPr/>
          <p:nvPr/>
        </p:nvSpPr>
        <p:spPr>
          <a:xfrm>
            <a:off x="6242400" y="413424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C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65" name="CustomShape 16"/>
          <p:cNvSpPr/>
          <p:nvPr/>
        </p:nvSpPr>
        <p:spPr>
          <a:xfrm>
            <a:off x="6242400" y="454860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D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66" name="Line 17"/>
          <p:cNvSpPr/>
          <p:nvPr/>
        </p:nvSpPr>
        <p:spPr>
          <a:xfrm flipV="1">
            <a:off x="5812920" y="4236480"/>
            <a:ext cx="429480" cy="20952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367" name="Line 18"/>
          <p:cNvSpPr/>
          <p:nvPr/>
        </p:nvSpPr>
        <p:spPr>
          <a:xfrm>
            <a:off x="5812920" y="4446000"/>
            <a:ext cx="429480" cy="20484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368" name="CustomShape 19"/>
          <p:cNvSpPr/>
          <p:nvPr/>
        </p:nvSpPr>
        <p:spPr>
          <a:xfrm>
            <a:off x="5859360" y="4119840"/>
            <a:ext cx="11088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9" name="CustomShape 20"/>
          <p:cNvSpPr/>
          <p:nvPr/>
        </p:nvSpPr>
        <p:spPr>
          <a:xfrm>
            <a:off x="5859360" y="4119840"/>
            <a:ext cx="110880" cy="16848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70" name="CustomShape 21"/>
          <p:cNvSpPr/>
          <p:nvPr/>
        </p:nvSpPr>
        <p:spPr>
          <a:xfrm>
            <a:off x="5758560" y="4581720"/>
            <a:ext cx="35820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1" name="CustomShape 22"/>
          <p:cNvSpPr/>
          <p:nvPr/>
        </p:nvSpPr>
        <p:spPr>
          <a:xfrm>
            <a:off x="5758560" y="4581720"/>
            <a:ext cx="358200" cy="168480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72" name="CustomShape 23"/>
          <p:cNvSpPr/>
          <p:nvPr/>
        </p:nvSpPr>
        <p:spPr>
          <a:xfrm>
            <a:off x="5087160" y="4307760"/>
            <a:ext cx="21240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L2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73" name="CustomShape 24"/>
          <p:cNvSpPr/>
          <p:nvPr/>
        </p:nvSpPr>
        <p:spPr>
          <a:xfrm>
            <a:off x="3140280" y="4845240"/>
            <a:ext cx="40320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25"/>
          <p:cNvSpPr/>
          <p:nvPr/>
        </p:nvSpPr>
        <p:spPr>
          <a:xfrm>
            <a:off x="3140280" y="4845240"/>
            <a:ext cx="403200" cy="168480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75" name="CustomShape 26"/>
          <p:cNvSpPr/>
          <p:nvPr/>
        </p:nvSpPr>
        <p:spPr>
          <a:xfrm>
            <a:off x="6393240" y="4845240"/>
            <a:ext cx="40536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6" name="CustomShape 27"/>
          <p:cNvSpPr/>
          <p:nvPr/>
        </p:nvSpPr>
        <p:spPr>
          <a:xfrm>
            <a:off x="6393240" y="4845240"/>
            <a:ext cx="405360" cy="16848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46F5C95F-5842-43B7-91D0-2A748B4A612B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378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Пример вычисления </a:t>
            </a:r>
            <a:endParaRPr lang="ru-RU" sz="2800" b="0" strike="noStrike" spc="-1">
              <a:latin typeface="Arial"/>
            </a:endParaRPr>
          </a:p>
        </p:txBody>
      </p:sp>
      <p:graphicFrame>
        <p:nvGraphicFramePr>
          <p:cNvPr id="379" name="Диаграмма 2"/>
          <p:cNvGraphicFramePr/>
          <p:nvPr/>
        </p:nvGraphicFramePr>
        <p:xfrm>
          <a:off x="349200" y="898200"/>
          <a:ext cx="2247120" cy="190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80" name="Диаграмма 3"/>
          <p:cNvGraphicFramePr/>
          <p:nvPr/>
        </p:nvGraphicFramePr>
        <p:xfrm>
          <a:off x="349200" y="3019680"/>
          <a:ext cx="2247120" cy="190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1" name="CustomShape 3"/>
          <p:cNvSpPr/>
          <p:nvPr/>
        </p:nvSpPr>
        <p:spPr>
          <a:xfrm>
            <a:off x="1664640" y="1664280"/>
            <a:ext cx="470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1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82" name="CustomShape 4"/>
          <p:cNvSpPr/>
          <p:nvPr/>
        </p:nvSpPr>
        <p:spPr>
          <a:xfrm>
            <a:off x="1606320" y="3786120"/>
            <a:ext cx="58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10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83" name="CustomShape 5"/>
          <p:cNvSpPr/>
          <p:nvPr/>
        </p:nvSpPr>
        <p:spPr>
          <a:xfrm>
            <a:off x="889200" y="1343880"/>
            <a:ext cx="470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5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84" name="CustomShape 6"/>
          <p:cNvSpPr/>
          <p:nvPr/>
        </p:nvSpPr>
        <p:spPr>
          <a:xfrm>
            <a:off x="889920" y="3212640"/>
            <a:ext cx="6562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-54 ₽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85" name="CustomShape 7"/>
          <p:cNvSpPr/>
          <p:nvPr/>
        </p:nvSpPr>
        <p:spPr>
          <a:xfrm>
            <a:off x="1058400" y="793080"/>
            <a:ext cx="8283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Лотерея 1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86" name="CustomShape 8"/>
          <p:cNvSpPr/>
          <p:nvPr/>
        </p:nvSpPr>
        <p:spPr>
          <a:xfrm>
            <a:off x="1058400" y="2881440"/>
            <a:ext cx="82836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Лотерея 2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387" name="CustomShape 9"/>
          <p:cNvSpPr/>
          <p:nvPr/>
        </p:nvSpPr>
        <p:spPr>
          <a:xfrm>
            <a:off x="372960" y="1090080"/>
            <a:ext cx="488520" cy="30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EC0044"/>
                </a:solidFill>
                <a:latin typeface="Calibri"/>
                <a:ea typeface="DejaVu Sans"/>
              </a:rPr>
              <a:t>25%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388" name="CustomShape 10"/>
          <p:cNvSpPr/>
          <p:nvPr/>
        </p:nvSpPr>
        <p:spPr>
          <a:xfrm>
            <a:off x="424800" y="3085920"/>
            <a:ext cx="624240" cy="30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EC0044"/>
                </a:solidFill>
                <a:latin typeface="Calibri"/>
                <a:ea typeface="DejaVu Sans"/>
              </a:rPr>
              <a:t>12.5%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389" name="CustomShape 11"/>
          <p:cNvSpPr/>
          <p:nvPr/>
        </p:nvSpPr>
        <p:spPr>
          <a:xfrm>
            <a:off x="2675520" y="638640"/>
            <a:ext cx="2374560" cy="518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0" name="CustomShape 12"/>
          <p:cNvSpPr/>
          <p:nvPr/>
        </p:nvSpPr>
        <p:spPr>
          <a:xfrm>
            <a:off x="2675520" y="638640"/>
            <a:ext cx="2374560" cy="51804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91" name="CustomShape 13"/>
          <p:cNvSpPr/>
          <p:nvPr/>
        </p:nvSpPr>
        <p:spPr>
          <a:xfrm>
            <a:off x="2675520" y="2845080"/>
            <a:ext cx="2971080" cy="519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2" name="CustomShape 14"/>
          <p:cNvSpPr/>
          <p:nvPr/>
        </p:nvSpPr>
        <p:spPr>
          <a:xfrm>
            <a:off x="2675520" y="2845080"/>
            <a:ext cx="2971080" cy="51984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93" name="CustomShape 15"/>
          <p:cNvSpPr/>
          <p:nvPr/>
        </p:nvSpPr>
        <p:spPr>
          <a:xfrm>
            <a:off x="2662560" y="1059120"/>
            <a:ext cx="5409360" cy="63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16"/>
          <p:cNvSpPr/>
          <p:nvPr/>
        </p:nvSpPr>
        <p:spPr>
          <a:xfrm>
            <a:off x="2662560" y="1059120"/>
            <a:ext cx="5409360" cy="633960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95" name="CustomShape 17"/>
          <p:cNvSpPr/>
          <p:nvPr/>
        </p:nvSpPr>
        <p:spPr>
          <a:xfrm>
            <a:off x="2675520" y="1639080"/>
            <a:ext cx="5686920" cy="61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6" name="CustomShape 18"/>
          <p:cNvSpPr/>
          <p:nvPr/>
        </p:nvSpPr>
        <p:spPr>
          <a:xfrm>
            <a:off x="2675520" y="1639080"/>
            <a:ext cx="5686920" cy="610200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97" name="CustomShape 19"/>
          <p:cNvSpPr/>
          <p:nvPr/>
        </p:nvSpPr>
        <p:spPr>
          <a:xfrm>
            <a:off x="2662560" y="2176560"/>
            <a:ext cx="5686920" cy="63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8" name="CustomShape 20"/>
          <p:cNvSpPr/>
          <p:nvPr/>
        </p:nvSpPr>
        <p:spPr>
          <a:xfrm>
            <a:off x="2662560" y="2176560"/>
            <a:ext cx="5686920" cy="63396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99" name="Line 21"/>
          <p:cNvSpPr/>
          <p:nvPr/>
        </p:nvSpPr>
        <p:spPr>
          <a:xfrm>
            <a:off x="51840" y="2830320"/>
            <a:ext cx="8990280" cy="0"/>
          </a:xfrm>
          <a:prstGeom prst="line">
            <a:avLst/>
          </a:prstGeom>
          <a:ln w="3240"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00" name="CustomShape 22"/>
          <p:cNvSpPr/>
          <p:nvPr/>
        </p:nvSpPr>
        <p:spPr>
          <a:xfrm>
            <a:off x="2649960" y="3274560"/>
            <a:ext cx="6220080" cy="61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1" name="CustomShape 23"/>
          <p:cNvSpPr/>
          <p:nvPr/>
        </p:nvSpPr>
        <p:spPr>
          <a:xfrm>
            <a:off x="2649960" y="3274560"/>
            <a:ext cx="6220080" cy="610200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02" name="CustomShape 24"/>
          <p:cNvSpPr/>
          <p:nvPr/>
        </p:nvSpPr>
        <p:spPr>
          <a:xfrm>
            <a:off x="2662560" y="3854520"/>
            <a:ext cx="6220080" cy="61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25"/>
          <p:cNvSpPr/>
          <p:nvPr/>
        </p:nvSpPr>
        <p:spPr>
          <a:xfrm>
            <a:off x="2662560" y="3854520"/>
            <a:ext cx="6220080" cy="612000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04" name="CustomShape 26"/>
          <p:cNvSpPr/>
          <p:nvPr/>
        </p:nvSpPr>
        <p:spPr>
          <a:xfrm>
            <a:off x="2649960" y="4392000"/>
            <a:ext cx="5686920" cy="63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5" name="CustomShape 27"/>
          <p:cNvSpPr/>
          <p:nvPr/>
        </p:nvSpPr>
        <p:spPr>
          <a:xfrm>
            <a:off x="2649960" y="4392000"/>
            <a:ext cx="5686920" cy="633960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29223271-9B5D-4148-A06E-B55DA0DA0D5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407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эмоционального выбора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08" name="CustomShape 3"/>
          <p:cNvSpPr/>
          <p:nvPr/>
        </p:nvSpPr>
        <p:spPr>
          <a:xfrm>
            <a:off x="243360" y="851400"/>
            <a:ext cx="7811640" cy="288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Эмоции, которые человек испытывает, зная исход своего выбора, определяются функцией сожаления:</a:t>
            </a:r>
            <a:endParaRPr lang="ru-RU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>
              <a:latin typeface="Arial"/>
            </a:endParaRPr>
          </a:p>
        </p:txBody>
      </p:sp>
      <p:sp>
        <p:nvSpPr>
          <p:cNvPr id="409" name="CustomShape 4"/>
          <p:cNvSpPr/>
          <p:nvPr/>
        </p:nvSpPr>
        <p:spPr>
          <a:xfrm>
            <a:off x="1246320" y="1542960"/>
            <a:ext cx="6651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,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10" name="CustomShape 5"/>
          <p:cNvSpPr/>
          <p:nvPr/>
        </p:nvSpPr>
        <p:spPr>
          <a:xfrm>
            <a:off x="1246320" y="1542960"/>
            <a:ext cx="6651000" cy="39528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11" name="CustomShape 6"/>
          <p:cNvSpPr/>
          <p:nvPr/>
        </p:nvSpPr>
        <p:spPr>
          <a:xfrm rot="16200000">
            <a:off x="2533680" y="1787400"/>
            <a:ext cx="151560" cy="48204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2" name="CustomShape 7"/>
          <p:cNvSpPr/>
          <p:nvPr/>
        </p:nvSpPr>
        <p:spPr>
          <a:xfrm rot="16200000">
            <a:off x="3502800" y="1486800"/>
            <a:ext cx="149400" cy="108504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3" name="CustomShape 8"/>
          <p:cNvSpPr/>
          <p:nvPr/>
        </p:nvSpPr>
        <p:spPr>
          <a:xfrm rot="16200000">
            <a:off x="4511520" y="1640160"/>
            <a:ext cx="149400" cy="7783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4" name="CustomShape 9"/>
          <p:cNvSpPr/>
          <p:nvPr/>
        </p:nvSpPr>
        <p:spPr>
          <a:xfrm rot="16200000">
            <a:off x="5705280" y="1517400"/>
            <a:ext cx="151560" cy="10216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5" name="CustomShape 10"/>
          <p:cNvSpPr/>
          <p:nvPr/>
        </p:nvSpPr>
        <p:spPr>
          <a:xfrm>
            <a:off x="2104560" y="2125080"/>
            <a:ext cx="100980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Полезность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16" name="CustomShape 11"/>
          <p:cNvSpPr/>
          <p:nvPr/>
        </p:nvSpPr>
        <p:spPr>
          <a:xfrm>
            <a:off x="2968200" y="2133000"/>
            <a:ext cx="121896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Разочарование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17" name="CustomShape 12"/>
          <p:cNvSpPr/>
          <p:nvPr/>
        </p:nvSpPr>
        <p:spPr>
          <a:xfrm>
            <a:off x="4066560" y="2138040"/>
            <a:ext cx="100980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Удивление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18" name="CustomShape 13"/>
          <p:cNvSpPr/>
          <p:nvPr/>
        </p:nvSpPr>
        <p:spPr>
          <a:xfrm>
            <a:off x="5194080" y="2133000"/>
            <a:ext cx="100980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Сожаление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19" name="CustomShape 14"/>
          <p:cNvSpPr/>
          <p:nvPr/>
        </p:nvSpPr>
        <p:spPr>
          <a:xfrm>
            <a:off x="2445480" y="434088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420" name="CustomShape 15"/>
          <p:cNvSpPr/>
          <p:nvPr/>
        </p:nvSpPr>
        <p:spPr>
          <a:xfrm>
            <a:off x="3079800" y="413172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A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21" name="CustomShape 16"/>
          <p:cNvSpPr/>
          <p:nvPr/>
        </p:nvSpPr>
        <p:spPr>
          <a:xfrm>
            <a:off x="3079800" y="454608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B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22" name="Line 17"/>
          <p:cNvSpPr/>
          <p:nvPr/>
        </p:nvSpPr>
        <p:spPr>
          <a:xfrm flipV="1">
            <a:off x="2650320" y="4233960"/>
            <a:ext cx="429480" cy="20916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23" name="Line 18"/>
          <p:cNvSpPr/>
          <p:nvPr/>
        </p:nvSpPr>
        <p:spPr>
          <a:xfrm>
            <a:off x="2650320" y="4443120"/>
            <a:ext cx="429480" cy="20520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24" name="CustomShape 19"/>
          <p:cNvSpPr/>
          <p:nvPr/>
        </p:nvSpPr>
        <p:spPr>
          <a:xfrm>
            <a:off x="2696760" y="4117320"/>
            <a:ext cx="11160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5" name="CustomShape 20"/>
          <p:cNvSpPr/>
          <p:nvPr/>
        </p:nvSpPr>
        <p:spPr>
          <a:xfrm>
            <a:off x="2696760" y="4117320"/>
            <a:ext cx="111600" cy="16848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26" name="CustomShape 21"/>
          <p:cNvSpPr/>
          <p:nvPr/>
        </p:nvSpPr>
        <p:spPr>
          <a:xfrm>
            <a:off x="2595960" y="4578840"/>
            <a:ext cx="35856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7" name="CustomShape 22"/>
          <p:cNvSpPr/>
          <p:nvPr/>
        </p:nvSpPr>
        <p:spPr>
          <a:xfrm>
            <a:off x="2595960" y="4578840"/>
            <a:ext cx="358560" cy="16848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28" name="CustomShape 23"/>
          <p:cNvSpPr/>
          <p:nvPr/>
        </p:nvSpPr>
        <p:spPr>
          <a:xfrm>
            <a:off x="1924560" y="4304880"/>
            <a:ext cx="21240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L1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29" name="CustomShape 24"/>
          <p:cNvSpPr/>
          <p:nvPr/>
        </p:nvSpPr>
        <p:spPr>
          <a:xfrm>
            <a:off x="5608080" y="434376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430" name="CustomShape 25"/>
          <p:cNvSpPr/>
          <p:nvPr/>
        </p:nvSpPr>
        <p:spPr>
          <a:xfrm>
            <a:off x="6242400" y="413424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C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31" name="CustomShape 26"/>
          <p:cNvSpPr/>
          <p:nvPr/>
        </p:nvSpPr>
        <p:spPr>
          <a:xfrm>
            <a:off x="6242400" y="4548600"/>
            <a:ext cx="204120" cy="204120"/>
          </a:xfrm>
          <a:prstGeom prst="ellipse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D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32" name="Line 27"/>
          <p:cNvSpPr/>
          <p:nvPr/>
        </p:nvSpPr>
        <p:spPr>
          <a:xfrm flipV="1">
            <a:off x="5812920" y="4236480"/>
            <a:ext cx="429480" cy="20952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33" name="Line 28"/>
          <p:cNvSpPr/>
          <p:nvPr/>
        </p:nvSpPr>
        <p:spPr>
          <a:xfrm>
            <a:off x="5812920" y="4446000"/>
            <a:ext cx="429480" cy="204840"/>
          </a:xfrm>
          <a:prstGeom prst="line">
            <a:avLst/>
          </a:prstGeom>
          <a:ln>
            <a:rou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34" name="CustomShape 29"/>
          <p:cNvSpPr/>
          <p:nvPr/>
        </p:nvSpPr>
        <p:spPr>
          <a:xfrm>
            <a:off x="5859360" y="4119840"/>
            <a:ext cx="11088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5" name="CustomShape 30"/>
          <p:cNvSpPr/>
          <p:nvPr/>
        </p:nvSpPr>
        <p:spPr>
          <a:xfrm>
            <a:off x="5859360" y="4119840"/>
            <a:ext cx="110880" cy="16848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36" name="CustomShape 31"/>
          <p:cNvSpPr/>
          <p:nvPr/>
        </p:nvSpPr>
        <p:spPr>
          <a:xfrm>
            <a:off x="5758560" y="4581720"/>
            <a:ext cx="35820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7" name="CustomShape 32"/>
          <p:cNvSpPr/>
          <p:nvPr/>
        </p:nvSpPr>
        <p:spPr>
          <a:xfrm>
            <a:off x="5758560" y="4581720"/>
            <a:ext cx="358200" cy="168480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38" name="CustomShape 33"/>
          <p:cNvSpPr/>
          <p:nvPr/>
        </p:nvSpPr>
        <p:spPr>
          <a:xfrm>
            <a:off x="5087160" y="4307760"/>
            <a:ext cx="21240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L2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39" name="CustomShape 34"/>
          <p:cNvSpPr/>
          <p:nvPr/>
        </p:nvSpPr>
        <p:spPr>
          <a:xfrm>
            <a:off x="3140280" y="4845240"/>
            <a:ext cx="40320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0" name="CustomShape 35"/>
          <p:cNvSpPr/>
          <p:nvPr/>
        </p:nvSpPr>
        <p:spPr>
          <a:xfrm>
            <a:off x="3140280" y="4845240"/>
            <a:ext cx="403200" cy="168480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41" name="CustomShape 36"/>
          <p:cNvSpPr/>
          <p:nvPr/>
        </p:nvSpPr>
        <p:spPr>
          <a:xfrm>
            <a:off x="6393240" y="4845240"/>
            <a:ext cx="405360" cy="16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2" name="CustomShape 37"/>
          <p:cNvSpPr/>
          <p:nvPr/>
        </p:nvSpPr>
        <p:spPr>
          <a:xfrm>
            <a:off x="6393240" y="4845240"/>
            <a:ext cx="405360" cy="16848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43" name="CustomShape 38"/>
          <p:cNvSpPr/>
          <p:nvPr/>
        </p:nvSpPr>
        <p:spPr>
          <a:xfrm>
            <a:off x="243360" y="2353320"/>
            <a:ext cx="7811640" cy="1531440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CustomShape 1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6094C78-9983-4DA1-A4ED-82116339EC8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45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445" name="CustomShape 2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Связь с теорией оценки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46" name="CustomShape 3"/>
          <p:cNvSpPr/>
          <p:nvPr/>
        </p:nvSpPr>
        <p:spPr>
          <a:xfrm>
            <a:off x="957240" y="3784320"/>
            <a:ext cx="665100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4"/>
          <p:cNvSpPr/>
          <p:nvPr/>
        </p:nvSpPr>
        <p:spPr>
          <a:xfrm>
            <a:off x="957240" y="3784320"/>
            <a:ext cx="6651000" cy="39528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48" name="CustomShape 5"/>
          <p:cNvSpPr/>
          <p:nvPr/>
        </p:nvSpPr>
        <p:spPr>
          <a:xfrm rot="16200000">
            <a:off x="2244960" y="4028760"/>
            <a:ext cx="151560" cy="48204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9" name="CustomShape 6"/>
          <p:cNvSpPr/>
          <p:nvPr/>
        </p:nvSpPr>
        <p:spPr>
          <a:xfrm rot="16200000">
            <a:off x="3214080" y="3728160"/>
            <a:ext cx="149400" cy="108504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0" name="CustomShape 7"/>
          <p:cNvSpPr/>
          <p:nvPr/>
        </p:nvSpPr>
        <p:spPr>
          <a:xfrm rot="16200000">
            <a:off x="4222800" y="3881520"/>
            <a:ext cx="149400" cy="7783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1" name="CustomShape 8"/>
          <p:cNvSpPr/>
          <p:nvPr/>
        </p:nvSpPr>
        <p:spPr>
          <a:xfrm rot="16200000">
            <a:off x="5416560" y="3758760"/>
            <a:ext cx="151560" cy="10216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2" name="CustomShape 9"/>
          <p:cNvSpPr/>
          <p:nvPr/>
        </p:nvSpPr>
        <p:spPr>
          <a:xfrm>
            <a:off x="1815840" y="4366080"/>
            <a:ext cx="100980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Полезность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53" name="CustomShape 10"/>
          <p:cNvSpPr/>
          <p:nvPr/>
        </p:nvSpPr>
        <p:spPr>
          <a:xfrm>
            <a:off x="2679480" y="4374360"/>
            <a:ext cx="121896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Разочарование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54" name="CustomShape 11"/>
          <p:cNvSpPr/>
          <p:nvPr/>
        </p:nvSpPr>
        <p:spPr>
          <a:xfrm>
            <a:off x="3777840" y="4379040"/>
            <a:ext cx="100980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Удивление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55" name="CustomShape 12"/>
          <p:cNvSpPr/>
          <p:nvPr/>
        </p:nvSpPr>
        <p:spPr>
          <a:xfrm>
            <a:off x="4905000" y="4374360"/>
            <a:ext cx="1009800" cy="27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ru-RU" sz="12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Сожаление</a:t>
            </a:r>
            <a:endParaRPr lang="ru-RU" sz="1200" b="0" strike="noStrike" spc="-1">
              <a:latin typeface="Arial"/>
            </a:endParaRPr>
          </a:p>
        </p:txBody>
      </p:sp>
      <p:sp>
        <p:nvSpPr>
          <p:cNvPr id="456" name="CustomShape 13"/>
          <p:cNvSpPr/>
          <p:nvPr/>
        </p:nvSpPr>
        <p:spPr>
          <a:xfrm>
            <a:off x="409680" y="151704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Ожидаемые события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57" name="CustomShape 14"/>
          <p:cNvSpPr/>
          <p:nvPr/>
        </p:nvSpPr>
        <p:spPr>
          <a:xfrm>
            <a:off x="3149640" y="151704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Когнитивная оценка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58" name="CustomShape 15"/>
          <p:cNvSpPr/>
          <p:nvPr/>
        </p:nvSpPr>
        <p:spPr>
          <a:xfrm>
            <a:off x="5965920" y="151704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Цели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59" name="CustomShape 16"/>
          <p:cNvSpPr/>
          <p:nvPr/>
        </p:nvSpPr>
        <p:spPr>
          <a:xfrm>
            <a:off x="3149640" y="263484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Эмоции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60" name="CustomShape 17"/>
          <p:cNvSpPr/>
          <p:nvPr/>
        </p:nvSpPr>
        <p:spPr>
          <a:xfrm>
            <a:off x="5965920" y="2640600"/>
            <a:ext cx="1669320" cy="5709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Решения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61" name="CustomShape 18"/>
          <p:cNvSpPr/>
          <p:nvPr/>
        </p:nvSpPr>
        <p:spPr>
          <a:xfrm>
            <a:off x="2079720" y="1802880"/>
            <a:ext cx="10692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62" name="CustomShape 19"/>
          <p:cNvSpPr/>
          <p:nvPr/>
        </p:nvSpPr>
        <p:spPr>
          <a:xfrm flipH="1">
            <a:off x="4818960" y="1802880"/>
            <a:ext cx="11455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63" name="CustomShape 20"/>
          <p:cNvSpPr/>
          <p:nvPr/>
        </p:nvSpPr>
        <p:spPr>
          <a:xfrm>
            <a:off x="3984480" y="2088720"/>
            <a:ext cx="360" cy="5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64" name="CustomShape 21"/>
          <p:cNvSpPr/>
          <p:nvPr/>
        </p:nvSpPr>
        <p:spPr>
          <a:xfrm>
            <a:off x="4819680" y="2920680"/>
            <a:ext cx="1145520" cy="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65" name="CustomShape 22"/>
          <p:cNvSpPr/>
          <p:nvPr/>
        </p:nvSpPr>
        <p:spPr>
          <a:xfrm>
            <a:off x="7158240" y="1633680"/>
            <a:ext cx="477000" cy="33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6" name="CustomShape 23"/>
          <p:cNvSpPr/>
          <p:nvPr/>
        </p:nvSpPr>
        <p:spPr>
          <a:xfrm>
            <a:off x="7158240" y="1633680"/>
            <a:ext cx="477000" cy="33768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467" name="CustomShape 24"/>
          <p:cNvSpPr/>
          <p:nvPr/>
        </p:nvSpPr>
        <p:spPr>
          <a:xfrm rot="5400000">
            <a:off x="3943440" y="349920"/>
            <a:ext cx="1832400" cy="5075280"/>
          </a:xfrm>
          <a:prstGeom prst="bentConnector3">
            <a:avLst>
              <a:gd name="adj1" fmla="val 23325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68" name="CustomShape 25"/>
          <p:cNvSpPr/>
          <p:nvPr/>
        </p:nvSpPr>
        <p:spPr>
          <a:xfrm>
            <a:off x="1247040" y="2945520"/>
            <a:ext cx="360" cy="858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469" name="CustomShape 26"/>
          <p:cNvSpPr/>
          <p:nvPr/>
        </p:nvSpPr>
        <p:spPr>
          <a:xfrm>
            <a:off x="957240" y="2677680"/>
            <a:ext cx="578880" cy="26712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A и C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470" name="CustomShape 27"/>
          <p:cNvSpPr/>
          <p:nvPr/>
        </p:nvSpPr>
        <p:spPr>
          <a:xfrm flipH="1" flipV="1">
            <a:off x="1243440" y="2088000"/>
            <a:ext cx="1440" cy="58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CustomShape 1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Роль эмоций в принятии решений</a:t>
            </a:r>
            <a:endParaRPr lang="ru-RU" sz="2800" b="0" strike="noStrike" spc="-1" dirty="0">
              <a:latin typeface="Arial"/>
            </a:endParaRPr>
          </a:p>
        </p:txBody>
      </p:sp>
      <p:sp>
        <p:nvSpPr>
          <p:cNvPr id="472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59A134D-46BD-46E5-A6B3-79CA3A352F0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473" name="CustomShape 3"/>
          <p:cNvSpPr/>
          <p:nvPr/>
        </p:nvSpPr>
        <p:spPr>
          <a:xfrm>
            <a:off x="331200" y="965160"/>
            <a:ext cx="8480880" cy="351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620" indent="-3429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AutoNum type="arabicPeriod"/>
            </a:pP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Оценка важности решения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: эмоции помогают определить, насколько данное решение важно для нас.</a:t>
            </a:r>
          </a:p>
          <a:p>
            <a:pPr marL="343620" indent="-3429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AutoNum type="arabicPeriod"/>
            </a:pP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Принятие решения на основе интуиции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: эмоции способствуют быстрому интуитивному принятию решений, основанному на наших предпочтениях и инстинктах. </a:t>
            </a:r>
          </a:p>
          <a:p>
            <a:pPr marL="343620" indent="-3429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AutoNum type="arabicPeriod"/>
            </a:pP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Воздействие на рациональное мышление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: эмоции могут влиять на наше рациональное мышление и способность анализа ситуации. </a:t>
            </a:r>
          </a:p>
          <a:p>
            <a:pPr marL="343620" indent="-3429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AutoNum type="arabicPeriod"/>
            </a:pP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Мотивация к действию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: положительные эмоции могут мотивировать к принятию смелых решений и действиям, негативные эмоции могут способствовать коррекции ошибок и улучшению поведения.</a:t>
            </a:r>
          </a:p>
          <a:p>
            <a:pPr marL="343620" indent="-3429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AutoNum type="arabicPeriod"/>
            </a:pP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Социальное воздействие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: эмоции играют ключевую роль в общении с другими людьми.</a:t>
            </a:r>
          </a:p>
          <a:p>
            <a:pPr marL="343620" indent="-3429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AutoNum type="arabicPeriod"/>
            </a:pPr>
            <a:r>
              <a:rPr lang="ru-RU" sz="1600" i="1" spc="-1" dirty="0">
                <a:solidFill>
                  <a:srgbClr val="0230AC"/>
                </a:solidFill>
                <a:latin typeface="Calibri"/>
                <a:ea typeface="DejaVu Sans"/>
              </a:rPr>
              <a:t>Решения в неопределенных ситуациях</a:t>
            </a:r>
            <a:r>
              <a:rPr lang="ru-RU" sz="1600" spc="-1" dirty="0">
                <a:solidFill>
                  <a:srgbClr val="0230AC"/>
                </a:solidFill>
                <a:latin typeface="Calibri"/>
                <a:ea typeface="DejaVu Sans"/>
              </a:rPr>
              <a:t>: в ситуациях, где нет достаточной информации для рационального анализа, эмоции могут выступать как своеобразный "маяк", указывая на тот или иной путь.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CustomShape 1"/>
          <p:cNvSpPr/>
          <p:nvPr/>
        </p:nvSpPr>
        <p:spPr>
          <a:xfrm>
            <a:off x="0" y="0"/>
            <a:ext cx="666684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Прогнозирование эмоций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72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59A134D-46BD-46E5-A6B3-79CA3A352F0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473" name="CustomShape 3"/>
          <p:cNvSpPr/>
          <p:nvPr/>
        </p:nvSpPr>
        <p:spPr>
          <a:xfrm>
            <a:off x="331200" y="965160"/>
            <a:ext cx="8480880" cy="351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Решения принимаются с учетом прогнозируемых эмоций от результата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 получается точно прогнозировать:</a:t>
            </a:r>
            <a:endParaRPr lang="ru-RU" sz="16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Какие эмоции они испытают в результате</a:t>
            </a:r>
            <a:endParaRPr lang="ru-RU" sz="16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Насколько эмоции будут интенсивны</a:t>
            </a:r>
            <a:endParaRPr lang="ru-RU" sz="16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Какова будет длительность испытываемых эмоций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Размышления о будущем ведутся абстрактно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 удается точно рассчитать свои возможности:</a:t>
            </a:r>
            <a:endParaRPr lang="ru-RU" sz="16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Чрезмерная чувствительность к положительным обстоятельствам</a:t>
            </a:r>
            <a:endParaRPr lang="ru-RU" sz="16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Смирение с негативными обстоятельствами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Переоценивание маловероятные события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Недооценивание событий с высокой вероятностью</a:t>
            </a:r>
            <a:endParaRPr lang="ru-RU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Убытки кажутся больше, чем выигрыши </a:t>
            </a:r>
            <a:endParaRPr lang="ru-RU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25553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ustomShape 1"/>
          <p:cNvSpPr/>
          <p:nvPr/>
        </p:nvSpPr>
        <p:spPr>
          <a:xfrm>
            <a:off x="0" y="0"/>
            <a:ext cx="7263720" cy="48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Прогнозирование эмоциональных состояний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75" name="CustomShape 2"/>
          <p:cNvSpPr/>
          <p:nvPr/>
        </p:nvSpPr>
        <p:spPr>
          <a:xfrm>
            <a:off x="8607960" y="1440"/>
            <a:ext cx="5353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1630A4D6-CEFF-4393-94E1-0637ABD7A04C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48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476" name="CustomShape 3"/>
          <p:cNvSpPr/>
          <p:nvPr/>
        </p:nvSpPr>
        <p:spPr>
          <a:xfrm>
            <a:off x="393840" y="767880"/>
            <a:ext cx="2164680" cy="310500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Начальная ошибка в представлении событий или результатов</a:t>
            </a: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проанализировать другие возможные результаты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определить критерий формирования состояния счастья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выявить все направления развития событий и результатов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Представление о событии зависит от времени , через которое оно произойдет 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анализировать результаты, которые могут получиться параллельно с данным результатом</a:t>
            </a:r>
            <a:endParaRPr lang="ru-RU" sz="900" b="0" strike="noStrike" spc="-1">
              <a:latin typeface="Arial"/>
            </a:endParaRPr>
          </a:p>
        </p:txBody>
      </p:sp>
      <p:sp>
        <p:nvSpPr>
          <p:cNvPr id="477" name="CustomShape 4"/>
          <p:cNvSpPr/>
          <p:nvPr/>
        </p:nvSpPr>
        <p:spPr>
          <a:xfrm>
            <a:off x="3420000" y="786960"/>
            <a:ext cx="2164680" cy="15555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Предсказание эмоций на конкретный результат </a:t>
            </a: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Неточные законы теорий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Вера в то, что хорошие (плохие) вещи могут более вероятно происходить с нами (другими), чем с другими  (нами)</a:t>
            </a:r>
            <a:endParaRPr lang="ru-RU" sz="900" b="0" strike="noStrike" spc="-1">
              <a:latin typeface="Arial"/>
            </a:endParaRPr>
          </a:p>
        </p:txBody>
      </p:sp>
      <p:sp>
        <p:nvSpPr>
          <p:cNvPr id="478" name="CustomShape 5"/>
          <p:cNvSpPr/>
          <p:nvPr/>
        </p:nvSpPr>
        <p:spPr>
          <a:xfrm>
            <a:off x="393840" y="4025160"/>
            <a:ext cx="2164680" cy="9777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Реальный результат</a:t>
            </a: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Люди не могут предвидеть, что они будут осмысливать события таким образом, чтобы уменьшить интенсивность эмоциональной реакции</a:t>
            </a:r>
            <a:endParaRPr lang="ru-RU" sz="900" b="0" strike="noStrike" spc="-1">
              <a:latin typeface="Arial"/>
            </a:endParaRPr>
          </a:p>
        </p:txBody>
      </p:sp>
      <p:sp>
        <p:nvSpPr>
          <p:cNvPr id="479" name="CustomShape 6"/>
          <p:cNvSpPr/>
          <p:nvPr/>
        </p:nvSpPr>
        <p:spPr>
          <a:xfrm>
            <a:off x="6356520" y="799560"/>
            <a:ext cx="2164680" cy="15555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Прогнозирование эмоций</a:t>
            </a: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учесть влияние физиологического возбуждения  на текущие и будущие эмоциональные состояния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Склонность проецировать текущее эмоциональное состояние на будущие события</a:t>
            </a:r>
            <a:endParaRPr lang="ru-RU" sz="900" b="0" strike="noStrike" spc="-1">
              <a:latin typeface="Arial"/>
            </a:endParaRPr>
          </a:p>
        </p:txBody>
      </p:sp>
      <p:sp>
        <p:nvSpPr>
          <p:cNvPr id="480" name="CustomShape 7"/>
          <p:cNvSpPr/>
          <p:nvPr/>
        </p:nvSpPr>
        <p:spPr>
          <a:xfrm>
            <a:off x="6356520" y="2616120"/>
            <a:ext cx="2164680" cy="1555560"/>
          </a:xfrm>
          <a:prstGeom prst="rect">
            <a:avLst/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Переживаемые эмоции</a:t>
            </a: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учесть влияние коротких интенсивных эмоций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учесть влияние физиологической иммунной системы</a:t>
            </a: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900" b="0" strike="noStrike" spc="-1">
                <a:solidFill>
                  <a:srgbClr val="FFFFFF"/>
                </a:solidFill>
                <a:latin typeface="Calibri"/>
                <a:ea typeface="DejaVu Sans"/>
              </a:rPr>
              <a:t>Трудно учесть влияние селективности памяти</a:t>
            </a:r>
            <a:endParaRPr lang="ru-RU" sz="900" b="0" strike="noStrike" spc="-1">
              <a:latin typeface="Arial"/>
            </a:endParaRPr>
          </a:p>
        </p:txBody>
      </p:sp>
      <p:sp>
        <p:nvSpPr>
          <p:cNvPr id="481" name="CustomShape 8"/>
          <p:cNvSpPr/>
          <p:nvPr/>
        </p:nvSpPr>
        <p:spPr>
          <a:xfrm>
            <a:off x="2558880" y="2320560"/>
            <a:ext cx="1145520" cy="1282680"/>
          </a:xfrm>
          <a:prstGeom prst="bentConnector3">
            <a:avLst>
              <a:gd name="adj1" fmla="val 5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482" name="CustomShape 9"/>
          <p:cNvSpPr/>
          <p:nvPr/>
        </p:nvSpPr>
        <p:spPr>
          <a:xfrm flipV="1">
            <a:off x="2558880" y="4163760"/>
            <a:ext cx="1378080" cy="348480"/>
          </a:xfrm>
          <a:prstGeom prst="bentConnector2">
            <a:avLst/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483" name="CustomShape 10"/>
          <p:cNvSpPr/>
          <p:nvPr/>
        </p:nvSpPr>
        <p:spPr>
          <a:xfrm rot="5400000">
            <a:off x="4267800" y="2574720"/>
            <a:ext cx="466200" cy="2880"/>
          </a:xfrm>
          <a:prstGeom prst="bentConnector3">
            <a:avLst>
              <a:gd name="adj1" fmla="val 5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484" name="CustomShape 11"/>
          <p:cNvSpPr/>
          <p:nvPr/>
        </p:nvSpPr>
        <p:spPr>
          <a:xfrm rot="10800000" flipV="1">
            <a:off x="7419960" y="5628960"/>
            <a:ext cx="1063080" cy="2025360"/>
          </a:xfrm>
          <a:prstGeom prst="bentConnector3">
            <a:avLst>
              <a:gd name="adj1" fmla="val 50000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485" name="CustomShape 12"/>
          <p:cNvSpPr/>
          <p:nvPr/>
        </p:nvSpPr>
        <p:spPr>
          <a:xfrm rot="5400000" flipH="1">
            <a:off x="6245280" y="2980080"/>
            <a:ext cx="6480" cy="2378160"/>
          </a:xfrm>
          <a:prstGeom prst="bentConnector3">
            <a:avLst>
              <a:gd name="adj1" fmla="val -4786312"/>
            </a:avLst>
          </a:pr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486" name="CustomShape 13"/>
          <p:cNvSpPr/>
          <p:nvPr/>
        </p:nvSpPr>
        <p:spPr>
          <a:xfrm>
            <a:off x="3705120" y="2810160"/>
            <a:ext cx="1586880" cy="1586880"/>
          </a:xfrm>
          <a:prstGeom prst="ellipse">
            <a:avLst/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Ошибки в прогнозах эмоциональных состояний</a:t>
            </a:r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CustomShape 1"/>
          <p:cNvSpPr/>
          <p:nvPr/>
        </p:nvSpPr>
        <p:spPr>
          <a:xfrm>
            <a:off x="457200" y="1699920"/>
            <a:ext cx="8228880" cy="61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200" b="1" strike="noStrike" spc="-1">
                <a:solidFill>
                  <a:srgbClr val="FFFFFF"/>
                </a:solidFill>
                <a:latin typeface="Calibri"/>
              </a:rPr>
              <a:t>Спасибо за внимание!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1957</TotalTime>
  <Words>2975</Words>
  <Application>Microsoft Office PowerPoint</Application>
  <PresentationFormat>Экран (16:9)</PresentationFormat>
  <Paragraphs>498</Paragraphs>
  <Slides>49</Slides>
  <Notes>29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49</vt:i4>
      </vt:variant>
    </vt:vector>
  </HeadingPairs>
  <TitlesOfParts>
    <vt:vector size="58" baseType="lpstr">
      <vt:lpstr>Arial</vt:lpstr>
      <vt:lpstr>Calibri</vt:lpstr>
      <vt:lpstr>StarSymbol</vt:lpstr>
      <vt:lpstr>Symbol</vt:lpstr>
      <vt:lpstr>Times New Roman</vt:lpstr>
      <vt:lpstr>Wingdings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dc:description/>
  <cp:lastModifiedBy>user</cp:lastModifiedBy>
  <cp:revision>506</cp:revision>
  <dcterms:created xsi:type="dcterms:W3CDTF">2014-06-27T12:30:22Z</dcterms:created>
  <dcterms:modified xsi:type="dcterms:W3CDTF">2025-05-26T17:32:55Z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DocSecurity">
    <vt:i4>0</vt:i4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2</vt:i4>
  </property>
  <property fmtid="{D5CDD505-2E9C-101B-9397-08002B2CF9AE}" pid="8" name="Notes">
    <vt:i4>23</vt:i4>
  </property>
  <property fmtid="{D5CDD505-2E9C-101B-9397-08002B2CF9AE}" pid="9" name="PresentationFormat">
    <vt:lpwstr>Экран (16:9)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23</vt:i4>
  </property>
</Properties>
</file>