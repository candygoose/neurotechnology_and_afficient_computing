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3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690" autoAdjust="0"/>
  </p:normalViewPr>
  <p:slideViewPr>
    <p:cSldViewPr snapToGrid="0">
      <p:cViewPr varScale="1">
        <p:scale>
          <a:sx n="120" d="100"/>
          <a:sy n="120" d="100"/>
        </p:scale>
        <p:origin x="12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перемещения страницы щёлкните мышью</a:t>
            </a: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11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</a:p>
        </p:txBody>
      </p:sp>
      <p:sp>
        <p:nvSpPr>
          <p:cNvPr id="120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121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122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9471484-DAD8-4649-9F9F-0D94DA57C1ED}" type="slidenum"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812800"/>
            <a:ext cx="7126288" cy="4008438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864360" y="2904120"/>
            <a:ext cx="6046920" cy="23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strike="noStrike" spc="-1" dirty="0">
                <a:solidFill>
                  <a:srgbClr val="000000"/>
                </a:solidFill>
                <a:latin typeface="+mn-lt"/>
                <a:ea typeface="+mn-ea"/>
              </a:rPr>
              <a:t>Развитие сферы искусственного интеллекта (AI) вызвало к жизни мысль о том, что рациональное мышление человека зависит от эмоциональной обработки. 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812800"/>
            <a:ext cx="7126288" cy="4008438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920" cy="23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ru-RU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880"/>
            <a:ext cx="7125840" cy="400824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920" cy="23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500" b="0" strike="noStrike" spc="-1">
                <a:solidFill>
                  <a:srgbClr val="000000"/>
                </a:solidFill>
                <a:latin typeface="Arial"/>
              </a:rPr>
              <a:t>Формальные модели эмоций ставят целью определение эмоций в форме, применимой для конструирования роботов.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008000" y="-2571840"/>
            <a:ext cx="6614640" cy="372060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1042560" y="1365840"/>
            <a:ext cx="5436720" cy="446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CustomShape 3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1E130C71-6C57-4237-B812-9AA97E918FC2}" type="slidenum">
              <a:rPr lang="ru-RU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5</a:t>
            </a:fld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008000" y="-2571840"/>
            <a:ext cx="6614640" cy="372060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1042560" y="1365840"/>
            <a:ext cx="5436720" cy="446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CustomShape 3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3A92B52B-0FDC-4CEF-BB37-988A2CDFB728}" type="slidenum">
              <a:rPr lang="ru-RU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6</a:t>
            </a:fld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008063" y="-2571750"/>
            <a:ext cx="6615112" cy="372110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1042560" y="1365840"/>
            <a:ext cx="5436720" cy="446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CustomShape 3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65687D1-3191-485B-835E-65277C88A98B}" type="slidenum">
              <a:rPr lang="ru-RU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7</a:t>
            </a:fld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008000" y="-2571840"/>
            <a:ext cx="6614640" cy="372060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1042560" y="1365840"/>
            <a:ext cx="5436720" cy="446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CustomShape 3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8D1F6268-ED44-47DE-83B5-2F1CB783E7F9}" type="slidenum">
              <a:rPr lang="ru-RU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8</a:t>
            </a:fld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812800"/>
            <a:ext cx="7126288" cy="4008438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920" cy="23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000000"/>
                </a:solidFill>
                <a:latin typeface="Arial"/>
              </a:rPr>
              <a:t>В ОСС простейшими эмоциями считаются радость, сводящаяся к удовольствию, и горе, сводящееся к неудовольствию. </a:t>
            </a: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ru-RU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880"/>
            <a:ext cx="7125840" cy="400824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920" cy="23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Ещё один признак это предполагаемое — подтвердившееся событие. С помощью этого признака в ОСС получается ещё 6 эмоций.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880"/>
            <a:ext cx="7125840" cy="400824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792000" y="3877560"/>
            <a:ext cx="6046920" cy="23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Математическое описание эмоций, представленных в модели ООС, приводится в EMA.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ru-RU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Все переменные рассматриваются как условные точки зрения агента на событие.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812800"/>
            <a:ext cx="7126288" cy="4008438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792000" y="3877560"/>
            <a:ext cx="6046920" cy="102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880"/>
            <a:ext cx="7125840" cy="400824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792000" y="3877560"/>
            <a:ext cx="6046920" cy="23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ru-RU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Приведен только наиболее обобщенный механизм работы.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880"/>
            <a:ext cx="7125840" cy="400824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792000" y="3877560"/>
            <a:ext cx="6046920" cy="23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Модели эмоций ООС и Affective Computing не дают ответов о механизмах влияния эмоций на состояние агента.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812800"/>
            <a:ext cx="7126288" cy="4008438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792000" y="3877560"/>
            <a:ext cx="6046920" cy="444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812800"/>
            <a:ext cx="7126288" cy="4008438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792000" y="3877560"/>
            <a:ext cx="6046920" cy="346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ru-RU" sz="1200" b="0" strike="noStrike" spc="-1" dirty="0">
                <a:solidFill>
                  <a:srgbClr val="000000"/>
                </a:solidFill>
                <a:latin typeface="+mn-lt"/>
                <a:ea typeface="+mn-ea"/>
              </a:rPr>
              <a:t>Примеры эмоциональных вычислительных систем включают, например, работу по аффективному обучению, выполненную Розалин Пикар и ее коллегами. Хорошо известно, что результаты учащихся могут быть улучшены при надлежащих поощрении и поддержке. Поэтому исследователи предлагают аффективную модель, построенную на круговой схеме Джеймса А. Рассела (James A. </a:t>
            </a:r>
            <a:r>
              <a:rPr lang="ru-RU" sz="1200" b="0" strike="noStrike" spc="-1" dirty="0" err="1">
                <a:solidFill>
                  <a:srgbClr val="000000"/>
                </a:solidFill>
                <a:latin typeface="+mn-lt"/>
                <a:ea typeface="+mn-ea"/>
              </a:rPr>
              <a:t>Russell’s</a:t>
            </a:r>
            <a:r>
              <a:rPr lang="ru-RU" sz="1200" b="0" strike="noStrike" spc="-1" dirty="0">
                <a:solidFill>
                  <a:srgbClr val="000000"/>
                </a:solidFill>
                <a:latin typeface="+mn-lt"/>
                <a:ea typeface="+mn-ea"/>
              </a:rPr>
              <a:t> </a:t>
            </a:r>
            <a:r>
              <a:rPr lang="ru-RU" sz="1200" b="0" strike="noStrike" spc="-1" dirty="0" err="1">
                <a:solidFill>
                  <a:srgbClr val="000000"/>
                </a:solidFill>
                <a:latin typeface="+mn-lt"/>
                <a:ea typeface="+mn-ea"/>
              </a:rPr>
              <a:t>circumplex</a:t>
            </a:r>
            <a:r>
              <a:rPr lang="ru-RU" sz="1200" b="0" strike="noStrike" spc="-1" dirty="0">
                <a:solidFill>
                  <a:srgbClr val="000000"/>
                </a:solidFill>
                <a:latin typeface="+mn-lt"/>
                <a:ea typeface="+mn-ea"/>
              </a:rPr>
              <a:t> </a:t>
            </a:r>
            <a:r>
              <a:rPr lang="ru-RU" sz="1200" b="0" strike="noStrike" spc="-1" dirty="0" err="1">
                <a:solidFill>
                  <a:srgbClr val="000000"/>
                </a:solidFill>
                <a:latin typeface="+mn-lt"/>
                <a:ea typeface="+mn-ea"/>
              </a:rPr>
              <a:t>model</a:t>
            </a:r>
            <a:r>
              <a:rPr lang="ru-RU" sz="1200" b="0" strike="noStrike" spc="-1" dirty="0">
                <a:solidFill>
                  <a:srgbClr val="000000"/>
                </a:solidFill>
                <a:latin typeface="+mn-lt"/>
                <a:ea typeface="+mn-ea"/>
              </a:rPr>
              <a:t>), связывающей этапы обучения с определенными эмоциями.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0FE2BF6-07BD-470D-91E8-241C690FE481}" type="slidenum">
              <a:rPr lang="ru-RU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23</a:t>
            </a:fld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ru-RU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В графическом виде представление спектра эмоций возможно в виде куба, где верхняя грань – положительные эмоции, нижняя грань – отрицательные эмоции, левая грань – предвосхищающие эмоции, правая грань – констатирующие эмоции, передняя грань – эмоции, направленные на себя. 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67CE4FE-F7CA-4C9F-A6FF-D26C0C0A8922}" type="slidenum">
              <a:rPr lang="ru-RU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27</a:t>
            </a:fld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F797E43-350F-4813-B4AB-B07D3F4FB3A2}" type="slidenum">
              <a:rPr lang="ru-RU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28</a:t>
            </a:fld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0360" y="744480"/>
            <a:ext cx="6614640" cy="372060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CustomShape 3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9A1F559E-9C13-424A-95C8-41A05E9736B5}" type="slidenum">
              <a:rPr lang="ru-RU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29</a:t>
            </a:fld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0360" y="744480"/>
            <a:ext cx="6614640" cy="372060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Реализация теории OCC в компьютерной модели:</a:t>
            </a: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Агент определяет, каким образом события влияют на эмоции</a:t>
            </a: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Агент определяет, почему одно и то же событие вызывает разные эмоции у разных агентов</a:t>
            </a: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Агент размышляет об эмоциях других</a:t>
            </a: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Требуется много очень специфических знаний:</a:t>
            </a: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Осведомленность о предметной области конкретного события</a:t>
            </a: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Осведомленность об убеждениях и целях агентов</a:t>
            </a: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600" b="0" strike="noStrike" spc="-1">
                <a:solidFill>
                  <a:srgbClr val="000000"/>
                </a:solidFill>
                <a:latin typeface="Arial"/>
              </a:rPr>
              <a:t>Осведомленность о том, как агенты оценивают события с точки зрения их убеждений и целей</a:t>
            </a: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CustomShape 3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3D6D25D9-9F96-4DEC-A5C4-AE83D4536F7F}" type="slidenum">
              <a:rPr lang="ru-RU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32</a:t>
            </a:fld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000"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5098320" y="490320"/>
            <a:ext cx="183240" cy="36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CustomShape 2"/>
          <p:cNvSpPr/>
          <p:nvPr/>
        </p:nvSpPr>
        <p:spPr>
          <a:xfrm>
            <a:off x="5910840" y="427320"/>
            <a:ext cx="183240" cy="36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ustomShape 1"/>
          <p:cNvSpPr/>
          <p:nvPr/>
        </p:nvSpPr>
        <p:spPr>
          <a:xfrm>
            <a:off x="171360" y="4280040"/>
            <a:ext cx="1675080" cy="7034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1080" y="2067480"/>
            <a:ext cx="9142560" cy="12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2800" b="0" strike="noStrike" spc="-1">
                <a:solidFill>
                  <a:srgbClr val="FFFFFF"/>
                </a:solidFill>
                <a:latin typeface="Calibri"/>
                <a:ea typeface="DejaVu Sans"/>
              </a:rPr>
              <a:t>Компьютерное моделирование эмоций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2800" b="0" strike="noStrike" spc="-1">
                <a:solidFill>
                  <a:srgbClr val="FFFFFF"/>
                </a:solidFill>
                <a:latin typeface="Calibri"/>
                <a:ea typeface="DejaVu Sans"/>
              </a:rPr>
              <a:t>Формальные теории эмоций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0" y="4667400"/>
            <a:ext cx="914256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CustomShape 3"/>
          <p:cNvSpPr/>
          <p:nvPr/>
        </p:nvSpPr>
        <p:spPr>
          <a:xfrm>
            <a:off x="1371600" y="3637080"/>
            <a:ext cx="6399360" cy="46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Эмоции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ACFAA4B2-A051-4919-A371-BFC1B0256C9E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600" b="1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Эмоция</a:t>
            </a: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 – это рефлекторная адаптивная психофизиологическая реакция, связанная с  проявлением субъективного пристрастного отношения к значимой ситуации и ее исходу и способствующая организации и обеспечению целесообразного с точки зрения целостности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и сохранности организма поведения человека.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1" strike="noStrike" spc="-1">
                <a:solidFill>
                  <a:srgbClr val="0230AC"/>
                </a:solidFill>
                <a:latin typeface="Calibri"/>
                <a:ea typeface="DejaVu Sans"/>
              </a:rPr>
              <a:t>Характеристики</a:t>
            </a: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: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286920" indent="-28584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интенсивность (насколько сильно выражено переживание);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285840" indent="-285840" algn="just">
              <a:lnSpc>
                <a:spcPct val="100000"/>
              </a:lnSpc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ограниченная продолжительность (продолжительность ограничена временем непосредственного действия причины или временем вспоминания о ней);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осознаваемость причины появления;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связь с конкретным объектом, обстоятельством;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полярность (радость и печаль, гнев и страх).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эмоций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38415828-70FD-4BB7-BCAA-9F8512D5F2F1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3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6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эмоций </a:t>
            </a: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содержит набор взаимосвязанных концепций, определений и утверждений, которые объясняют или предсказывают аспекты человеческого поведения, определяя отношения между переменными.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1" strike="noStrike" spc="-1">
                <a:solidFill>
                  <a:srgbClr val="0230AC"/>
                </a:solidFill>
                <a:latin typeface="Calibri"/>
                <a:ea typeface="DejaVu Sans"/>
              </a:rPr>
              <a:t>Структурная</a:t>
            </a: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 теория или модель описывает компоненты, лежащие в основе поведения, и связи между компонентами: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описывает статическую структуру;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объясняет и прогнозирует взаимосвязь между переменными.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1" strike="noStrike" spc="-1">
                <a:solidFill>
                  <a:srgbClr val="0230AC"/>
                </a:solidFill>
                <a:latin typeface="Calibri"/>
                <a:ea typeface="DejaVu Sans"/>
              </a:rPr>
              <a:t>Процессная</a:t>
            </a: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 теория или модель описывает динамические процессы, лежащие в основе поведения человека: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акцентирует внимание на операциях, которые изменяют или преобразуют значения переменных;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акцентирует внимание на динамике процессов во времени.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Области применения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DEBB6FD3-5709-4F07-926F-DB58B3CD812E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4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85840" indent="-285840">
              <a:lnSpc>
                <a:spcPct val="100000"/>
              </a:lnSpc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решение проблем в экономических, социальных и прочих симуляциях;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тестирование психологических теорий эмоций и в психологических экспериментах;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обеспечение правдоподобия машинно-человеческих интерфейсов.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Модели эмоций, синтезирующие и выражающие реальные эмоции, необходимы для создания искусственных эмоций, более схожих с реакциями человека.</a:t>
            </a: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М. Тода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D70D73EA-6A66-49BD-AEF4-69B14E182A09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5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CustomShape 3"/>
          <p:cNvSpPr/>
          <p:nvPr/>
        </p:nvSpPr>
        <p:spPr>
          <a:xfrm>
            <a:off x="243360" y="851400"/>
            <a:ext cx="8480160" cy="60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Симуляция системы, требующая разделения внимания агента на несколько проблем одновременно.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Роботы конкурируют за ресурсы, количество которых ограничено.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0" strike="noStrike" spc="-1">
                <a:solidFill>
                  <a:srgbClr val="FF0000"/>
                </a:solidFill>
                <a:latin typeface="Calibri"/>
                <a:ea typeface="DejaVu Sans"/>
              </a:rPr>
              <a:t>Вывод</a:t>
            </a: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: для продолжительного выживания у агентов должны быть эмоции, названные Тодой </a:t>
            </a:r>
            <a:r>
              <a:rPr lang="ru-RU" sz="1600" b="0" i="1" strike="noStrike" spc="-1">
                <a:solidFill>
                  <a:srgbClr val="0230AC"/>
                </a:solidFill>
                <a:latin typeface="Calibri"/>
                <a:ea typeface="DejaVu Sans"/>
              </a:rPr>
              <a:t>потребностями</a:t>
            </a: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.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Потребности: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фактические эмоции (радость, гнев);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цели или побуждения (например, голод).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Система прерываний Г. Саймона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23D837F7-3883-417C-AA92-8BDAEF0C0002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6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CustomShape 3"/>
          <p:cNvSpPr/>
          <p:nvPr/>
        </p:nvSpPr>
        <p:spPr>
          <a:xfrm>
            <a:off x="243360" y="851400"/>
            <a:ext cx="8480160" cy="60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600" b="0" i="1" strike="noStrike" spc="-1">
                <a:solidFill>
                  <a:srgbClr val="0230AC"/>
                </a:solidFill>
                <a:latin typeface="Calibri"/>
                <a:ea typeface="DejaVu Sans"/>
              </a:rPr>
              <a:t>Предположение</a:t>
            </a: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: эмоции – часть познавательных процессов.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Процессы</a:t>
            </a:r>
            <a:r>
              <a:rPr lang="ru-RU" sz="1600" b="0" strike="noStrike" spc="-1">
                <a:solidFill>
                  <a:srgbClr val="FF0000"/>
                </a:solidFill>
                <a:latin typeface="Calibri"/>
                <a:ea typeface="DejaVu Sans"/>
              </a:rPr>
              <a:t> </a:t>
            </a: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могут быть прерваны для переключения внимания на удовлетворение более важных потребностей (например, голода, безопасности).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Предполагалось существование двух параллельных систем: 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одной – для достижения целей (познание, планирование), 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второй – для наблюдения за окружающей средой с целью обнаружения событий, требующих пристального внимания (эмоции). 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Возможность прерывания текущих познавательных процессов жизненно важна для выживания, позволяя реагировать на возникновение угрозы.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OCC (Ortony, Clore, Collins)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957DE543-61D5-4D07-A121-C758F3803BD2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7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CustomShape 3"/>
          <p:cNvSpPr/>
          <p:nvPr/>
        </p:nvSpPr>
        <p:spPr>
          <a:xfrm>
            <a:off x="243360" y="675720"/>
            <a:ext cx="8480160" cy="60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Основой модели служит представление эмоций как реакции на свойства объектов, событий или действий. 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Предметы, события и действия оцениваются на основе набора критериев, поэтому агент испытывает несколько эмоций разной интенсивности.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4" name="Рисунок 1"/>
          <p:cNvPicPr/>
          <p:nvPr/>
        </p:nvPicPr>
        <p:blipFill>
          <a:blip r:embed="rId3"/>
          <a:stretch/>
        </p:blipFill>
        <p:spPr>
          <a:xfrm>
            <a:off x="1459440" y="1741320"/>
            <a:ext cx="6203160" cy="3351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OCC (Ortony, Clore, Collins)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C972029B-5B2A-441E-8F9B-FA78176987C2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8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CustomShape 3"/>
          <p:cNvSpPr/>
          <p:nvPr/>
        </p:nvSpPr>
        <p:spPr>
          <a:xfrm>
            <a:off x="253800" y="737280"/>
            <a:ext cx="8480160" cy="60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OCC утверждает, что сила эмоции в первую очередь зависит от событий, агентов или объектов в среде агента, проявляющего эмоцию. 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48" name="Group 4"/>
          <p:cNvGrpSpPr/>
          <p:nvPr/>
        </p:nvGrpSpPr>
        <p:grpSpPr>
          <a:xfrm>
            <a:off x="60840" y="1425960"/>
            <a:ext cx="9018360" cy="3687840"/>
            <a:chOff x="60840" y="1425960"/>
            <a:chExt cx="9018360" cy="3687840"/>
          </a:xfrm>
        </p:grpSpPr>
        <p:sp>
          <p:nvSpPr>
            <p:cNvPr id="149" name="CustomShape 5"/>
            <p:cNvSpPr/>
            <p:nvPr/>
          </p:nvSpPr>
          <p:spPr>
            <a:xfrm>
              <a:off x="4050720" y="3854880"/>
              <a:ext cx="945000" cy="574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prstDash val="dash"/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b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Благополучие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" name="CustomShape 6"/>
            <p:cNvSpPr/>
            <p:nvPr/>
          </p:nvSpPr>
          <p:spPr>
            <a:xfrm>
              <a:off x="1955160" y="4328280"/>
              <a:ext cx="1891800" cy="574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prstDash val="dash"/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b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Основанные на будущем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" name="CustomShape 7"/>
            <p:cNvSpPr/>
            <p:nvPr/>
          </p:nvSpPr>
          <p:spPr>
            <a:xfrm>
              <a:off x="3511440" y="1425960"/>
              <a:ext cx="1657440" cy="2415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Валентные реакции на … 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" name="CustomShape 8"/>
            <p:cNvSpPr/>
            <p:nvPr/>
          </p:nvSpPr>
          <p:spPr>
            <a:xfrm>
              <a:off x="1125360" y="1803960"/>
              <a:ext cx="1657440" cy="2415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Последовательность событий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" name="CustomShape 9"/>
            <p:cNvSpPr/>
            <p:nvPr/>
          </p:nvSpPr>
          <p:spPr>
            <a:xfrm>
              <a:off x="3510720" y="1799280"/>
              <a:ext cx="1657440" cy="2415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Действия агентов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" name="CustomShape 10"/>
            <p:cNvSpPr/>
            <p:nvPr/>
          </p:nvSpPr>
          <p:spPr>
            <a:xfrm>
              <a:off x="5937120" y="1803960"/>
              <a:ext cx="1657440" cy="2415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Окружающие объекты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5" name="CustomShape 11"/>
            <p:cNvSpPr/>
            <p:nvPr/>
          </p:nvSpPr>
          <p:spPr>
            <a:xfrm>
              <a:off x="834840" y="2142360"/>
              <a:ext cx="1015920" cy="292320"/>
            </a:xfrm>
            <a:prstGeom prst="flowChartTerminator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Цели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" name="CustomShape 12"/>
            <p:cNvSpPr/>
            <p:nvPr/>
          </p:nvSpPr>
          <p:spPr>
            <a:xfrm>
              <a:off x="2017800" y="2142360"/>
              <a:ext cx="1036800" cy="292320"/>
            </a:xfrm>
            <a:prstGeom prst="flowChartPreparation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Желанность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" name="CustomShape 13"/>
            <p:cNvSpPr/>
            <p:nvPr/>
          </p:nvSpPr>
          <p:spPr>
            <a:xfrm flipV="1">
              <a:off x="1851840" y="2045880"/>
              <a:ext cx="101520" cy="240480"/>
            </a:xfrm>
            <a:prstGeom prst="bentConnector2">
              <a:avLst/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" name="CustomShape 14"/>
            <p:cNvSpPr/>
            <p:nvPr/>
          </p:nvSpPr>
          <p:spPr>
            <a:xfrm rot="16200000" flipH="1">
              <a:off x="1865160" y="2136600"/>
              <a:ext cx="240480" cy="61560"/>
            </a:xfrm>
            <a:prstGeom prst="bentConnector2">
              <a:avLst/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16920" rIns="90000" bIns="1692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9" name="CustomShape 15"/>
            <p:cNvSpPr/>
            <p:nvPr/>
          </p:nvSpPr>
          <p:spPr>
            <a:xfrm>
              <a:off x="1127880" y="2536920"/>
              <a:ext cx="1650960" cy="2415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Внимание на 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" name="CustomShape 16"/>
            <p:cNvSpPr/>
            <p:nvPr/>
          </p:nvSpPr>
          <p:spPr>
            <a:xfrm rot="5400000">
              <a:off x="1710360" y="2291400"/>
              <a:ext cx="488520" cy="36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-44280" rIns="90000" bIns="-4428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" name="CustomShape 17"/>
            <p:cNvSpPr/>
            <p:nvPr/>
          </p:nvSpPr>
          <p:spPr>
            <a:xfrm rot="10800000" flipV="1">
              <a:off x="6624000" y="2315160"/>
              <a:ext cx="1555200" cy="255240"/>
            </a:xfrm>
            <a:prstGeom prst="bentConnector2">
              <a:avLst/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2" name="CustomShape 18"/>
            <p:cNvSpPr/>
            <p:nvPr/>
          </p:nvSpPr>
          <p:spPr>
            <a:xfrm rot="5400000">
              <a:off x="4276080" y="1732680"/>
              <a:ext cx="128880" cy="36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-44280" rIns="90000" bIns="-4428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3" name="CustomShape 19"/>
            <p:cNvSpPr/>
            <p:nvPr/>
          </p:nvSpPr>
          <p:spPr>
            <a:xfrm>
              <a:off x="5170680" y="1547640"/>
              <a:ext cx="1594800" cy="255240"/>
            </a:xfrm>
            <a:prstGeom prst="bentConnector2">
              <a:avLst/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" name="CustomShape 20"/>
            <p:cNvSpPr/>
            <p:nvPr/>
          </p:nvSpPr>
          <p:spPr>
            <a:xfrm>
              <a:off x="118080" y="2958480"/>
              <a:ext cx="1776600" cy="2415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Последствия для окружающих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" name="CustomShape 21"/>
            <p:cNvSpPr/>
            <p:nvPr/>
          </p:nvSpPr>
          <p:spPr>
            <a:xfrm>
              <a:off x="2494080" y="2958480"/>
              <a:ext cx="1783080" cy="2415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Последствия для себя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" name="CustomShape 22"/>
            <p:cNvSpPr/>
            <p:nvPr/>
          </p:nvSpPr>
          <p:spPr>
            <a:xfrm>
              <a:off x="1069200" y="3399840"/>
              <a:ext cx="825480" cy="3088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Нежеланные для окружающих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" name="CustomShape 23"/>
            <p:cNvSpPr/>
            <p:nvPr/>
          </p:nvSpPr>
          <p:spPr>
            <a:xfrm>
              <a:off x="118080" y="3399840"/>
              <a:ext cx="825480" cy="3088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Желанные для окружающих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" name="CustomShape 24"/>
            <p:cNvSpPr/>
            <p:nvPr/>
          </p:nvSpPr>
          <p:spPr>
            <a:xfrm rot="16200000" flipH="1">
              <a:off x="1145520" y="3063240"/>
              <a:ext cx="196920" cy="47412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" name="CustomShape 25"/>
            <p:cNvSpPr/>
            <p:nvPr/>
          </p:nvSpPr>
          <p:spPr>
            <a:xfrm rot="5400000">
              <a:off x="671400" y="3063240"/>
              <a:ext cx="196920" cy="47412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0" name="CustomShape 26"/>
            <p:cNvSpPr/>
            <p:nvPr/>
          </p:nvSpPr>
          <p:spPr>
            <a:xfrm>
              <a:off x="3451680" y="3399840"/>
              <a:ext cx="825480" cy="3088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Будущее не имеет значение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" name="CustomShape 27"/>
            <p:cNvSpPr/>
            <p:nvPr/>
          </p:nvSpPr>
          <p:spPr>
            <a:xfrm>
              <a:off x="2494080" y="3399840"/>
              <a:ext cx="825480" cy="3088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Будущее имеет значение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" name="CustomShape 28"/>
            <p:cNvSpPr/>
            <p:nvPr/>
          </p:nvSpPr>
          <p:spPr>
            <a:xfrm rot="16200000" flipH="1">
              <a:off x="3526200" y="3061080"/>
              <a:ext cx="196920" cy="47736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" name="CustomShape 29"/>
            <p:cNvSpPr/>
            <p:nvPr/>
          </p:nvSpPr>
          <p:spPr>
            <a:xfrm rot="5400000">
              <a:off x="3048840" y="3061080"/>
              <a:ext cx="196920" cy="47736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" name="CustomShape 30"/>
            <p:cNvSpPr/>
            <p:nvPr/>
          </p:nvSpPr>
          <p:spPr>
            <a:xfrm rot="16200000" flipH="1">
              <a:off x="2580840" y="2153160"/>
              <a:ext cx="177120" cy="143100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" name="CustomShape 31"/>
            <p:cNvSpPr/>
            <p:nvPr/>
          </p:nvSpPr>
          <p:spPr>
            <a:xfrm rot="5400000" flipH="1" flipV="1">
              <a:off x="1391040" y="2394360"/>
              <a:ext cx="177120" cy="94572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6" name="CustomShape 32"/>
            <p:cNvSpPr/>
            <p:nvPr/>
          </p:nvSpPr>
          <p:spPr>
            <a:xfrm>
              <a:off x="60840" y="3822120"/>
              <a:ext cx="1891800" cy="574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prstDash val="dash"/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b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Отношение к другим людям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" name="CustomShape 33"/>
            <p:cNvSpPr/>
            <p:nvPr/>
          </p:nvSpPr>
          <p:spPr>
            <a:xfrm rot="16200000" flipH="1">
              <a:off x="1395720" y="3793680"/>
              <a:ext cx="167040" cy="36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-44280" rIns="90000" bIns="-4428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8" name="CustomShape 34"/>
            <p:cNvSpPr/>
            <p:nvPr/>
          </p:nvSpPr>
          <p:spPr>
            <a:xfrm rot="16200000" flipH="1">
              <a:off x="444600" y="3793680"/>
              <a:ext cx="167040" cy="36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-44280" rIns="90000" bIns="-4428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9" name="CustomShape 35"/>
            <p:cNvSpPr/>
            <p:nvPr/>
          </p:nvSpPr>
          <p:spPr>
            <a:xfrm>
              <a:off x="1069200" y="3879000"/>
              <a:ext cx="825480" cy="3088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Злорадство, жалость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" name="CustomShape 36"/>
            <p:cNvSpPr/>
            <p:nvPr/>
          </p:nvSpPr>
          <p:spPr>
            <a:xfrm>
              <a:off x="118080" y="3879000"/>
              <a:ext cx="825480" cy="3088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Радость за других, обида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" name="CustomShape 37"/>
            <p:cNvSpPr/>
            <p:nvPr/>
          </p:nvSpPr>
          <p:spPr>
            <a:xfrm>
              <a:off x="2972880" y="3905640"/>
              <a:ext cx="825480" cy="3088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Не подтвержден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" name="CustomShape 38"/>
            <p:cNvSpPr/>
            <p:nvPr/>
          </p:nvSpPr>
          <p:spPr>
            <a:xfrm>
              <a:off x="2021760" y="3905640"/>
              <a:ext cx="825480" cy="3088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Подтвержден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" name="CustomShape 39"/>
            <p:cNvSpPr/>
            <p:nvPr/>
          </p:nvSpPr>
          <p:spPr>
            <a:xfrm rot="16200000" flipH="1">
              <a:off x="3048840" y="3568320"/>
              <a:ext cx="194040" cy="47736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4" name="CustomShape 40"/>
            <p:cNvSpPr/>
            <p:nvPr/>
          </p:nvSpPr>
          <p:spPr>
            <a:xfrm rot="5400000">
              <a:off x="2575080" y="3571920"/>
              <a:ext cx="194040" cy="47088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5" name="CustomShape 41"/>
            <p:cNvSpPr/>
            <p:nvPr/>
          </p:nvSpPr>
          <p:spPr>
            <a:xfrm rot="16200000" flipH="1">
              <a:off x="3299760" y="4299480"/>
              <a:ext cx="167040" cy="36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-44280" rIns="90000" bIns="-4428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6" name="CustomShape 42"/>
            <p:cNvSpPr/>
            <p:nvPr/>
          </p:nvSpPr>
          <p:spPr>
            <a:xfrm rot="16200000" flipH="1">
              <a:off x="2348640" y="4299480"/>
              <a:ext cx="167040" cy="36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-44280" rIns="90000" bIns="-4428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7" name="CustomShape 43"/>
            <p:cNvSpPr/>
            <p:nvPr/>
          </p:nvSpPr>
          <p:spPr>
            <a:xfrm>
              <a:off x="2972880" y="4384800"/>
              <a:ext cx="825480" cy="3088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Надежда, страх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" name="CustomShape 44"/>
            <p:cNvSpPr/>
            <p:nvPr/>
          </p:nvSpPr>
          <p:spPr>
            <a:xfrm>
              <a:off x="2021760" y="4384800"/>
              <a:ext cx="825480" cy="3088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Удовлетворение, разочарование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" name="CustomShape 45"/>
            <p:cNvSpPr/>
            <p:nvPr/>
          </p:nvSpPr>
          <p:spPr>
            <a:xfrm>
              <a:off x="3163680" y="2145240"/>
              <a:ext cx="1015920" cy="292320"/>
            </a:xfrm>
            <a:prstGeom prst="flowChartTerminator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Нормы, стандарты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" name="CustomShape 46"/>
            <p:cNvSpPr/>
            <p:nvPr/>
          </p:nvSpPr>
          <p:spPr>
            <a:xfrm>
              <a:off x="4495680" y="2144160"/>
              <a:ext cx="1036800" cy="292320"/>
            </a:xfrm>
            <a:prstGeom prst="flowChartPreparation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Ценность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1" name="CustomShape 47"/>
            <p:cNvSpPr/>
            <p:nvPr/>
          </p:nvSpPr>
          <p:spPr>
            <a:xfrm flipV="1">
              <a:off x="4180680" y="2041200"/>
              <a:ext cx="157680" cy="248040"/>
            </a:xfrm>
            <a:prstGeom prst="bentConnector2">
              <a:avLst/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2" name="CustomShape 48"/>
            <p:cNvSpPr/>
            <p:nvPr/>
          </p:nvSpPr>
          <p:spPr>
            <a:xfrm rot="16200000" flipH="1">
              <a:off x="4293360" y="2089080"/>
              <a:ext cx="247320" cy="154080"/>
            </a:xfrm>
            <a:prstGeom prst="bentConnector2">
              <a:avLst/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3" name="CustomShape 49"/>
            <p:cNvSpPr/>
            <p:nvPr/>
          </p:nvSpPr>
          <p:spPr>
            <a:xfrm>
              <a:off x="3517200" y="2536920"/>
              <a:ext cx="1650960" cy="2415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Внимание на 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" name="CustomShape 50"/>
            <p:cNvSpPr/>
            <p:nvPr/>
          </p:nvSpPr>
          <p:spPr>
            <a:xfrm rot="16200000" flipH="1">
              <a:off x="4094280" y="2288160"/>
              <a:ext cx="493200" cy="180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-42840" rIns="90000" bIns="-4284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5" name="CustomShape 51"/>
            <p:cNvSpPr/>
            <p:nvPr/>
          </p:nvSpPr>
          <p:spPr>
            <a:xfrm>
              <a:off x="5128560" y="3381120"/>
              <a:ext cx="1891800" cy="574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prstDash val="dash"/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b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Атрибуция 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" name="CustomShape 52"/>
            <p:cNvSpPr/>
            <p:nvPr/>
          </p:nvSpPr>
          <p:spPr>
            <a:xfrm>
              <a:off x="6133680" y="2958480"/>
              <a:ext cx="825480" cy="3088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Другие агенты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" name="CustomShape 53"/>
            <p:cNvSpPr/>
            <p:nvPr/>
          </p:nvSpPr>
          <p:spPr>
            <a:xfrm>
              <a:off x="5182560" y="2958480"/>
              <a:ext cx="825480" cy="3088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Сам агент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" name="CustomShape 54"/>
            <p:cNvSpPr/>
            <p:nvPr/>
          </p:nvSpPr>
          <p:spPr>
            <a:xfrm>
              <a:off x="5169600" y="2658600"/>
              <a:ext cx="1375920" cy="298440"/>
            </a:xfrm>
            <a:prstGeom prst="bentConnector2">
              <a:avLst/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9" name="CustomShape 55"/>
            <p:cNvSpPr/>
            <p:nvPr/>
          </p:nvSpPr>
          <p:spPr>
            <a:xfrm>
              <a:off x="5169600" y="2658600"/>
              <a:ext cx="424800" cy="298440"/>
            </a:xfrm>
            <a:prstGeom prst="bentConnector2">
              <a:avLst/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0" name="CustomShape 56"/>
            <p:cNvSpPr/>
            <p:nvPr/>
          </p:nvSpPr>
          <p:spPr>
            <a:xfrm rot="16200000" flipH="1">
              <a:off x="6460200" y="3352320"/>
              <a:ext cx="167040" cy="36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-44280" rIns="90000" bIns="-4428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1" name="CustomShape 57"/>
            <p:cNvSpPr/>
            <p:nvPr/>
          </p:nvSpPr>
          <p:spPr>
            <a:xfrm rot="16200000" flipH="1">
              <a:off x="5509080" y="3352320"/>
              <a:ext cx="167040" cy="36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-44280" rIns="90000" bIns="-4428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2" name="CustomShape 58"/>
            <p:cNvSpPr/>
            <p:nvPr/>
          </p:nvSpPr>
          <p:spPr>
            <a:xfrm>
              <a:off x="6133680" y="3437640"/>
              <a:ext cx="825480" cy="3088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Восхищение, упрек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" name="CustomShape 59"/>
            <p:cNvSpPr/>
            <p:nvPr/>
          </p:nvSpPr>
          <p:spPr>
            <a:xfrm>
              <a:off x="5182560" y="3437640"/>
              <a:ext cx="825480" cy="3088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Гордость, стыд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" name="CustomShape 60"/>
            <p:cNvSpPr/>
            <p:nvPr/>
          </p:nvSpPr>
          <p:spPr>
            <a:xfrm>
              <a:off x="4115880" y="3900240"/>
              <a:ext cx="825480" cy="3088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Радость, горе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" name="CustomShape 61"/>
            <p:cNvSpPr/>
            <p:nvPr/>
          </p:nvSpPr>
          <p:spPr>
            <a:xfrm rot="16200000" flipH="1">
              <a:off x="4101840" y="3473280"/>
              <a:ext cx="188640" cy="66276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6" name="CustomShape 62"/>
            <p:cNvSpPr/>
            <p:nvPr/>
          </p:nvSpPr>
          <p:spPr>
            <a:xfrm>
              <a:off x="4044240" y="4535640"/>
              <a:ext cx="1891800" cy="574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prstDash val="dash"/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b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Благополучие / Атрибуция 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" name="CustomShape 63"/>
            <p:cNvSpPr/>
            <p:nvPr/>
          </p:nvSpPr>
          <p:spPr>
            <a:xfrm rot="5400000">
              <a:off x="5459400" y="3974760"/>
              <a:ext cx="633600" cy="59832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8" name="CustomShape 64"/>
            <p:cNvSpPr/>
            <p:nvPr/>
          </p:nvSpPr>
          <p:spPr>
            <a:xfrm rot="16200000" flipH="1">
              <a:off x="4441320" y="4510440"/>
              <a:ext cx="159840" cy="36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-44280" rIns="90000" bIns="-4428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9" name="CustomShape 65"/>
            <p:cNvSpPr/>
            <p:nvPr/>
          </p:nvSpPr>
          <p:spPr>
            <a:xfrm>
              <a:off x="5061960" y="4592160"/>
              <a:ext cx="825480" cy="3088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Благодарность, гнев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" name="CustomShape 66"/>
            <p:cNvSpPr/>
            <p:nvPr/>
          </p:nvSpPr>
          <p:spPr>
            <a:xfrm>
              <a:off x="4110840" y="4592160"/>
              <a:ext cx="825480" cy="3088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Наслаждение, раскаяние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" name="CustomShape 67"/>
            <p:cNvSpPr/>
            <p:nvPr/>
          </p:nvSpPr>
          <p:spPr>
            <a:xfrm>
              <a:off x="5647680" y="2131200"/>
              <a:ext cx="1015920" cy="292320"/>
            </a:xfrm>
            <a:prstGeom prst="flowChartTerminator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Отношение к объекту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" name="CustomShape 68"/>
            <p:cNvSpPr/>
            <p:nvPr/>
          </p:nvSpPr>
          <p:spPr>
            <a:xfrm>
              <a:off x="6822360" y="2129400"/>
              <a:ext cx="1075320" cy="292320"/>
            </a:xfrm>
            <a:prstGeom prst="flowChartPreparation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Установка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" name="CustomShape 69"/>
            <p:cNvSpPr/>
            <p:nvPr/>
          </p:nvSpPr>
          <p:spPr>
            <a:xfrm flipV="1">
              <a:off x="6665040" y="2045880"/>
              <a:ext cx="100440" cy="229320"/>
            </a:xfrm>
            <a:prstGeom prst="bentConnector2">
              <a:avLst/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4" name="CustomShape 70"/>
            <p:cNvSpPr/>
            <p:nvPr/>
          </p:nvSpPr>
          <p:spPr>
            <a:xfrm rot="16200000" flipH="1">
              <a:off x="6679800" y="2133720"/>
              <a:ext cx="227520" cy="54360"/>
            </a:xfrm>
            <a:prstGeom prst="bentConnector2">
              <a:avLst/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9720" rIns="90000" bIns="972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5" name="CustomShape 71"/>
            <p:cNvSpPr/>
            <p:nvPr/>
          </p:nvSpPr>
          <p:spPr>
            <a:xfrm>
              <a:off x="7148160" y="2576160"/>
              <a:ext cx="945000" cy="574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prstDash val="dash"/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b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Привлекательность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" name="CustomShape 72"/>
            <p:cNvSpPr/>
            <p:nvPr/>
          </p:nvSpPr>
          <p:spPr>
            <a:xfrm>
              <a:off x="7213320" y="2621520"/>
              <a:ext cx="825480" cy="3088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Симпатия, неприязнь 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" name="CustomShape 73"/>
            <p:cNvSpPr/>
            <p:nvPr/>
          </p:nvSpPr>
          <p:spPr>
            <a:xfrm rot="16200000" flipH="1">
              <a:off x="6909480" y="1904400"/>
              <a:ext cx="573120" cy="858600"/>
            </a:xfrm>
            <a:prstGeom prst="bentConnector3">
              <a:avLst>
                <a:gd name="adj1" fmla="val 79561"/>
              </a:avLst>
            </a:prstGeom>
            <a:noFill/>
            <a:ln>
              <a:solidFill>
                <a:srgbClr val="000000"/>
              </a:solidFill>
              <a:round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8" name="CustomShape 74"/>
            <p:cNvSpPr/>
            <p:nvPr/>
          </p:nvSpPr>
          <p:spPr>
            <a:xfrm>
              <a:off x="7956360" y="3299400"/>
              <a:ext cx="945000" cy="574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00"/>
              </a:solidFill>
              <a:prstDash val="dash"/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" name="CustomShape 75"/>
            <p:cNvSpPr/>
            <p:nvPr/>
          </p:nvSpPr>
          <p:spPr>
            <a:xfrm>
              <a:off x="8021520" y="3345120"/>
              <a:ext cx="825480" cy="3088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0" name="CustomShape 76"/>
            <p:cNvSpPr/>
            <p:nvPr/>
          </p:nvSpPr>
          <p:spPr>
            <a:xfrm>
              <a:off x="7790760" y="3827160"/>
              <a:ext cx="1288440" cy="21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000" tIns="45000" rIns="36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Эмоциональное состояние</a:t>
              </a:r>
              <a:endParaRPr lang="ru-RU" sz="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1" name="CustomShape 77"/>
            <p:cNvSpPr/>
            <p:nvPr/>
          </p:nvSpPr>
          <p:spPr>
            <a:xfrm>
              <a:off x="7916040" y="4101480"/>
              <a:ext cx="1036800" cy="292320"/>
            </a:xfrm>
            <a:prstGeom prst="flowChartPreparation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" name="CustomShape 78"/>
            <p:cNvSpPr/>
            <p:nvPr/>
          </p:nvSpPr>
          <p:spPr>
            <a:xfrm>
              <a:off x="7921080" y="4644000"/>
              <a:ext cx="1015920" cy="292320"/>
            </a:xfrm>
            <a:prstGeom prst="flowChartTerminator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Отношение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" name="CustomShape 79"/>
            <p:cNvSpPr/>
            <p:nvPr/>
          </p:nvSpPr>
          <p:spPr>
            <a:xfrm>
              <a:off x="8059320" y="4365720"/>
              <a:ext cx="723960" cy="21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Переменная</a:t>
              </a:r>
              <a:endParaRPr lang="ru-RU" sz="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4" name="CustomShape 80"/>
            <p:cNvSpPr/>
            <p:nvPr/>
          </p:nvSpPr>
          <p:spPr>
            <a:xfrm>
              <a:off x="8161920" y="4902480"/>
              <a:ext cx="492480" cy="21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Знание</a:t>
              </a:r>
              <a:endParaRPr lang="ru-RU" sz="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OCC (Ortony, Clore, Collins)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9891817B-28F4-4E30-959D-F31B345A31E0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9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600" b="1" strike="noStrike" spc="-1">
                <a:solidFill>
                  <a:srgbClr val="0230AC"/>
                </a:solidFill>
                <a:latin typeface="Calibri"/>
                <a:ea typeface="DejaVu Sans"/>
              </a:rPr>
              <a:t>Простейшие эмоции                                                     Группа «Удача другого»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8" name="Рисунок 211"/>
          <p:cNvPicPr/>
          <p:nvPr/>
        </p:nvPicPr>
        <p:blipFill>
          <a:blip r:embed="rId3"/>
          <a:stretch/>
        </p:blipFill>
        <p:spPr>
          <a:xfrm>
            <a:off x="158400" y="1368000"/>
            <a:ext cx="2145240" cy="1011600"/>
          </a:xfrm>
          <a:prstGeom prst="rect">
            <a:avLst/>
          </a:prstGeom>
          <a:ln w="0">
            <a:noFill/>
          </a:ln>
        </p:spPr>
      </p:pic>
      <p:pic>
        <p:nvPicPr>
          <p:cNvPr id="229" name="Рисунок 212"/>
          <p:cNvPicPr/>
          <p:nvPr/>
        </p:nvPicPr>
        <p:blipFill>
          <a:blip r:embed="rId4"/>
          <a:stretch/>
        </p:blipFill>
        <p:spPr>
          <a:xfrm>
            <a:off x="2860200" y="1368000"/>
            <a:ext cx="5632560" cy="1583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OCC (Ortony, Clore, Collins)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C181EDEF-C00E-40DE-B8EE-40CB7EAF55DA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10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600" b="1" strike="noStrike" spc="-1">
                <a:solidFill>
                  <a:srgbClr val="0230AC"/>
                </a:solidFill>
                <a:latin typeface="Calibri"/>
                <a:ea typeface="DejaVu Sans"/>
              </a:rPr>
              <a:t>Группа «Предположение — подтверждение»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3" name="Рисунок 216"/>
          <p:cNvPicPr/>
          <p:nvPr/>
        </p:nvPicPr>
        <p:blipFill>
          <a:blip r:embed="rId3"/>
          <a:stretch/>
        </p:blipFill>
        <p:spPr>
          <a:xfrm>
            <a:off x="1007280" y="1440000"/>
            <a:ext cx="6329160" cy="2231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OCC (Ortony, Clore, Collins)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0B2E6265-9185-4A26-B12C-486E9D53D240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11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600" b="1" strike="noStrike" spc="-1">
                <a:solidFill>
                  <a:srgbClr val="0230AC"/>
                </a:solidFill>
                <a:latin typeface="Calibri"/>
                <a:ea typeface="DejaVu Sans"/>
              </a:rPr>
              <a:t>Группа «Оценка действий»                                                    Группа «Оценка объекта»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1" strike="noStrike" spc="-1">
                <a:solidFill>
                  <a:srgbClr val="0230AC"/>
                </a:solidFill>
                <a:latin typeface="Calibri"/>
                <a:ea typeface="DejaVu Sans"/>
              </a:rPr>
              <a:t>                                                                       Сложные эмоции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7" name="Рисунок 220"/>
          <p:cNvPicPr/>
          <p:nvPr/>
        </p:nvPicPr>
        <p:blipFill>
          <a:blip r:embed="rId2"/>
          <a:stretch/>
        </p:blipFill>
        <p:spPr>
          <a:xfrm>
            <a:off x="235080" y="1296000"/>
            <a:ext cx="3842640" cy="1583640"/>
          </a:xfrm>
          <a:prstGeom prst="rect">
            <a:avLst/>
          </a:prstGeom>
          <a:ln w="0">
            <a:noFill/>
          </a:ln>
        </p:spPr>
      </p:pic>
      <p:pic>
        <p:nvPicPr>
          <p:cNvPr id="238" name="Рисунок 221"/>
          <p:cNvPicPr/>
          <p:nvPr/>
        </p:nvPicPr>
        <p:blipFill>
          <a:blip r:embed="rId3"/>
          <a:stretch/>
        </p:blipFill>
        <p:spPr>
          <a:xfrm>
            <a:off x="4652280" y="1440000"/>
            <a:ext cx="3367080" cy="995040"/>
          </a:xfrm>
          <a:prstGeom prst="rect">
            <a:avLst/>
          </a:prstGeom>
          <a:ln w="0">
            <a:noFill/>
          </a:ln>
        </p:spPr>
      </p:pic>
      <p:pic>
        <p:nvPicPr>
          <p:cNvPr id="239" name="Рисунок 222"/>
          <p:cNvPicPr/>
          <p:nvPr/>
        </p:nvPicPr>
        <p:blipFill>
          <a:blip r:embed="rId4"/>
          <a:stretch/>
        </p:blipFill>
        <p:spPr>
          <a:xfrm>
            <a:off x="2897640" y="3386160"/>
            <a:ext cx="2790000" cy="1437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OCC (Ortony, Clore, Collins)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AC0FE27C-3448-431A-9C44-3FB6BDDC156D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12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230AC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Использование модели ООС для описания ИС затруднено отсутствием математического аппарата.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230AC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Microsoft YaHei"/>
              </a:rPr>
              <a:t>Внутренние события (физиологические потребности, память на предыдущие раздражители) не учитываются.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230AC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Эмоция не является изолированным явлением, оказывает воздействие не только на носителя, но и на коллектив.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230AC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Нерешенным вопросом является обоснование  выбора элементарных эмоций.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Модель EMA (Дж. Градч)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3B567E35-C0A9-4826-B8D3-F84A93BF5ECD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13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Названа в честь книги Richard Lazarus «Emotion and Adaptation»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Основана на модели ООС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Для описания эмоций используется несколько переменных: 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полезность </a:t>
            </a:r>
            <a:r>
              <a:rPr lang="en-US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(U)</a:t>
            </a: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, желательность (D), вероятность события (p) и др.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Модель EMA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9DF4B8BA-7530-47C0-9043-2721C4BB3CB6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14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Параметры оценки</a:t>
            </a: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9" name="Рисунок 1"/>
          <p:cNvPicPr/>
          <p:nvPr/>
        </p:nvPicPr>
        <p:blipFill>
          <a:blip r:embed="rId3"/>
          <a:stretch/>
        </p:blipFill>
        <p:spPr>
          <a:xfrm>
            <a:off x="816840" y="1223640"/>
            <a:ext cx="7880400" cy="38386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Модель EMA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7D5C3C7D-2D3F-4FE6-8D55-ED78FFA81688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15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Эмоции и интенсивность</a:t>
            </a: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3" name="Рисунок 2"/>
          <p:cNvPicPr/>
          <p:nvPr/>
        </p:nvPicPr>
        <p:blipFill>
          <a:blip r:embed="rId3"/>
          <a:stretch/>
        </p:blipFill>
        <p:spPr>
          <a:xfrm>
            <a:off x="173160" y="1413720"/>
            <a:ext cx="8620560" cy="1517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Модель EMA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BF8AD0D6-64AC-4639-9D1A-D9877F415498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16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Вводит временную зависимость эмоций, т.е. эмоция зависит от предыдущих состояний агента и возможных последующих, что предполагает использование агентом тактик, построение моделей поведения.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1" strike="noStrike" spc="-1">
                <a:solidFill>
                  <a:srgbClr val="0230AC"/>
                </a:solidFill>
                <a:latin typeface="Calibri"/>
                <a:ea typeface="DejaVu Sans"/>
              </a:rPr>
              <a:t>Недостатки: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Не раскрыта логическая связь эмоций с состоянием агента.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Не рассмотрен вопрос построения модели поведения агента. 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1" strike="noStrike" spc="-1">
                <a:solidFill>
                  <a:srgbClr val="0230AC"/>
                </a:solidFill>
                <a:latin typeface="Calibri"/>
                <a:ea typeface="DejaVu Sans"/>
              </a:rPr>
              <a:t>KARO</a:t>
            </a: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 («Knowledge, Actions, Results and Oppotunities» = «Знание, действия, результат и возможности») является формализацией OOC и EMA на основе формальной логики.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Модель CogAff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400" b="1" strike="noStrike" spc="-1">
                <a:solidFill>
                  <a:srgbClr val="0230AC"/>
                </a:solidFill>
                <a:latin typeface="Calibri"/>
                <a:ea typeface="DejaVu Sans"/>
              </a:rPr>
              <a:t>(Познавательный и эмоциональный)</a:t>
            </a:r>
            <a:endParaRPr lang="ru-RU" sz="2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EE9EFDE3-E0D2-42D6-8353-28C99B55EB08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17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Описывает общую архитектуру управления действием агента с учетом логической и эмоциональной составляющей.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Поведение делится на две составляющие: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Поведение в знакомой агенту ситуации — работает уровень рассуждений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Поведение в незнакомой ситуации — активизируется уровень эмоций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Функции эмоций сведены к быстрой интегральной оценке состояний окружающей среды и генерации поведения в незнакомой ситуации.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Модель CogAff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82280E0E-963C-4181-AA52-742A0E7B2829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18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1" strike="noStrike" spc="-1">
                <a:solidFill>
                  <a:srgbClr val="0230AC"/>
                </a:solidFill>
                <a:latin typeface="Calibri"/>
                <a:ea typeface="DejaVu Sans"/>
              </a:rPr>
              <a:t>Недостатки: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Использование эмоций в исключительных ситуациях.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Эмоциональная реакция осуществляется моментально и не зависит от предыдущих состояний агента.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Не раскрыт вопрос о накоплении опыта эмоционального реагирования и передаче и изменения его в поколениях. 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Позволяет использовать ограниченное число эмоциональных состояний (страх, интерес.)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Affective Computing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73A9249A-CEAD-4174-A9B3-6180807BBE03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19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Распознавание эмоций человека роботом по выражению лица и характерному поведению.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Эмоции или аффекты у пользователей рассматриваются как опознаваемые состояния или, по крайней мере, идентифицируемые процессы.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Декларирует возможность внешнего выражения эмоций роботом.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Переход из одного эмоционального состояния в другое описывается с помощью цепей Маркова.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Марковский процесс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7DCFCF6C-4C98-45CB-8C3B-18DE32DE46A8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20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8" name="Рисунок 244"/>
          <p:cNvPicPr/>
          <p:nvPr/>
        </p:nvPicPr>
        <p:blipFill>
          <a:blip r:embed="rId2"/>
          <a:stretch/>
        </p:blipFill>
        <p:spPr>
          <a:xfrm>
            <a:off x="1523880" y="1079640"/>
            <a:ext cx="6094800" cy="1472040"/>
          </a:xfrm>
          <a:prstGeom prst="rect">
            <a:avLst/>
          </a:prstGeom>
          <a:ln w="0">
            <a:noFill/>
          </a:ln>
        </p:spPr>
      </p:pic>
      <p:pic>
        <p:nvPicPr>
          <p:cNvPr id="269" name="Рисунок 245"/>
          <p:cNvPicPr/>
          <p:nvPr/>
        </p:nvPicPr>
        <p:blipFill>
          <a:blip r:embed="rId3"/>
          <a:stretch/>
        </p:blipFill>
        <p:spPr>
          <a:xfrm>
            <a:off x="1739880" y="3263760"/>
            <a:ext cx="5650560" cy="13705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Аффективное обучение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0F997F52-5EBE-4F75-98EE-D2ABE4FDDAA9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21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Идея состоит в том, чтобы создать «обучающего компаньона», отслеживающего, в каком эмоциональном состоянии находится ученик, и в соответствии с этим принимающим решение, какая помощь нужна обучающемуся.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0" i="1" strike="noStrike" spc="-1">
                <a:solidFill>
                  <a:srgbClr val="0230AC"/>
                </a:solidFill>
                <a:latin typeface="Calibri"/>
                <a:ea typeface="DejaVu Sans"/>
              </a:rPr>
              <a:t>Круговая модель аффектов согласно Расселу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3" name="Рисунок 1"/>
          <p:cNvPicPr/>
          <p:nvPr/>
        </p:nvPicPr>
        <p:blipFill>
          <a:blip r:embed="rId3"/>
          <a:stretch/>
        </p:blipFill>
        <p:spPr>
          <a:xfrm>
            <a:off x="4578120" y="1890360"/>
            <a:ext cx="4029480" cy="3355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Модель Фоминых-Леонтьева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E008AE8B-7B46-4B2B-B4E5-22FA44166D64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22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Эмоция определяется как числовая функция, имеющая смысл силы эмоций, от некоторого набора параметров , описывающих ситуацию.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Для каждого вида эмоций описан свой набор параметров.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Для каждого агента (человека, животного, робота) и для каждой эмоции возможна своя функция, определяющая силу эмоции в зависимости от величины аргументов. 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Модель Фоминых-Леонтьева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5C739F01-B41F-4A64-83B4-D937385D42DF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23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Отличие от модели ООС заключается в выборе параметров и наборе параметров, соответствующих каждой эмоции.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Основным параметром является кол-во полученного (потерянного) ресурса R или уровень достижений.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Если ситуация описывается только данным параметром, т. е. E = F(R), то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при R &gt; 0 возникает эмоция радости,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при R &lt; 0 возникает горе.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При этом считается, что ситуация уже завершилась и величина R точно известна.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Эмоции, возникающие после завершения ситуации, называются </a:t>
            </a:r>
            <a:r>
              <a:rPr lang="ru-RU" sz="2000" b="0" i="1" strike="noStrike" spc="-1">
                <a:solidFill>
                  <a:srgbClr val="0230AC"/>
                </a:solidFill>
                <a:latin typeface="Calibri"/>
                <a:ea typeface="DejaVu Sans"/>
              </a:rPr>
              <a:t>констатирующими.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Модель Фоминых-Леонтьева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90A2E6C4-93A7-4DE6-9178-B2360F625D0E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24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Если ситуация еще не завершилась, то в модели может быть сфомирована оценка или прогноз величины R — PR. 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Параметр PR формирует предшествующие эмоции: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PR &gt; 0 — надежда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PR &lt; 0 - страх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Для надежды и страха E = F(PR).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Модель Фоминых-Леонтьева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92FBE4EC-914E-4E1B-9D77-47BA94316D30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25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Если рассмотреть параметр как функцию времени R(t),например, банковский счет, то прогноз можно делать с помощью производной dR(t)/dt: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R(t) &gt; 0 — радость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R(t) &lt; 0 — горе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dR(t)/dt &gt; 0 — надежда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dR(t)/dt &lt; 0 — страх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Модель Фоминых-Леонтьева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85C81A87-6E88-4250-9019-A82B689BC1BE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26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Авторами построены разложения еще нескольких десятков эмоций в виде выпуклой комбинации восьми базовых эмоций. Например,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Вина = a*горе + b* удовлетворение,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где a и b положительные коэффициенты, a + b = 1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На основе анализа мимических выражений эмоций были получены значения a = 0.7, b = 0.3.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Эмоции, возникающие на основе личных потребностей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B4D6C39E-B19E-4696-B5C1-58AD4B4ABECC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27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Графическое представление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2" name="Рисунок 1"/>
          <p:cNvPicPr/>
          <p:nvPr/>
        </p:nvPicPr>
        <p:blipFill>
          <a:blip r:embed="rId3"/>
          <a:stretch/>
        </p:blipFill>
        <p:spPr>
          <a:xfrm>
            <a:off x="2856960" y="1729800"/>
            <a:ext cx="4178880" cy="3146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Модель Фоминых-Леонтьева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883DE6D2-9A2A-4A5F-9985-1E0A2C75170D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28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CustomShape 3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1" strike="noStrike" spc="-1">
                <a:solidFill>
                  <a:srgbClr val="0230AC"/>
                </a:solidFill>
                <a:latin typeface="Calibri"/>
                <a:ea typeface="DejaVu Sans"/>
              </a:rPr>
              <a:t>Недостатки: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Нет объяснения зависимости силы (интенсивности) эмоции от времени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Не раскрыт вопрос о роли потребности в эмоции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20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Не раскрыт вопрос о влияние эмоций на состояние агента</a:t>
            </a: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оценки (theory of appraisal)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DC4E71E4-B75E-442C-82C1-3C670620E295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29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CustomShape 3"/>
          <p:cNvSpPr/>
          <p:nvPr/>
        </p:nvSpPr>
        <p:spPr>
          <a:xfrm>
            <a:off x="243360" y="851400"/>
            <a:ext cx="8480160" cy="60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В теории оценивания эмоции возникают вследствие оценивания событий. Учитывает четыре основных переменные: релевантность, вовлеченность, управляемость, значимость.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99" name="Group 4"/>
          <p:cNvGrpSpPr/>
          <p:nvPr/>
        </p:nvGrpSpPr>
        <p:grpSpPr>
          <a:xfrm>
            <a:off x="632880" y="1375200"/>
            <a:ext cx="7294320" cy="3672720"/>
            <a:chOff x="632880" y="1375200"/>
            <a:chExt cx="7294320" cy="3672720"/>
          </a:xfrm>
        </p:grpSpPr>
        <p:sp>
          <p:nvSpPr>
            <p:cNvPr id="300" name="CustomShape 5"/>
            <p:cNvSpPr/>
            <p:nvPr/>
          </p:nvSpPr>
          <p:spPr>
            <a:xfrm>
              <a:off x="1950120" y="1626480"/>
              <a:ext cx="5977080" cy="2918160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 w="12600">
              <a:solidFill>
                <a:srgbClr val="000000"/>
              </a:solidFill>
              <a:prstDash val="sysDash"/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1" name="CustomShape 6"/>
            <p:cNvSpPr/>
            <p:nvPr/>
          </p:nvSpPr>
          <p:spPr>
            <a:xfrm>
              <a:off x="632880" y="1737360"/>
              <a:ext cx="1167840" cy="299160"/>
            </a:xfrm>
            <a:prstGeom prst="flowChartTerminator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prstDash val="sysDash"/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Событие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2" name="CustomShape 7"/>
            <p:cNvSpPr/>
            <p:nvPr/>
          </p:nvSpPr>
          <p:spPr>
            <a:xfrm>
              <a:off x="2098080" y="1667520"/>
              <a:ext cx="1167840" cy="437400"/>
            </a:xfrm>
            <a:prstGeom prst="flowChartTerminator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1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Релевантность</a:t>
              </a: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: это новое и важное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3" name="CustomShape 8"/>
            <p:cNvSpPr/>
            <p:nvPr/>
          </p:nvSpPr>
          <p:spPr>
            <a:xfrm>
              <a:off x="2098080" y="2331720"/>
              <a:ext cx="1167840" cy="338040"/>
            </a:xfrm>
            <a:prstGeom prst="flowChartProcess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Оценка новизны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4" name="CustomShape 9"/>
            <p:cNvSpPr/>
            <p:nvPr/>
          </p:nvSpPr>
          <p:spPr>
            <a:xfrm>
              <a:off x="2098080" y="2764800"/>
              <a:ext cx="1167840" cy="338040"/>
            </a:xfrm>
            <a:prstGeom prst="flowChartProcess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Внутренняя приемлемость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5" name="CustomShape 10"/>
            <p:cNvSpPr/>
            <p:nvPr/>
          </p:nvSpPr>
          <p:spPr>
            <a:xfrm>
              <a:off x="2098080" y="3198240"/>
              <a:ext cx="1167840" cy="338040"/>
            </a:xfrm>
            <a:prstGeom prst="flowChartProcess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Соответствие целям и потребностям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6" name="CustomShape 11"/>
            <p:cNvSpPr/>
            <p:nvPr/>
          </p:nvSpPr>
          <p:spPr>
            <a:xfrm>
              <a:off x="3608280" y="1667520"/>
              <a:ext cx="1167840" cy="437400"/>
            </a:xfrm>
            <a:prstGeom prst="flowChartTerminator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36000" tIns="45000" rIns="36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1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Вовлеченность</a:t>
              </a: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: это будет препятствовать моим целям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7" name="CustomShape 12"/>
            <p:cNvSpPr/>
            <p:nvPr/>
          </p:nvSpPr>
          <p:spPr>
            <a:xfrm>
              <a:off x="3608280" y="2331720"/>
              <a:ext cx="1167840" cy="338040"/>
            </a:xfrm>
            <a:prstGeom prst="flowChartProcess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Причинность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8" name="CustomShape 13"/>
            <p:cNvSpPr/>
            <p:nvPr/>
          </p:nvSpPr>
          <p:spPr>
            <a:xfrm>
              <a:off x="3608280" y="2771640"/>
              <a:ext cx="1167840" cy="338040"/>
            </a:xfrm>
            <a:prstGeom prst="flowChartProcess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Вероятность события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9" name="CustomShape 14"/>
            <p:cNvSpPr/>
            <p:nvPr/>
          </p:nvSpPr>
          <p:spPr>
            <a:xfrm>
              <a:off x="3608280" y="3217680"/>
              <a:ext cx="1167840" cy="338040"/>
            </a:xfrm>
            <a:prstGeom prst="flowChartProcess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Несоответствие ожиданиям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0" name="CustomShape 15"/>
            <p:cNvSpPr/>
            <p:nvPr/>
          </p:nvSpPr>
          <p:spPr>
            <a:xfrm>
              <a:off x="3608280" y="3670560"/>
              <a:ext cx="1167840" cy="338040"/>
            </a:xfrm>
            <a:prstGeom prst="flowChartProcess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Целесообразность 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1" name="CustomShape 16"/>
            <p:cNvSpPr/>
            <p:nvPr/>
          </p:nvSpPr>
          <p:spPr>
            <a:xfrm>
              <a:off x="3608280" y="4123440"/>
              <a:ext cx="1167840" cy="338040"/>
            </a:xfrm>
            <a:prstGeom prst="flowChartProcess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Срочность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2" name="CustomShape 17"/>
            <p:cNvSpPr/>
            <p:nvPr/>
          </p:nvSpPr>
          <p:spPr>
            <a:xfrm>
              <a:off x="1950120" y="4709880"/>
              <a:ext cx="5970600" cy="338040"/>
            </a:xfrm>
            <a:prstGeom prst="flowChartProcess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Субъективный опыт, экспрессивность, психобиологическая, нейронная и эндокринная системы, когнитивная подготовка действий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3" name="CustomShape 18"/>
            <p:cNvSpPr/>
            <p:nvPr/>
          </p:nvSpPr>
          <p:spPr>
            <a:xfrm>
              <a:off x="5112720" y="1667520"/>
              <a:ext cx="1167840" cy="437400"/>
            </a:xfrm>
            <a:prstGeom prst="flowChartTerminator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1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Управляемость</a:t>
              </a: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: могу справиться с этим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4" name="CustomShape 19"/>
            <p:cNvSpPr/>
            <p:nvPr/>
          </p:nvSpPr>
          <p:spPr>
            <a:xfrm>
              <a:off x="5112720" y="2333880"/>
              <a:ext cx="1167840" cy="338040"/>
            </a:xfrm>
            <a:prstGeom prst="flowChartProcess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Управление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5" name="CustomShape 20"/>
            <p:cNvSpPr/>
            <p:nvPr/>
          </p:nvSpPr>
          <p:spPr>
            <a:xfrm>
              <a:off x="5112720" y="2773800"/>
              <a:ext cx="1167840" cy="338040"/>
            </a:xfrm>
            <a:prstGeom prst="flowChartProcess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Энергия 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6" name="CustomShape 21"/>
            <p:cNvSpPr/>
            <p:nvPr/>
          </p:nvSpPr>
          <p:spPr>
            <a:xfrm>
              <a:off x="5112720" y="3219840"/>
              <a:ext cx="1167840" cy="338040"/>
            </a:xfrm>
            <a:prstGeom prst="flowChartProcess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Потенциал адаптации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7" name="CustomShape 22"/>
            <p:cNvSpPr/>
            <p:nvPr/>
          </p:nvSpPr>
          <p:spPr>
            <a:xfrm>
              <a:off x="6617160" y="1667520"/>
              <a:ext cx="1167840" cy="437400"/>
            </a:xfrm>
            <a:prstGeom prst="flowChartTerminator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1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Значимость</a:t>
              </a: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: это несправедливо и аморально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8" name="CustomShape 23"/>
            <p:cNvSpPr/>
            <p:nvPr/>
          </p:nvSpPr>
          <p:spPr>
            <a:xfrm>
              <a:off x="6617160" y="2323080"/>
              <a:ext cx="1167840" cy="338040"/>
            </a:xfrm>
            <a:prstGeom prst="flowChartProcess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Соответствие внутренним нормам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9" name="CustomShape 24"/>
            <p:cNvSpPr/>
            <p:nvPr/>
          </p:nvSpPr>
          <p:spPr>
            <a:xfrm>
              <a:off x="6617160" y="2762640"/>
              <a:ext cx="1167840" cy="338040"/>
            </a:xfrm>
            <a:prstGeom prst="flowChartProcess">
              <a:avLst/>
            </a:prstGeom>
            <a:solidFill>
              <a:srgbClr val="FFFFFF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Соответствие внешним нормам</a:t>
              </a:r>
              <a:endParaRPr lang="ru-RU" sz="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0" name="CustomShape 25"/>
            <p:cNvSpPr/>
            <p:nvPr/>
          </p:nvSpPr>
          <p:spPr>
            <a:xfrm>
              <a:off x="2455560" y="1375200"/>
              <a:ext cx="452880" cy="21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Этап 1</a:t>
              </a:r>
              <a:endParaRPr lang="ru-RU" sz="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1" name="CustomShape 26"/>
            <p:cNvSpPr/>
            <p:nvPr/>
          </p:nvSpPr>
          <p:spPr>
            <a:xfrm>
              <a:off x="3965760" y="1375920"/>
              <a:ext cx="452880" cy="21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Этап 2</a:t>
              </a:r>
              <a:endParaRPr lang="ru-RU" sz="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2" name="CustomShape 27"/>
            <p:cNvSpPr/>
            <p:nvPr/>
          </p:nvSpPr>
          <p:spPr>
            <a:xfrm>
              <a:off x="5470200" y="1382760"/>
              <a:ext cx="452880" cy="21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Этап 3</a:t>
              </a:r>
              <a:endParaRPr lang="ru-RU" sz="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3" name="CustomShape 28"/>
            <p:cNvSpPr/>
            <p:nvPr/>
          </p:nvSpPr>
          <p:spPr>
            <a:xfrm>
              <a:off x="6974640" y="1375200"/>
              <a:ext cx="452880" cy="21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Этап 4</a:t>
              </a:r>
              <a:endParaRPr lang="ru-RU" sz="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CustomShape 29"/>
            <p:cNvSpPr/>
            <p:nvPr/>
          </p:nvSpPr>
          <p:spPr>
            <a:xfrm>
              <a:off x="6380640" y="4330440"/>
              <a:ext cx="1540080" cy="21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ru-RU" sz="800" b="0" strike="noStrike" spc="-1">
                  <a:solidFill>
                    <a:srgbClr val="0230AC"/>
                  </a:solidFill>
                  <a:latin typeface="Calibri"/>
                  <a:ea typeface="DejaVu Sans"/>
                </a:rPr>
                <a:t>Когнитивная оценка</a:t>
              </a:r>
              <a:endParaRPr lang="ru-RU" sz="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5" name="CustomShape 30"/>
            <p:cNvSpPr/>
            <p:nvPr/>
          </p:nvSpPr>
          <p:spPr>
            <a:xfrm>
              <a:off x="2682720" y="2106360"/>
              <a:ext cx="360" cy="2239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23920"/>
                <a:gd name="textAreaBottom" fmla="*/ 224280 h 2239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000000"/>
              </a:solidFill>
              <a:round/>
              <a:tailEnd type="triangle" w="med" len="med"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6" name="CustomShape 31"/>
            <p:cNvSpPr/>
            <p:nvPr/>
          </p:nvSpPr>
          <p:spPr>
            <a:xfrm>
              <a:off x="4192920" y="2106360"/>
              <a:ext cx="360" cy="2239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23920"/>
                <a:gd name="textAreaBottom" fmla="*/ 224280 h 2239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000000"/>
              </a:solidFill>
              <a:round/>
              <a:tailEnd type="triangle" w="med" len="med"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7" name="CustomShape 32"/>
            <p:cNvSpPr/>
            <p:nvPr/>
          </p:nvSpPr>
          <p:spPr>
            <a:xfrm>
              <a:off x="5697360" y="2106360"/>
              <a:ext cx="360" cy="2260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26080"/>
                <a:gd name="textAreaBottom" fmla="*/ 226440 h 22608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000000"/>
              </a:solidFill>
              <a:round/>
              <a:tailEnd type="triangle" w="med" len="med"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8" name="CustomShape 33"/>
            <p:cNvSpPr/>
            <p:nvPr/>
          </p:nvSpPr>
          <p:spPr>
            <a:xfrm>
              <a:off x="7201800" y="2106360"/>
              <a:ext cx="360" cy="2152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15280"/>
                <a:gd name="textAreaBottom" fmla="*/ 215640 h 21528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000000"/>
              </a:solidFill>
              <a:round/>
              <a:tailEnd type="triangle" w="med" len="med"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9" name="CustomShape 34"/>
            <p:cNvSpPr/>
            <p:nvPr/>
          </p:nvSpPr>
          <p:spPr>
            <a:xfrm>
              <a:off x="3267360" y="1886760"/>
              <a:ext cx="339480" cy="360"/>
            </a:xfrm>
            <a:custGeom>
              <a:avLst/>
              <a:gdLst>
                <a:gd name="textAreaLeft" fmla="*/ 0 w 339480"/>
                <a:gd name="textAreaRight" fmla="*/ 339840 w 33948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000000"/>
              </a:solidFill>
              <a:round/>
              <a:tailEnd type="triangle" w="med" len="med"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-44280" rIns="90000" bIns="-4428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0" name="CustomShape 35"/>
            <p:cNvSpPr/>
            <p:nvPr/>
          </p:nvSpPr>
          <p:spPr>
            <a:xfrm flipV="1">
              <a:off x="1802160" y="1883880"/>
              <a:ext cx="294480" cy="360"/>
            </a:xfrm>
            <a:custGeom>
              <a:avLst/>
              <a:gdLst>
                <a:gd name="textAreaLeft" fmla="*/ 0 w 294480"/>
                <a:gd name="textAreaRight" fmla="*/ 294840 w 294480"/>
                <a:gd name="textAreaTop" fmla="*/ -360 h 360"/>
                <a:gd name="textAreaBottom" fmla="*/ 360 h 36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000000"/>
              </a:solidFill>
              <a:round/>
              <a:tailEnd type="triangle" w="med" len="med"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-44280" rIns="90000" bIns="-4428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1" name="CustomShape 36"/>
            <p:cNvSpPr/>
            <p:nvPr/>
          </p:nvSpPr>
          <p:spPr>
            <a:xfrm flipV="1">
              <a:off x="4777560" y="1885320"/>
              <a:ext cx="333720" cy="1440"/>
            </a:xfrm>
            <a:custGeom>
              <a:avLst/>
              <a:gdLst>
                <a:gd name="textAreaLeft" fmla="*/ 0 w 333720"/>
                <a:gd name="textAreaRight" fmla="*/ 334080 w 333720"/>
                <a:gd name="textAreaTop" fmla="*/ 360 h 1440"/>
                <a:gd name="textAreaBottom" fmla="*/ 2160 h 14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000000"/>
              </a:solidFill>
              <a:round/>
              <a:tailEnd type="triangle" w="med" len="med"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-43200" rIns="90000" bIns="-432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2" name="CustomShape 37"/>
            <p:cNvSpPr/>
            <p:nvPr/>
          </p:nvSpPr>
          <p:spPr>
            <a:xfrm>
              <a:off x="6282000" y="1876680"/>
              <a:ext cx="333720" cy="8640"/>
            </a:xfrm>
            <a:custGeom>
              <a:avLst/>
              <a:gdLst>
                <a:gd name="textAreaLeft" fmla="*/ 0 w 333720"/>
                <a:gd name="textAreaRight" fmla="*/ 334080 w 33372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000000"/>
              </a:solidFill>
              <a:round/>
              <a:tailEnd type="triangle" w="med" len="med"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-36000" rIns="90000" bIns="-36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3" name="CustomShape 38"/>
            <p:cNvSpPr/>
            <p:nvPr/>
          </p:nvSpPr>
          <p:spPr>
            <a:xfrm>
              <a:off x="3338280" y="1896120"/>
              <a:ext cx="360" cy="28123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812320"/>
                <a:gd name="textAreaBottom" fmla="*/ 2812680 h 28123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prstDash val="sysDash"/>
              <a:round/>
              <a:tailEnd type="triangle" w="med" len="med"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4" name="CustomShape 39"/>
            <p:cNvSpPr/>
            <p:nvPr/>
          </p:nvSpPr>
          <p:spPr>
            <a:xfrm>
              <a:off x="4842360" y="1896120"/>
              <a:ext cx="360" cy="28123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812320"/>
                <a:gd name="textAreaBottom" fmla="*/ 2812680 h 28123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prstDash val="sysDash"/>
              <a:round/>
              <a:tailEnd type="triangle" w="med" len="med"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5" name="CustomShape 40"/>
            <p:cNvSpPr/>
            <p:nvPr/>
          </p:nvSpPr>
          <p:spPr>
            <a:xfrm>
              <a:off x="6362280" y="1876680"/>
              <a:ext cx="360" cy="28123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812320"/>
                <a:gd name="textAreaBottom" fmla="*/ 2812680 h 28123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prstDash val="sysDash"/>
              <a:round/>
              <a:tailEnd type="triangle" w="med" len="med"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6" name="CustomShape 41"/>
            <p:cNvSpPr/>
            <p:nvPr/>
          </p:nvSpPr>
          <p:spPr>
            <a:xfrm flipV="1">
              <a:off x="6449400" y="1877400"/>
              <a:ext cx="360" cy="2812320"/>
            </a:xfrm>
            <a:custGeom>
              <a:avLst/>
              <a:gdLst>
                <a:gd name="textAreaLeft" fmla="*/ 0 w 360"/>
                <a:gd name="textAreaRight" fmla="*/ 720 w 360"/>
                <a:gd name="textAreaTop" fmla="*/ 360 h 2812320"/>
                <a:gd name="textAreaBottom" fmla="*/ 2813040 h 28123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prstDash val="sysDash"/>
              <a:round/>
              <a:tailEnd type="triangle" w="med" len="med"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CustomShape 42"/>
            <p:cNvSpPr/>
            <p:nvPr/>
          </p:nvSpPr>
          <p:spPr>
            <a:xfrm flipV="1">
              <a:off x="4950720" y="1881720"/>
              <a:ext cx="360" cy="2812320"/>
            </a:xfrm>
            <a:custGeom>
              <a:avLst/>
              <a:gdLst>
                <a:gd name="textAreaLeft" fmla="*/ 0 w 360"/>
                <a:gd name="textAreaRight" fmla="*/ 720 w 360"/>
                <a:gd name="textAreaTop" fmla="*/ 360 h 2812320"/>
                <a:gd name="textAreaBottom" fmla="*/ 2813040 h 28123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prstDash val="sysDash"/>
              <a:round/>
              <a:tailEnd type="triangle" w="med" len="med"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8" name="CustomShape 43"/>
            <p:cNvSpPr/>
            <p:nvPr/>
          </p:nvSpPr>
          <p:spPr>
            <a:xfrm flipV="1">
              <a:off x="3438000" y="1894680"/>
              <a:ext cx="360" cy="2812320"/>
            </a:xfrm>
            <a:custGeom>
              <a:avLst/>
              <a:gdLst>
                <a:gd name="textAreaLeft" fmla="*/ 0 w 360"/>
                <a:gd name="textAreaRight" fmla="*/ 720 w 360"/>
                <a:gd name="textAreaTop" fmla="*/ 360 h 2812320"/>
                <a:gd name="textAreaBottom" fmla="*/ 2813040 h 28123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prstDash val="sysDash"/>
              <a:round/>
              <a:tailEnd type="triangle" w="med" len="med"/>
            </a:ln>
            <a:effectLst>
              <a:outerShdw blurRad="39960" dist="2016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дуальных процессов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0787BD59-38C7-4C69-A127-911C740EBF4D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30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CustomShape 3"/>
          <p:cNvSpPr/>
          <p:nvPr/>
        </p:nvSpPr>
        <p:spPr>
          <a:xfrm>
            <a:off x="243360" y="851400"/>
            <a:ext cx="8480160" cy="81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дуальных процессов говорит о том, что эмоция может возникать как результат двух разных процессов: когнитивной оценки (медленный процесс) и ассоциативной оценки (быстрый процесс). 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CustomShape 4"/>
          <p:cNvSpPr/>
          <p:nvPr/>
        </p:nvSpPr>
        <p:spPr>
          <a:xfrm>
            <a:off x="331200" y="1670040"/>
            <a:ext cx="8480160" cy="285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Основные переменные: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Актуальность: важность произошедшего события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Конгруэнтность: соответствие события желаниям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Личная ответственность: личная ответственность за событие 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Ответственность других: насколько другие участники ответственны за событие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Будущие ожидания: соответствие исхода события желаниям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Проблемно-ориентированная управляемость: степень влияния на событие для получения положительного исхода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Аккомодативно-ориентированная управляемость: степень управления эмоциями во время события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Модель выводимой оценки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374BC3F9-D476-49EC-B799-DFECF3CA7CA2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31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CustomShape 3"/>
          <p:cNvSpPr/>
          <p:nvPr/>
        </p:nvSpPr>
        <p:spPr>
          <a:xfrm>
            <a:off x="243360" y="851400"/>
            <a:ext cx="8480160" cy="180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Основанная на теории OCC, описывает подход к вычислению возможных значений переменных на основе описания произошедшего события, содержащего как описание действий агентов, так и их эмоций.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События описываются фреймами, содержащими информацию о схеме действий, выполняемых в реальной ситуации.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346" name="Table 4"/>
          <p:cNvGraphicFramePr/>
          <p:nvPr/>
        </p:nvGraphicFramePr>
        <p:xfrm>
          <a:off x="693000" y="2544120"/>
          <a:ext cx="7479720" cy="1524600"/>
        </p:xfrm>
        <a:graphic>
          <a:graphicData uri="http://schemas.openxmlformats.org/drawingml/2006/table">
            <a:tbl>
              <a:tblPr/>
              <a:tblGrid>
                <a:gridCol w="747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400" b="1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Прибытие поезда</a:t>
                      </a:r>
                      <a:endParaRPr lang="ru-RU" sz="14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230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0" strike="noStrike" spc="-1">
                          <a:solidFill>
                            <a:srgbClr val="0230AC"/>
                          </a:solidFill>
                          <a:latin typeface="Calibri"/>
                          <a:ea typeface="DejaVu Sans"/>
                        </a:rPr>
                        <a:t>Ожидаемое время прибытия поезда: t0</a:t>
                      </a:r>
                      <a:endParaRPr lang="ru-RU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0" strike="noStrike" spc="-1">
                          <a:solidFill>
                            <a:srgbClr val="0230AC"/>
                          </a:solidFill>
                          <a:latin typeface="Calibri"/>
                          <a:ea typeface="DejaVu Sans"/>
                        </a:rPr>
                        <a:t>Фактическое время прибытия поезда: t1</a:t>
                      </a:r>
                      <a:endParaRPr lang="ru-RU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0" strike="noStrike" spc="-1">
                          <a:solidFill>
                            <a:srgbClr val="0230AC"/>
                          </a:solidFill>
                          <a:latin typeface="Calibri"/>
                          <a:ea typeface="DejaVu Sans"/>
                        </a:rPr>
                        <a:t>Предикат позитивной эмоции: t1 &lt;= t0</a:t>
                      </a:r>
                      <a:endParaRPr lang="ru-RU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CC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0" strike="noStrike" spc="-1">
                          <a:solidFill>
                            <a:srgbClr val="0230AC"/>
                          </a:solidFill>
                          <a:latin typeface="Calibri"/>
                          <a:ea typeface="DejaVu Sans"/>
                        </a:rPr>
                        <a:t>Предикат негативной эмоции: t1 &gt; t0</a:t>
                      </a:r>
                      <a:endParaRPr lang="ru-RU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7" name="CustomShape 5"/>
          <p:cNvSpPr/>
          <p:nvPr/>
        </p:nvSpPr>
        <p:spPr>
          <a:xfrm>
            <a:off x="693000" y="4365360"/>
            <a:ext cx="1465920" cy="61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Событие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CustomShape 6"/>
          <p:cNvSpPr/>
          <p:nvPr/>
        </p:nvSpPr>
        <p:spPr>
          <a:xfrm>
            <a:off x="3646440" y="4365360"/>
            <a:ext cx="1571760" cy="61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Переменные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CustomShape 7"/>
          <p:cNvSpPr/>
          <p:nvPr/>
        </p:nvSpPr>
        <p:spPr>
          <a:xfrm>
            <a:off x="6705720" y="4365360"/>
            <a:ext cx="1465920" cy="61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Эмоции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CustomShape 8"/>
          <p:cNvSpPr/>
          <p:nvPr/>
        </p:nvSpPr>
        <p:spPr>
          <a:xfrm>
            <a:off x="2160720" y="4675320"/>
            <a:ext cx="1484640" cy="360"/>
          </a:xfrm>
          <a:custGeom>
            <a:avLst/>
            <a:gdLst>
              <a:gd name="textAreaLeft" fmla="*/ 0 w 1484640"/>
              <a:gd name="textAreaRight" fmla="*/ 1485000 w 14846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type="triangle" w="med" len="med"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 lIns="90000" tIns="-44280" rIns="90000" bIns="-44280" anchor="t">
            <a:noAutofit/>
          </a:bodyPr>
          <a:lstStyle/>
          <a:p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CustomShape 9"/>
          <p:cNvSpPr/>
          <p:nvPr/>
        </p:nvSpPr>
        <p:spPr>
          <a:xfrm>
            <a:off x="5219640" y="4675320"/>
            <a:ext cx="1484640" cy="360"/>
          </a:xfrm>
          <a:custGeom>
            <a:avLst/>
            <a:gdLst>
              <a:gd name="textAreaLeft" fmla="*/ 0 w 1484640"/>
              <a:gd name="textAreaRight" fmla="*/ 1485000 w 14846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round/>
            <a:tailEnd type="triangle" w="med" len="med"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 lIns="90000" tIns="-44280" rIns="90000" bIns="-44280" anchor="t">
            <a:noAutofit/>
          </a:bodyPr>
          <a:lstStyle/>
          <a:p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CustomShape 10"/>
          <p:cNvSpPr/>
          <p:nvPr/>
        </p:nvSpPr>
        <p:spPr>
          <a:xfrm>
            <a:off x="2438280" y="4334040"/>
            <a:ext cx="82440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230AC"/>
                </a:solidFill>
                <a:latin typeface="Calibri"/>
                <a:ea typeface="DejaVu Sans"/>
              </a:rPr>
              <a:t>Фреймы</a:t>
            </a:r>
            <a:endParaRPr lang="ru-RU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CustomShape 11"/>
          <p:cNvSpPr/>
          <p:nvPr/>
        </p:nvSpPr>
        <p:spPr>
          <a:xfrm>
            <a:off x="5409720" y="4359240"/>
            <a:ext cx="110484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OCC</a:t>
            </a:r>
            <a:endParaRPr lang="ru-RU" sz="1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Правила вывода оценки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5A5FC516-E028-4EF0-B73B-B42361FC9991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32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CustomShape 3"/>
          <p:cNvSpPr/>
          <p:nvPr/>
        </p:nvSpPr>
        <p:spPr>
          <a:xfrm>
            <a:off x="331200" y="851760"/>
            <a:ext cx="8480160" cy="335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Фреймы используются для оценки достижения каждой цели агентов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Для каждой переменной модели должен быть предусмотрен фрейм: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Желание агента: достижение поставленной цели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Желание других: достижение цели других агентов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Удовлетворенность: удовлетворенность влиянием события на других агентов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Статус: факт завершенности события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Ответственность: ответственный за событие агент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Оценивание: виновность ответственного агента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Привлекательность: привлекательность события для агента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Для каждого агента и события эмоция вычисляется на основе паттернов переменных оценки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CustomShape 4"/>
          <p:cNvSpPr/>
          <p:nvPr/>
        </p:nvSpPr>
        <p:spPr>
          <a:xfrm>
            <a:off x="800280" y="4038480"/>
            <a:ext cx="1281240" cy="398520"/>
          </a:xfrm>
          <a:prstGeom prst="flowChartProcess">
            <a:avLst/>
          </a:prstGeom>
          <a:solidFill>
            <a:srgbClr val="FFFFFF"/>
          </a:solidFill>
          <a:ln>
            <a:solidFill>
              <a:srgbClr val="EC0044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Желательность = Истина</a:t>
            </a:r>
            <a:endParaRPr lang="ru-RU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CustomShape 5"/>
          <p:cNvSpPr/>
          <p:nvPr/>
        </p:nvSpPr>
        <p:spPr>
          <a:xfrm>
            <a:off x="2685960" y="4032360"/>
            <a:ext cx="1281240" cy="398520"/>
          </a:xfrm>
          <a:prstGeom prst="flowChartProcess">
            <a:avLst/>
          </a:prstGeom>
          <a:solidFill>
            <a:srgbClr val="FFFFFF"/>
          </a:solidFill>
          <a:ln>
            <a:solidFill>
              <a:srgbClr val="EC0044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Статус = Произошло</a:t>
            </a:r>
            <a:endParaRPr lang="ru-RU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CustomShape 6"/>
          <p:cNvSpPr/>
          <p:nvPr/>
        </p:nvSpPr>
        <p:spPr>
          <a:xfrm>
            <a:off x="1746360" y="4610160"/>
            <a:ext cx="1281240" cy="398520"/>
          </a:xfrm>
          <a:prstGeom prst="flowChartProcess">
            <a:avLst/>
          </a:prstGeom>
          <a:solidFill>
            <a:srgbClr val="FFFFFF"/>
          </a:solidFill>
          <a:ln>
            <a:solidFill>
              <a:srgbClr val="EC5A00"/>
            </a:solidFill>
            <a:rou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Эмоция = Радость</a:t>
            </a:r>
            <a:endParaRPr lang="ru-RU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CustomShape 7"/>
          <p:cNvSpPr/>
          <p:nvPr/>
        </p:nvSpPr>
        <p:spPr>
          <a:xfrm rot="16200000" flipH="1">
            <a:off x="1407960" y="4471920"/>
            <a:ext cx="370080" cy="303480"/>
          </a:xfrm>
          <a:prstGeom prst="bentConnector2">
            <a:avLst/>
          </a:prstGeom>
          <a:noFill/>
          <a:ln>
            <a:solidFill>
              <a:srgbClr val="000000"/>
            </a:solidFill>
            <a:round/>
            <a:tailEnd type="triangle" w="med" len="med"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CustomShape 8"/>
          <p:cNvSpPr/>
          <p:nvPr/>
        </p:nvSpPr>
        <p:spPr>
          <a:xfrm rot="5400000">
            <a:off x="2990520" y="4471920"/>
            <a:ext cx="376560" cy="297000"/>
          </a:xfrm>
          <a:prstGeom prst="bentConnector2">
            <a:avLst/>
          </a:prstGeom>
          <a:noFill/>
          <a:ln>
            <a:solidFill>
              <a:srgbClr val="000000"/>
            </a:solidFill>
            <a:round/>
            <a:tailEnd type="triangle" w="med" len="med"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CustomShape 9"/>
          <p:cNvSpPr/>
          <p:nvPr/>
        </p:nvSpPr>
        <p:spPr>
          <a:xfrm>
            <a:off x="4883040" y="4044960"/>
            <a:ext cx="1281240" cy="398520"/>
          </a:xfrm>
          <a:prstGeom prst="flowChartProcess">
            <a:avLst/>
          </a:prstGeom>
          <a:solidFill>
            <a:srgbClr val="FFFFFF"/>
          </a:solidFill>
          <a:ln>
            <a:solidFill>
              <a:srgbClr val="EC0044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Желательность = Ложь</a:t>
            </a:r>
            <a:endParaRPr lang="ru-RU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CustomShape 10"/>
          <p:cNvSpPr/>
          <p:nvPr/>
        </p:nvSpPr>
        <p:spPr>
          <a:xfrm>
            <a:off x="6769080" y="4038480"/>
            <a:ext cx="1281240" cy="398520"/>
          </a:xfrm>
          <a:prstGeom prst="flowChartProcess">
            <a:avLst/>
          </a:prstGeom>
          <a:solidFill>
            <a:srgbClr val="FFFFFF"/>
          </a:solidFill>
          <a:ln>
            <a:solidFill>
              <a:srgbClr val="EC0044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Статус = Ожидается</a:t>
            </a:r>
            <a:endParaRPr lang="ru-RU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CustomShape 11"/>
          <p:cNvSpPr/>
          <p:nvPr/>
        </p:nvSpPr>
        <p:spPr>
          <a:xfrm>
            <a:off x="5829480" y="4616280"/>
            <a:ext cx="1281240" cy="398520"/>
          </a:xfrm>
          <a:prstGeom prst="flowChartProcess">
            <a:avLst/>
          </a:prstGeom>
          <a:solidFill>
            <a:srgbClr val="FFFFFF"/>
          </a:solidFill>
          <a:ln>
            <a:solidFill>
              <a:srgbClr val="EC5A00"/>
            </a:solidFill>
            <a:rou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Эмоция = Страх</a:t>
            </a:r>
            <a:endParaRPr lang="ru-RU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CustomShape 12"/>
          <p:cNvSpPr/>
          <p:nvPr/>
        </p:nvSpPr>
        <p:spPr>
          <a:xfrm rot="16200000" flipH="1">
            <a:off x="5491080" y="4478040"/>
            <a:ext cx="370080" cy="303480"/>
          </a:xfrm>
          <a:prstGeom prst="bentConnector2">
            <a:avLst/>
          </a:prstGeom>
          <a:noFill/>
          <a:ln>
            <a:solidFill>
              <a:srgbClr val="000000"/>
            </a:solidFill>
            <a:round/>
            <a:tailEnd type="triangle" w="med" len="med"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CustomShape 13"/>
          <p:cNvSpPr/>
          <p:nvPr/>
        </p:nvSpPr>
        <p:spPr>
          <a:xfrm rot="5400000">
            <a:off x="7073640" y="4478400"/>
            <a:ext cx="376560" cy="297000"/>
          </a:xfrm>
          <a:prstGeom prst="bentConnector2">
            <a:avLst/>
          </a:prstGeom>
          <a:noFill/>
          <a:ln>
            <a:solidFill>
              <a:srgbClr val="000000"/>
            </a:solidFill>
            <a:round/>
            <a:tailEnd type="triangle" w="med" len="med"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Модель Emile</a:t>
            </a:r>
            <a:endParaRPr lang="ru-RU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</a:pPr>
            <a:fld id="{CD704E65-F4B6-4356-9061-786980325837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33</a:t>
            </a:fld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CustomShape 3"/>
          <p:cNvSpPr/>
          <p:nvPr/>
        </p:nvSpPr>
        <p:spPr>
          <a:xfrm>
            <a:off x="331200" y="851760"/>
            <a:ext cx="8480160" cy="78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Модель </a:t>
            </a:r>
            <a:r>
              <a:rPr lang="ru-RU" sz="1600" b="1" strike="noStrike" spc="-1">
                <a:solidFill>
                  <a:srgbClr val="0230AC"/>
                </a:solidFill>
                <a:latin typeface="Calibri"/>
                <a:ea typeface="DejaVu Sans"/>
              </a:rPr>
              <a:t>Emile</a:t>
            </a: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 совершенствует модель выводимой оценки путем сокращения числа конструируемых фреймов и их замены стандартными алгоритмами планирования ИИ. Она определяет, как события связаны с итоговыми целями и как автоматически определять угрозы и возможности при планировании методов достижения поставленных целей.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CustomShape 4"/>
          <p:cNvSpPr/>
          <p:nvPr/>
        </p:nvSpPr>
        <p:spPr>
          <a:xfrm>
            <a:off x="331200" y="2127240"/>
            <a:ext cx="6879240" cy="259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Желательность: 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Польза от достижения цели для агента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Ожидаемость: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Вероятность достижения цели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Управляемость: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Наличие способов достижения цели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StarSymbol"/>
              <a:buChar char="*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Атрибуция: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2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Установление причинно-следственных связей</a:t>
            </a:r>
            <a:endParaRPr lang="ru-RU" sz="16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CustomShape 1"/>
          <p:cNvSpPr/>
          <p:nvPr/>
        </p:nvSpPr>
        <p:spPr>
          <a:xfrm>
            <a:off x="457200" y="1699920"/>
            <a:ext cx="8228160" cy="61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200" b="1" strike="noStrike" spc="-1">
                <a:solidFill>
                  <a:srgbClr val="FFFFFF"/>
                </a:solidFill>
                <a:latin typeface="Calibri"/>
                <a:ea typeface="DejaVu Sans"/>
              </a:rPr>
              <a:t>Спасибо за внимание!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841</TotalTime>
  <Words>2146</Words>
  <Application>Microsoft Office PowerPoint</Application>
  <DocSecurity>0</DocSecurity>
  <PresentationFormat>Экран (16:9)</PresentationFormat>
  <Paragraphs>489</Paragraphs>
  <Slides>34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34</vt:i4>
      </vt:variant>
    </vt:vector>
  </HeadingPairs>
  <TitlesOfParts>
    <vt:vector size="43" baseType="lpstr">
      <vt:lpstr>Arial</vt:lpstr>
      <vt:lpstr>Calibri</vt:lpstr>
      <vt:lpstr>StarSymbol</vt:lpstr>
      <vt:lpstr>Symbol</vt:lpstr>
      <vt:lpstr>Times New Roman</vt:lpstr>
      <vt:lpstr>Wingdings</vt:lpstr>
      <vt:lpstr>Office Theme</vt:lpstr>
      <vt:lpstr>Office Theme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</dc:creator>
  <dc:description/>
  <cp:lastModifiedBy>user</cp:lastModifiedBy>
  <cp:revision>490</cp:revision>
  <dcterms:created xsi:type="dcterms:W3CDTF">2014-06-27T12:30:22Z</dcterms:created>
  <dcterms:modified xsi:type="dcterms:W3CDTF">2025-05-26T17:26:44Z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i4>2</vt:i4>
  </property>
  <property fmtid="{D5CDD505-2E9C-101B-9397-08002B2CF9AE}" pid="6" name="Notes">
    <vt:i4>23</vt:i4>
  </property>
  <property fmtid="{D5CDD505-2E9C-101B-9397-08002B2CF9AE}" pid="7" name="PresentationFormat">
    <vt:lpwstr>Экран (16:9)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34</vt:i4>
  </property>
</Properties>
</file>