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4" r:id="rId1"/>
    <p:sldMasterId id="2147483685" r:id="rId2"/>
    <p:sldMasterId id="2147483686" r:id="rId3"/>
  </p:sldMasterIdLst>
  <p:notesMasterIdLst>
    <p:notesMasterId r:id="rId4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97" r:id="rId11"/>
    <p:sldId id="263" r:id="rId12"/>
    <p:sldId id="264" r:id="rId13"/>
    <p:sldId id="298" r:id="rId14"/>
    <p:sldId id="265" r:id="rId15"/>
    <p:sldId id="266" r:id="rId16"/>
    <p:sldId id="267" r:id="rId17"/>
    <p:sldId id="301" r:id="rId18"/>
    <p:sldId id="299" r:id="rId19"/>
    <p:sldId id="300" r:id="rId20"/>
    <p:sldId id="302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3" r:id="rId44"/>
    <p:sldId id="294" r:id="rId45"/>
    <p:sldId id="295" r:id="rId46"/>
    <p:sldId id="296" r:id="rId47"/>
  </p:sldIdLst>
  <p:sldSz cx="9144000" cy="5143500" type="screen16x9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590" autoAdjust="0"/>
  </p:normalViewPr>
  <p:slideViewPr>
    <p:cSldViewPr snapToGrid="0">
      <p:cViewPr varScale="1">
        <p:scale>
          <a:sx n="117" d="100"/>
          <a:sy n="117" d="100"/>
        </p:scale>
        <p:origin x="13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3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latin typeface="Arial"/>
                <a:ea typeface="Arial"/>
                <a:cs typeface="Arial"/>
                <a:sym typeface="Arial"/>
              </a:rPr>
              <a:t>Темперамент («устойчивая смесь компонентов») – устойчивая совокупность индивидуальных психофизиологических особенностей</a:t>
            </a:r>
            <a:r>
              <a:rPr lang="ru-RU" sz="1200" b="0" strike="noStrike" baseline="0" dirty="0">
                <a:latin typeface="Arial"/>
                <a:ea typeface="Arial"/>
                <a:cs typeface="Arial"/>
                <a:sym typeface="Arial"/>
              </a:rPr>
              <a:t> личности, связанных с динамическими, а не с содержательными аспектами деятельности.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4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Несмотря на то, что Гален одним из первых указал на роль мозга в общей регуляции поведения, наиболее устойчивые индивидуальные различия он приписывал различиям в смесях </a:t>
            </a:r>
            <a:r>
              <a:rPr lang="ru-RU" sz="1200" b="0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нейро</a:t>
            </a: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-гуморальных жидкостей тела.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Кровь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Считалось, что кровь производится исключительно печенью. Это было связано с сангвинической натурой (восторженной, активной и общительной).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Желтая желчь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Считалось, что избыток желтой желчи вызывает агрессию, а избыток гнева, наоборот, вызывает расстройство печени и дисбаланс в жидкостях.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Черная желчь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Слово «меланхолия» происходит от греческого </a:t>
            </a:r>
            <a:r>
              <a:rPr lang="ru-RU" sz="1200" b="0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μέλ</a:t>
            </a: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αινα χολή ( melaina kholé ), что означает «черная желчь». Депрессия была связана с избытком или неестественной черной желчью, выделяемой селезенкой.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Мокрота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Считалось, что мокрота ассоциируется с апатичным поведением, что сохранилось в слове « флегматик». 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6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7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2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8" name="Google Shape;278;p7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7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2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strike="noStrike" dirty="0">
                <a:latin typeface="Arial"/>
                <a:ea typeface="Arial"/>
                <a:cs typeface="Arial"/>
                <a:sym typeface="Arial"/>
              </a:rPr>
              <a:t>В психологии эмоция определяется как субъективное психическое переживание каких-либо значимых событий. Что такое эмоции и как они возникают, рассматривают обычно с трех точек зрения</a:t>
            </a:r>
          </a:p>
          <a:p>
            <a:pPr marL="216000" lvl="0" indent="-2152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8" name="Google Shape;278;p7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0521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8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2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 воздействии внешнего раздражителя включается определенная физиологическая реакция, на ее основе возникает эмоция или эмоциональная реакция, всецело зависящая от интерпретации физиологической реакции.</a:t>
            </a:r>
          </a:p>
          <a:p>
            <a:pPr marL="216000" lvl="0" indent="-2152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latin typeface="Arial"/>
                <a:ea typeface="Arial"/>
                <a:cs typeface="Arial"/>
                <a:sym typeface="Arial"/>
              </a:rPr>
              <a:t>Основной смысл: эмоции обусловлены исключительно периферическими изменениями: внешние впечатления чисто рефлекторно вызывают ряд изменений в организме. Последующее осознание этих органических изменений составляют эмоцию.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9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Например, при встрече со львом ваше сердце, скорее всего, начнет бешено колотиться, а тело дрожать. По теории Джеймса - </a:t>
            </a:r>
            <a:r>
              <a:rPr lang="ru-RU" sz="1200" b="0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Ланге</a:t>
            </a: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далее разум интерпретирует физическую реакцию и приходит к заключению, что вы испуганы.</a:t>
            </a:r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latin typeface="Arial"/>
                <a:ea typeface="Arial"/>
                <a:cs typeface="Arial"/>
                <a:sym typeface="Arial"/>
              </a:rPr>
              <a:t>Согласно данной теории, мы опечалены, потому что плачем; боимся, потому что дрожим и т.д.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9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6087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10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2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Эта теория </a:t>
            </a:r>
            <a:r>
              <a:rPr lang="ru-RU" sz="20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отождествляет эмоции с физиологическими процессами, происходящими в центральной нервной системе.</a:t>
            </a:r>
            <a:endParaRPr sz="20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216000" lvl="0" indent="-2152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 органы чувств воздействует некий первоначальный раздражитель. Далее он передается в кору головного мозга, где происходит анализ, как будет направлена эта реакция, что, в свою очередь, активирует таламус, - то есть раздражитель воспринимается и интерпретируется. После этого одновременно возникают две реакции: эмоциональная и физиологическая. Иными словами, при встрече со львом вы почувствуете сильное сердцебиение и дрожь одновременно с сильным испугом.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1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2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Двухфакторная теория эмоций представляет собой пример когнитивного подхода к эмоциям. Согласно этой теории, на возникшее эмоциональное состояние помимо телесных изменений оказывает воздействие прошлый опыт человека: оценка им наличной ситуации с точки зрения его потребности.</a:t>
            </a:r>
          </a:p>
          <a:p>
            <a:pPr marL="216000" lvl="0" indent="-2152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Например, внезапно услышав за спиной шаги, женщина, идущая ночью по пустынной улице, скорее всего, почувствует дрожь в теле, напряжение мышц и учащенное сердцебиение. Отметив физиологическую реакцию своего организма, она осознает, что в случае опасности ее некому защитить, и, убедив себя в том, что ей грозит опасность, испытает страх.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1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2:notes"/>
          <p:cNvSpPr txBox="1">
            <a:spLocks noGrp="1"/>
          </p:cNvSpPr>
          <p:nvPr>
            <p:ph type="body" idx="1"/>
          </p:nvPr>
        </p:nvSpPr>
        <p:spPr>
          <a:xfrm>
            <a:off x="679680" y="4679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Познавательная теория эмоций, разработанная в 1990-х годах Ричардом </a:t>
            </a:r>
            <a:r>
              <a:rPr lang="ru-RU" sz="1200" b="0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Лазарусом</a:t>
            </a: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утверждает, что любой эмоции или физиологической активации организма непременно предшествует мысль. Иными словами, прежде чем у вас возникнет какая-либо эмоция, вы должны осмыслить ситуацию, в которой оказались.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Когда женщина слышит шаги за спиной, сначала у нее возникает мысль, что ей что-то угрожает - например, что ее преследует грабитель, - и только после этого ее сердце начинает биться быстрее, тело дрожать, и она испытывает негативную эмоцию - страх.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2:notes"/>
          <p:cNvSpPr txBox="1">
            <a:spLocks noGrp="1"/>
          </p:cNvSpPr>
          <p:nvPr>
            <p:ph type="body" idx="1"/>
          </p:nvPr>
        </p:nvSpPr>
        <p:spPr>
          <a:xfrm>
            <a:off x="679680" y="4679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latin typeface="Arial"/>
                <a:ea typeface="Arial"/>
                <a:cs typeface="Arial"/>
                <a:sym typeface="Arial"/>
              </a:rPr>
              <a:t>Субъективно состояние когнитивного диссонанса обычно переживается человеком как дискомфорт, и он стремится избавиться от него.</a:t>
            </a:r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latin typeface="Arial"/>
                <a:ea typeface="Arial"/>
                <a:cs typeface="Arial"/>
                <a:sym typeface="Arial"/>
              </a:rPr>
              <a:t>Таким образом, возникающие эмоциональные состояния рассматриваются как основная причина соответствующих действий и поступков.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79877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2:notes"/>
          <p:cNvSpPr txBox="1">
            <a:spLocks noGrp="1"/>
          </p:cNvSpPr>
          <p:nvPr>
            <p:ph type="body" idx="1"/>
          </p:nvPr>
        </p:nvSpPr>
        <p:spPr>
          <a:xfrm>
            <a:off x="679680" y="4679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latin typeface="Arial"/>
                <a:ea typeface="Arial"/>
                <a:cs typeface="Arial"/>
                <a:sym typeface="Arial"/>
              </a:rPr>
              <a:t>Необходимо выяснить, как ЦНС «узнает» о том, что какой-либо жизненно важный акт совершен на периферии в полноценном виде (утоление голода, кашель, чихание). Для этого необходимо вести два понятия: «эфферентный интеграл» и «афферентный интеграл».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18333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2:notes"/>
          <p:cNvSpPr txBox="1">
            <a:spLocks noGrp="1"/>
          </p:cNvSpPr>
          <p:nvPr>
            <p:ph type="body" idx="1"/>
          </p:nvPr>
        </p:nvSpPr>
        <p:spPr>
          <a:xfrm>
            <a:off x="679680" y="4679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41037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2:notes"/>
          <p:cNvSpPr txBox="1">
            <a:spLocks noGrp="1"/>
          </p:cNvSpPr>
          <p:nvPr>
            <p:ph type="body" idx="1"/>
          </p:nvPr>
        </p:nvSpPr>
        <p:spPr>
          <a:xfrm>
            <a:off x="679680" y="4679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latin typeface="Arial"/>
                <a:ea typeface="Arial"/>
                <a:cs typeface="Arial"/>
                <a:sym typeface="Arial"/>
              </a:rPr>
              <a:t>Эта формула позволяет понять, что отрицательные эмоции возникают, когда субъект располагает недостаточным количеством информации, т.е. Ин&gt;Ии. Положительные эмоции возникают, когда </a:t>
            </a:r>
            <a:r>
              <a:rPr lang="ru-RU" sz="1200" b="0" strike="noStrike">
                <a:latin typeface="Arial"/>
                <a:ea typeface="Arial"/>
                <a:cs typeface="Arial"/>
                <a:sym typeface="Arial"/>
              </a:rPr>
              <a:t>информации оказывается в </a:t>
            </a:r>
            <a:r>
              <a:rPr lang="ru-RU" sz="1200" b="0" strike="noStrike" dirty="0">
                <a:latin typeface="Arial"/>
                <a:ea typeface="Arial"/>
                <a:cs typeface="Arial"/>
                <a:sym typeface="Arial"/>
              </a:rPr>
              <a:t>избытке (информация оказывается лучше ожидаемой), т.е. Ин&lt;Ии.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9229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13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Согласно этой теории, эмоциональное переживание по меньшей мере усиливается обратной связью, возникающей при активации лицевых мышц, которые участвуют в мимической эмоциональной экспрессии; в противном случае мы просто оцениваем событие рассудочно. </a:t>
            </a:r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Когда женщина слышит позади себя чьи-то шаги, ее глаза расширяются, а зубы сжимаются. Мозг интерпретирует эти изменения лицевых мышц как выражение страха и сообщает женщине, что сейчас ей страшно.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14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4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5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5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p16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1924 году психолог-аспирант из Университета Миннесоты </a:t>
            </a:r>
            <a:r>
              <a:rPr lang="ru-RU" sz="1200" b="0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Карни</a:t>
            </a: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Ландис, чтобы лучше понять взаимосвязь между мимикой и эмоциями человека, разработал эксперимент. Ландис хотел узнать, характерна ли для людей, испытывающих одинаковые эмоции, универсальная мимика. Например, будет ли одинаковым у разных людей выражение лица, когда они испытывают отвращение?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6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17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Состояние, которое возникает при появлении стимула, важного с точки зрения потребностей и целей организма</a:t>
            </a:r>
            <a:endParaRPr sz="20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Cостояния, связанные с оценкой значимости для индивида действующих на него факторов и выражающиеся, прежде всего в форме непосредственных переживаний удовлетворения или неудовлетворения его актуальных потребностей. </a:t>
            </a:r>
            <a:br>
              <a:rPr lang="ru-RU"/>
            </a:br>
            <a:r>
              <a:rPr lang="ru-RU" sz="2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Являются одним из главных регуляторов деятельности.</a:t>
            </a: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7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18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strike="noStrike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Когнитивный компонент - все процессы от восприятия до мышления, связанные с оценкой ситуации, интерпретацией ее (насколько она опасна или, например, смешная). </a:t>
            </a:r>
            <a:endParaRPr sz="20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21600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strike="noStrike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Рефлексивный компонент отсутствует у животных и маленьких детей. Рефлексия - это путь к самоконтролю эмоций.</a:t>
            </a:r>
            <a:endParaRPr sz="20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216000" lvl="0" indent="-21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strike="noStrike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Поведенческий: определенные действия, а не просто выразительные движения (хотя сложно строго отделить поведения от экспрессии). </a:t>
            </a:r>
            <a:endParaRPr sz="20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216000" lvl="0" indent="-21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strike="noStrike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К поведенческому компоненту относится не всегда само действие, но и тенденция к действию</a:t>
            </a:r>
            <a:endParaRPr sz="20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21600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8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p19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9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20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0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p21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1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p22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2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p23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3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p24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4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p25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Из базовых эмоций наиболее важными являются те, которые обеспечивают выживание и стимулируют развитие.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Все остальные проявления – производные от двух основных эмоций. 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5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26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Эмоциональное состояние зависит не только от психологической составляющей, но и от химических реакций, происходящих в организме под воздействием внешних факторов. 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6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p27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7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28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8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29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9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30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0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9" name="Google Shape;509;p33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3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8" name="Google Shape;578;p38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8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6" name="Google Shape;586;p39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9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4" name="Google Shape;594;p40:notes"/>
          <p:cNvSpPr txBox="1">
            <a:spLocks noGrp="1"/>
          </p:cNvSpPr>
          <p:nvPr>
            <p:ph type="body" idx="1"/>
          </p:nvPr>
        </p:nvSpPr>
        <p:spPr>
          <a:xfrm>
            <a:off x="679680" y="4715280"/>
            <a:ext cx="5436720" cy="446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0:notes"/>
          <p:cNvSpPr/>
          <p:nvPr/>
        </p:nvSpPr>
        <p:spPr>
          <a:xfrm>
            <a:off x="3850560" y="9428760"/>
            <a:ext cx="294408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ubTitle" idx="1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>
            <a:spLocks noGrp="1"/>
          </p:cNvSpPr>
          <p:nvPr>
            <p:ph type="subTitle" idx="1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3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6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26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6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9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0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1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3"/>
          <p:cNvSpPr txBox="1">
            <a:spLocks noGrp="1"/>
          </p:cNvSpPr>
          <p:nvPr>
            <p:ph type="subTitle" idx="1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4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34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34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5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8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3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9"/>
          <p:cNvSpPr txBox="1"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39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39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5098320" y="490320"/>
            <a:ext cx="183240" cy="36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5910840" y="427320"/>
            <a:ext cx="183240" cy="36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171360" y="4280040"/>
            <a:ext cx="1675080" cy="70344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4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youtu.be/lC6BsTio2dQ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Q4hgn0DTfb8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youtu.be/Wr8bTIRiaoY" TargetMode="External"/><Relationship Id="rId5" Type="http://schemas.openxmlformats.org/officeDocument/2006/relationships/hyperlink" Target="https://youtu.be/hgGI-75FMCA" TargetMode="External"/><Relationship Id="rId4" Type="http://schemas.openxmlformats.org/officeDocument/2006/relationships/hyperlink" Target="https://youtu.be/mguaJIOfnjI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0"/>
          <p:cNvSpPr/>
          <p:nvPr/>
        </p:nvSpPr>
        <p:spPr>
          <a:xfrm>
            <a:off x="0" y="2294280"/>
            <a:ext cx="9142560" cy="70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Теории эмоций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0"/>
          <p:cNvSpPr/>
          <p:nvPr/>
        </p:nvSpPr>
        <p:spPr>
          <a:xfrm>
            <a:off x="0" y="4667400"/>
            <a:ext cx="9142560" cy="30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40"/>
          <p:cNvSpPr/>
          <p:nvPr/>
        </p:nvSpPr>
        <p:spPr>
          <a:xfrm>
            <a:off x="1371600" y="3637080"/>
            <a:ext cx="6399360" cy="46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Теория эмоций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1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1"/>
          <p:cNvSpPr/>
          <p:nvPr/>
        </p:nvSpPr>
        <p:spPr>
          <a:xfrm>
            <a:off x="457200" y="833400"/>
            <a:ext cx="814932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Теория эмоций позволяет объяснить различные аспекты человеческого поведения и сформировать предсказания: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230AC"/>
              </a:buClr>
              <a:buSzPts val="1801"/>
              <a:buFont typeface="Calibri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Позволяет получить множество взаимосвязанных компонентов, объясняющих или предсказывающих поведение человека с учетом характера связей между переменными.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230AC"/>
              </a:buClr>
              <a:buSzPts val="1801"/>
              <a:buFont typeface="Calibri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Определяет наиболее значимые переменные.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230AC"/>
              </a:buClr>
              <a:buSzPts val="1801"/>
              <a:buFont typeface="Calibri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Предлагает методы объяснения изменений.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230AC"/>
              </a:buClr>
              <a:buSzPts val="1801"/>
              <a:buFont typeface="Calibri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Предоставляет правила построения гипотез и их проверки.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230AC"/>
              </a:buClr>
              <a:buSzPts val="1801"/>
              <a:buFont typeface="Calibri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Формирует базу для создания программных моделей.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2560" y="3666600"/>
            <a:ext cx="2160000" cy="1475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Темперамент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2"/>
          <p:cNvSpPr/>
          <p:nvPr/>
        </p:nvSpPr>
        <p:spPr>
          <a:xfrm>
            <a:off x="568960" y="1514119"/>
            <a:ext cx="8149320" cy="213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21563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лат. </a:t>
            </a:r>
            <a:r>
              <a:rPr lang="ru-RU" sz="2400" b="0" i="0" u="none" strike="noStrike" cap="none" dirty="0" err="1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temperamentum</a:t>
            </a:r>
            <a:r>
              <a:rPr lang="ru-RU" sz="24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 - «соразмерность, надлежащее соотношение частей»</a:t>
            </a:r>
            <a:endParaRPr sz="2400" b="0" i="0" u="none" strike="noStrike" cap="none" dirty="0">
              <a:solidFill>
                <a:srgbClr val="0230A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6000" marR="0" lvl="0" indent="-21563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400" b="0" i="0" u="none" strike="noStrike" cap="none" dirty="0">
              <a:solidFill>
                <a:srgbClr val="0230A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6000" marR="0" lvl="0" indent="-21563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греч. «</a:t>
            </a:r>
            <a:r>
              <a:rPr lang="ru-RU" sz="2400" b="0" i="0" u="none" strike="noStrike" cap="none" dirty="0" err="1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красис</a:t>
            </a:r>
            <a:r>
              <a:rPr lang="ru-RU" sz="24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» (др.-греч. </a:t>
            </a:r>
            <a:r>
              <a:rPr lang="ru-RU" sz="2400" b="0" i="0" u="none" strike="noStrike" cap="none" dirty="0" err="1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kράσις</a:t>
            </a:r>
            <a:r>
              <a:rPr lang="ru-RU" sz="24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) «слияние, смешивание» </a:t>
            </a:r>
            <a:endParaRPr dirty="0"/>
          </a:p>
          <a:p>
            <a:pPr marL="216000" marR="0" lvl="0" indent="-21563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(ввели врачи античности Гиппократ и Гален) </a:t>
            </a:r>
            <a:endParaRPr sz="2400" b="0" i="0" u="none" strike="noStrike" cap="none" dirty="0">
              <a:solidFill>
                <a:srgbClr val="0230A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6000" marR="0" lvl="0" indent="-21563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230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3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Теория эмоций по Галену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3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3"/>
          <p:cNvSpPr/>
          <p:nvPr/>
        </p:nvSpPr>
        <p:spPr>
          <a:xfrm>
            <a:off x="457200" y="833399"/>
            <a:ext cx="8149320" cy="4134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21563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Гален предположил, что существуют устойчивые индивидуальные различия в соотношениях между химическими процессами, регулирующими поведение человека. </a:t>
            </a:r>
            <a:endParaRPr dirty="0"/>
          </a:p>
          <a:p>
            <a:pPr marL="216000" marR="0" lvl="0" indent="-2156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Гиппократ предположил, а Гален объяснил темперамент более детально как особенности поведения, преобладание в организме одного из «жизненных соков»:</a:t>
            </a:r>
            <a:endParaRPr dirty="0"/>
          </a:p>
          <a:p>
            <a:pPr marL="28611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Преобладание лимфы (др.-греч. </a:t>
            </a:r>
            <a:r>
              <a:rPr lang="ru-RU" sz="1800" b="0" i="0" u="none" strike="noStrike" cap="none" dirty="0" err="1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φλέγμ</a:t>
            </a: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α, флегма, «мокрота») делает человека спокойным и медлительным — </a:t>
            </a:r>
            <a:r>
              <a:rPr lang="ru-RU" sz="1800" b="0" i="1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флегматиком</a:t>
            </a: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 dirty="0">
              <a:solidFill>
                <a:srgbClr val="0230A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611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Преобладание жёлтой желчи (др.-греч. </a:t>
            </a:r>
            <a:r>
              <a:rPr lang="ru-RU" sz="1800" b="0" i="0" u="none" strike="noStrike" cap="none" dirty="0" err="1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χολή</a:t>
            </a: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, холе, «желчь, яд») делает человека истеричным и хамоватым, «горячим» — </a:t>
            </a:r>
            <a:r>
              <a:rPr lang="ru-RU" sz="1800" b="0" i="1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холериком</a:t>
            </a: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28611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Преобладание крови (лат. </a:t>
            </a:r>
            <a:r>
              <a:rPr lang="ru-RU" sz="1800" b="0" i="0" u="none" strike="noStrike" cap="none" dirty="0" err="1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sanguis</a:t>
            </a: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ru-RU" sz="1800" b="0" i="0" u="none" strike="noStrike" cap="none" dirty="0" err="1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сангвис</a:t>
            </a: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ru-RU" sz="1800" b="0" i="0" u="none" strike="noStrike" cap="none" dirty="0" err="1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сангуа</a:t>
            </a: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, «кровь») делает человека подвижным и весёлым — </a:t>
            </a:r>
            <a:r>
              <a:rPr lang="ru-RU" sz="1800" b="0" i="1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сангвиником</a:t>
            </a: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28611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Преобладание чёрной жёлчи (др.-греч. </a:t>
            </a:r>
            <a:r>
              <a:rPr lang="ru-RU" sz="1800" b="0" i="0" u="none" strike="noStrike" cap="none" dirty="0" err="1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μέλ</a:t>
            </a: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αινα χολή, мелэна холе, «чёрная жёлчь») делает человека грустным и боязливым — </a:t>
            </a:r>
            <a:r>
              <a:rPr lang="ru-RU" sz="1800" b="0" i="1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меланхоликом</a:t>
            </a: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 dirty="0">
              <a:solidFill>
                <a:srgbClr val="0230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4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Теория эмоций по Галену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4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44"/>
          <p:cNvGrpSpPr/>
          <p:nvPr/>
        </p:nvGrpSpPr>
        <p:grpSpPr>
          <a:xfrm>
            <a:off x="960480" y="1114560"/>
            <a:ext cx="6131160" cy="3597480"/>
            <a:chOff x="960480" y="1114560"/>
            <a:chExt cx="6131160" cy="3597480"/>
          </a:xfrm>
        </p:grpSpPr>
        <p:sp>
          <p:nvSpPr>
            <p:cNvPr id="204" name="Google Shape;204;p44"/>
            <p:cNvSpPr/>
            <p:nvPr/>
          </p:nvSpPr>
          <p:spPr>
            <a:xfrm>
              <a:off x="960480" y="4703400"/>
              <a:ext cx="6131160" cy="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40000" dist="20160" dir="5400000" rotWithShape="0">
                <a:srgbClr val="000000">
                  <a:alpha val="37647"/>
                </a:srgbClr>
              </a:outerShdw>
            </a:effectLst>
          </p:spPr>
        </p:sp>
        <p:sp>
          <p:nvSpPr>
            <p:cNvPr id="205" name="Google Shape;205;p44"/>
            <p:cNvSpPr/>
            <p:nvPr/>
          </p:nvSpPr>
          <p:spPr>
            <a:xfrm rot="10800000" flipH="1">
              <a:off x="960480" y="1114560"/>
              <a:ext cx="360" cy="35974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40000" dist="20160" dir="5400000" rotWithShape="0">
                <a:srgbClr val="000000">
                  <a:alpha val="37647"/>
                </a:srgbClr>
              </a:outerShdw>
            </a:effectLst>
          </p:spPr>
        </p:sp>
      </p:grpSp>
      <p:sp>
        <p:nvSpPr>
          <p:cNvPr id="206" name="Google Shape;206;p44"/>
          <p:cNvSpPr/>
          <p:nvPr/>
        </p:nvSpPr>
        <p:spPr>
          <a:xfrm>
            <a:off x="2213640" y="1513800"/>
            <a:ext cx="718200" cy="7182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AC00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4"/>
          <p:cNvSpPr/>
          <p:nvPr/>
        </p:nvSpPr>
        <p:spPr>
          <a:xfrm>
            <a:off x="2213640" y="3108600"/>
            <a:ext cx="718200" cy="7182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4"/>
          <p:cNvSpPr/>
          <p:nvPr/>
        </p:nvSpPr>
        <p:spPr>
          <a:xfrm>
            <a:off x="4973400" y="1513800"/>
            <a:ext cx="718200" cy="718200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rgbClr val="AC4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44"/>
          <p:cNvSpPr/>
          <p:nvPr/>
        </p:nvSpPr>
        <p:spPr>
          <a:xfrm>
            <a:off x="4973400" y="3108600"/>
            <a:ext cx="718200" cy="718200"/>
          </a:xfrm>
          <a:prstGeom prst="ellipse">
            <a:avLst/>
          </a:prstGeom>
          <a:solidFill>
            <a:schemeClr val="accent4"/>
          </a:solidFill>
          <a:ln w="25400" cap="flat" cmpd="sng">
            <a:solidFill>
              <a:srgbClr val="003F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44"/>
          <p:cNvSpPr/>
          <p:nvPr/>
        </p:nvSpPr>
        <p:spPr>
          <a:xfrm>
            <a:off x="2259000" y="1735200"/>
            <a:ext cx="627840" cy="27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Злость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4"/>
          <p:cNvSpPr/>
          <p:nvPr/>
        </p:nvSpPr>
        <p:spPr>
          <a:xfrm>
            <a:off x="4973400" y="1735200"/>
            <a:ext cx="718200" cy="27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Радость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4"/>
          <p:cNvSpPr/>
          <p:nvPr/>
        </p:nvSpPr>
        <p:spPr>
          <a:xfrm>
            <a:off x="2213640" y="3330000"/>
            <a:ext cx="718200" cy="27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Грусть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4"/>
          <p:cNvSpPr/>
          <p:nvPr/>
        </p:nvSpPr>
        <p:spPr>
          <a:xfrm>
            <a:off x="4973400" y="3330000"/>
            <a:ext cx="718200" cy="27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Апатия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4"/>
          <p:cNvSpPr/>
          <p:nvPr/>
        </p:nvSpPr>
        <p:spPr>
          <a:xfrm rot="-5400000">
            <a:off x="112680" y="2662920"/>
            <a:ext cx="1270440" cy="30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Возбудимость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4"/>
          <p:cNvSpPr/>
          <p:nvPr/>
        </p:nvSpPr>
        <p:spPr>
          <a:xfrm>
            <a:off x="3521880" y="4689360"/>
            <a:ext cx="1270440" cy="30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Валентность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4640" y="1204560"/>
            <a:ext cx="1139040" cy="1709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4"/>
          <p:cNvSpPr/>
          <p:nvPr/>
        </p:nvSpPr>
        <p:spPr>
          <a:xfrm>
            <a:off x="7694640" y="2646720"/>
            <a:ext cx="1139040" cy="45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Клавдий Гален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129–200 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4"/>
          <p:cNvSpPr/>
          <p:nvPr/>
        </p:nvSpPr>
        <p:spPr>
          <a:xfrm>
            <a:off x="1006560" y="1586520"/>
            <a:ext cx="1198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>
                <a:solidFill>
                  <a:srgbClr val="B10033"/>
                </a:solidFill>
                <a:latin typeface="Calibri"/>
                <a:ea typeface="Calibri"/>
                <a:cs typeface="Calibri"/>
                <a:sym typeface="Calibri"/>
              </a:rPr>
              <a:t>Желтая желчь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Желчный пузырь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4"/>
          <p:cNvSpPr/>
          <p:nvPr/>
        </p:nvSpPr>
        <p:spPr>
          <a:xfrm>
            <a:off x="2233439" y="1256760"/>
            <a:ext cx="768961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Холерик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4"/>
          <p:cNvSpPr/>
          <p:nvPr/>
        </p:nvSpPr>
        <p:spPr>
          <a:xfrm>
            <a:off x="2114999" y="3803400"/>
            <a:ext cx="1064159" cy="27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Меланхолик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4"/>
          <p:cNvSpPr/>
          <p:nvPr/>
        </p:nvSpPr>
        <p:spPr>
          <a:xfrm>
            <a:off x="4944960" y="1269000"/>
            <a:ext cx="804960" cy="25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Сангвиник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4"/>
          <p:cNvSpPr/>
          <p:nvPr/>
        </p:nvSpPr>
        <p:spPr>
          <a:xfrm>
            <a:off x="4792320" y="3803400"/>
            <a:ext cx="963000" cy="25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Флегматик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4"/>
          <p:cNvSpPr/>
          <p:nvPr/>
        </p:nvSpPr>
        <p:spPr>
          <a:xfrm>
            <a:off x="5694840" y="1573560"/>
            <a:ext cx="61272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>
                <a:solidFill>
                  <a:srgbClr val="B10033"/>
                </a:solidFill>
                <a:latin typeface="Calibri"/>
                <a:ea typeface="Calibri"/>
                <a:cs typeface="Calibri"/>
                <a:sym typeface="Calibri"/>
              </a:rPr>
              <a:t>Кровь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Печень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4"/>
          <p:cNvSpPr/>
          <p:nvPr/>
        </p:nvSpPr>
        <p:spPr>
          <a:xfrm>
            <a:off x="5694840" y="3141360"/>
            <a:ext cx="101808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>
                <a:solidFill>
                  <a:srgbClr val="B10033"/>
                </a:solidFill>
                <a:latin typeface="Calibri"/>
                <a:ea typeface="Calibri"/>
                <a:cs typeface="Calibri"/>
                <a:sym typeface="Calibri"/>
              </a:rPr>
              <a:t>Мокрота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Мозг / Легкие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4"/>
          <p:cNvSpPr/>
          <p:nvPr/>
        </p:nvSpPr>
        <p:spPr>
          <a:xfrm>
            <a:off x="1194840" y="3204360"/>
            <a:ext cx="1005840" cy="5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>
                <a:solidFill>
                  <a:srgbClr val="B10033"/>
                </a:solidFill>
                <a:latin typeface="Calibri"/>
                <a:ea typeface="Calibri"/>
                <a:cs typeface="Calibri"/>
                <a:sym typeface="Calibri"/>
              </a:rPr>
              <a:t>Черная желчь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Селезенка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4"/>
          <p:cNvSpPr/>
          <p:nvPr/>
        </p:nvSpPr>
        <p:spPr>
          <a:xfrm>
            <a:off x="1745640" y="1071720"/>
            <a:ext cx="368640" cy="36864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AC00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4"/>
          <p:cNvSpPr/>
          <p:nvPr/>
        </p:nvSpPr>
        <p:spPr>
          <a:xfrm>
            <a:off x="1740240" y="3914640"/>
            <a:ext cx="368640" cy="368640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rgbClr val="0123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4"/>
          <p:cNvSpPr/>
          <p:nvPr/>
        </p:nvSpPr>
        <p:spPr>
          <a:xfrm>
            <a:off x="5754960" y="1067400"/>
            <a:ext cx="368640" cy="368640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rgbClr val="AC4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4"/>
          <p:cNvSpPr/>
          <p:nvPr/>
        </p:nvSpPr>
        <p:spPr>
          <a:xfrm>
            <a:off x="5754960" y="3914640"/>
            <a:ext cx="368640" cy="368640"/>
          </a:xfrm>
          <a:prstGeom prst="ellipse">
            <a:avLst/>
          </a:prstGeom>
          <a:solidFill>
            <a:schemeClr val="accent4"/>
          </a:solidFill>
          <a:ln w="25400" cap="flat" cmpd="sng">
            <a:solidFill>
              <a:srgbClr val="003F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4"/>
          <p:cNvSpPr/>
          <p:nvPr/>
        </p:nvSpPr>
        <p:spPr>
          <a:xfrm>
            <a:off x="2933280" y="1873800"/>
            <a:ext cx="2038680" cy="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001856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231" name="Google Shape;231;p44"/>
          <p:cNvSpPr/>
          <p:nvPr/>
        </p:nvSpPr>
        <p:spPr>
          <a:xfrm>
            <a:off x="5333400" y="2233440"/>
            <a:ext cx="360" cy="8737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001856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232" name="Google Shape;232;p44"/>
          <p:cNvSpPr/>
          <p:nvPr/>
        </p:nvSpPr>
        <p:spPr>
          <a:xfrm flipH="1">
            <a:off x="2931840" y="3468240"/>
            <a:ext cx="2038680" cy="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001856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233" name="Google Shape;233;p44"/>
          <p:cNvSpPr/>
          <p:nvPr/>
        </p:nvSpPr>
        <p:spPr>
          <a:xfrm>
            <a:off x="2573280" y="2233440"/>
            <a:ext cx="360" cy="8737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001856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234" name="Google Shape;234;p44"/>
          <p:cNvSpPr/>
          <p:nvPr/>
        </p:nvSpPr>
        <p:spPr>
          <a:xfrm rot="10800000">
            <a:off x="5586120" y="3721320"/>
            <a:ext cx="219960" cy="244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363636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235" name="Google Shape;235;p44"/>
          <p:cNvSpPr/>
          <p:nvPr/>
        </p:nvSpPr>
        <p:spPr>
          <a:xfrm rot="10800000" flipH="1">
            <a:off x="2056320" y="3721320"/>
            <a:ext cx="261360" cy="244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363636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236" name="Google Shape;236;p44"/>
          <p:cNvSpPr/>
          <p:nvPr/>
        </p:nvSpPr>
        <p:spPr>
          <a:xfrm>
            <a:off x="2061360" y="1387800"/>
            <a:ext cx="256320" cy="2300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363636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237" name="Google Shape;237;p44"/>
          <p:cNvSpPr/>
          <p:nvPr/>
        </p:nvSpPr>
        <p:spPr>
          <a:xfrm flipH="1">
            <a:off x="5586120" y="1383480"/>
            <a:ext cx="219960" cy="234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363636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pic>
        <p:nvPicPr>
          <p:cNvPr id="238" name="Google Shape;238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48760" y="2054880"/>
            <a:ext cx="740160" cy="4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18880" y="2881800"/>
            <a:ext cx="812160" cy="4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15600" y="2050560"/>
            <a:ext cx="755280" cy="42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4"/>
          <p:cNvPicPr preferRelativeResize="0"/>
          <p:nvPr/>
        </p:nvPicPr>
        <p:blipFill rotWithShape="1">
          <a:blip r:embed="rId7">
            <a:alphaModFix/>
          </a:blip>
          <a:srcRect l="8239" t="8371" r="11354" b="9494"/>
          <a:stretch/>
        </p:blipFill>
        <p:spPr>
          <a:xfrm rot="5400000">
            <a:off x="4309920" y="2776680"/>
            <a:ext cx="665280" cy="679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5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Теория эмоций по Галену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5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" name="Google Shape;249;p45"/>
          <p:cNvGrpSpPr/>
          <p:nvPr/>
        </p:nvGrpSpPr>
        <p:grpSpPr>
          <a:xfrm>
            <a:off x="548280" y="1114560"/>
            <a:ext cx="3615120" cy="2812320"/>
            <a:chOff x="548280" y="1114560"/>
            <a:chExt cx="3615120" cy="2812320"/>
          </a:xfrm>
        </p:grpSpPr>
        <p:sp>
          <p:nvSpPr>
            <p:cNvPr id="250" name="Google Shape;250;p45"/>
            <p:cNvSpPr/>
            <p:nvPr/>
          </p:nvSpPr>
          <p:spPr>
            <a:xfrm>
              <a:off x="548280" y="3920760"/>
              <a:ext cx="3615120" cy="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40000" dist="20160" dir="5400000" rotWithShape="0">
                <a:srgbClr val="000000">
                  <a:alpha val="37647"/>
                </a:srgbClr>
              </a:outerShdw>
            </a:effectLst>
          </p:spPr>
        </p:sp>
        <p:sp>
          <p:nvSpPr>
            <p:cNvPr id="251" name="Google Shape;251;p45"/>
            <p:cNvSpPr/>
            <p:nvPr/>
          </p:nvSpPr>
          <p:spPr>
            <a:xfrm rot="10800000" flipH="1">
              <a:off x="548280" y="1114560"/>
              <a:ext cx="360" cy="281232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40000" dist="20160" dir="5400000" rotWithShape="0">
                <a:srgbClr val="000000">
                  <a:alpha val="37647"/>
                </a:srgbClr>
              </a:outerShdw>
            </a:effectLst>
          </p:spPr>
        </p:sp>
      </p:grpSp>
      <p:sp>
        <p:nvSpPr>
          <p:cNvPr id="252" name="Google Shape;252;p45"/>
          <p:cNvSpPr/>
          <p:nvPr/>
        </p:nvSpPr>
        <p:spPr>
          <a:xfrm>
            <a:off x="1398240" y="1645560"/>
            <a:ext cx="718200" cy="7182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AC00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45"/>
          <p:cNvSpPr/>
          <p:nvPr/>
        </p:nvSpPr>
        <p:spPr>
          <a:xfrm>
            <a:off x="1398240" y="2635200"/>
            <a:ext cx="718200" cy="718200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45"/>
          <p:cNvSpPr/>
          <p:nvPr/>
        </p:nvSpPr>
        <p:spPr>
          <a:xfrm>
            <a:off x="2502000" y="1642680"/>
            <a:ext cx="718200" cy="718200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rgbClr val="AC4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45"/>
          <p:cNvSpPr/>
          <p:nvPr/>
        </p:nvSpPr>
        <p:spPr>
          <a:xfrm>
            <a:off x="2502000" y="2630520"/>
            <a:ext cx="718200" cy="718200"/>
          </a:xfrm>
          <a:prstGeom prst="ellipse">
            <a:avLst/>
          </a:prstGeom>
          <a:solidFill>
            <a:schemeClr val="accent4"/>
          </a:solidFill>
          <a:ln w="25400" cap="flat" cmpd="sng">
            <a:solidFill>
              <a:srgbClr val="003F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45"/>
          <p:cNvSpPr/>
          <p:nvPr/>
        </p:nvSpPr>
        <p:spPr>
          <a:xfrm>
            <a:off x="1443600" y="1866960"/>
            <a:ext cx="627840" cy="27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Злость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5"/>
          <p:cNvSpPr/>
          <p:nvPr/>
        </p:nvSpPr>
        <p:spPr>
          <a:xfrm>
            <a:off x="2502000" y="1863720"/>
            <a:ext cx="718200" cy="27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Радость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5"/>
          <p:cNvSpPr/>
          <p:nvPr/>
        </p:nvSpPr>
        <p:spPr>
          <a:xfrm>
            <a:off x="1398240" y="2856600"/>
            <a:ext cx="718200" cy="27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Грусть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5"/>
          <p:cNvSpPr/>
          <p:nvPr/>
        </p:nvSpPr>
        <p:spPr>
          <a:xfrm>
            <a:off x="2502000" y="2851920"/>
            <a:ext cx="718200" cy="27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Апатия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5"/>
          <p:cNvSpPr/>
          <p:nvPr/>
        </p:nvSpPr>
        <p:spPr>
          <a:xfrm rot="-5400000">
            <a:off x="-318240" y="2242440"/>
            <a:ext cx="1270440" cy="30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Возбудимость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5"/>
          <p:cNvSpPr/>
          <p:nvPr/>
        </p:nvSpPr>
        <p:spPr>
          <a:xfrm>
            <a:off x="1589760" y="3920760"/>
            <a:ext cx="1270440" cy="30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Валентность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5"/>
          <p:cNvSpPr/>
          <p:nvPr/>
        </p:nvSpPr>
        <p:spPr>
          <a:xfrm>
            <a:off x="930240" y="1203840"/>
            <a:ext cx="368640" cy="36864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AC00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5"/>
          <p:cNvSpPr/>
          <p:nvPr/>
        </p:nvSpPr>
        <p:spPr>
          <a:xfrm>
            <a:off x="924840" y="3441240"/>
            <a:ext cx="368640" cy="368640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rgbClr val="0123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5"/>
          <p:cNvSpPr/>
          <p:nvPr/>
        </p:nvSpPr>
        <p:spPr>
          <a:xfrm>
            <a:off x="3283200" y="1196280"/>
            <a:ext cx="368640" cy="368640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rgbClr val="AC4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5"/>
          <p:cNvSpPr/>
          <p:nvPr/>
        </p:nvSpPr>
        <p:spPr>
          <a:xfrm>
            <a:off x="3283200" y="3436560"/>
            <a:ext cx="368640" cy="368640"/>
          </a:xfrm>
          <a:prstGeom prst="ellipse">
            <a:avLst/>
          </a:prstGeom>
          <a:solidFill>
            <a:schemeClr val="accent4"/>
          </a:solidFill>
          <a:ln w="25400" cap="flat" cmpd="sng">
            <a:solidFill>
              <a:srgbClr val="003F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5"/>
          <p:cNvSpPr/>
          <p:nvPr/>
        </p:nvSpPr>
        <p:spPr>
          <a:xfrm rot="10800000">
            <a:off x="3114720" y="3243600"/>
            <a:ext cx="219960" cy="244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363636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267" name="Google Shape;267;p45"/>
          <p:cNvSpPr/>
          <p:nvPr/>
        </p:nvSpPr>
        <p:spPr>
          <a:xfrm rot="10800000" flipH="1">
            <a:off x="1240920" y="3247920"/>
            <a:ext cx="261360" cy="244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363636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268" name="Google Shape;268;p45"/>
          <p:cNvSpPr/>
          <p:nvPr/>
        </p:nvSpPr>
        <p:spPr>
          <a:xfrm>
            <a:off x="1245960" y="1519560"/>
            <a:ext cx="256320" cy="2300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363636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269" name="Google Shape;269;p45"/>
          <p:cNvSpPr/>
          <p:nvPr/>
        </p:nvSpPr>
        <p:spPr>
          <a:xfrm flipH="1">
            <a:off x="3114720" y="1512000"/>
            <a:ext cx="219960" cy="234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363636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270" name="Google Shape;270;p45"/>
          <p:cNvSpPr/>
          <p:nvPr/>
        </p:nvSpPr>
        <p:spPr>
          <a:xfrm>
            <a:off x="4317120" y="1015560"/>
            <a:ext cx="4825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Язык распознавания эмоций: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230AC"/>
              </a:buClr>
              <a:buSzPts val="1601"/>
              <a:buFont typeface="Calibri"/>
              <a:buChar char="•"/>
            </a:pPr>
            <a:r>
              <a:rPr lang="ru-RU" sz="16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4 эмоциональных состояния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230AC"/>
              </a:buClr>
              <a:buSzPts val="1601"/>
              <a:buFont typeface="Calibri"/>
              <a:buChar char="•"/>
            </a:pPr>
            <a:r>
              <a:rPr lang="ru-RU" sz="16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2 измерения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ru-RU" sz="16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Предсказания: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230AC"/>
              </a:buClr>
              <a:buSzPts val="1601"/>
              <a:buFont typeface="Calibri"/>
              <a:buChar char="•"/>
            </a:pPr>
            <a:r>
              <a:rPr lang="ru-RU" sz="16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Если Злость, то активна система A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230AC"/>
              </a:buClr>
              <a:buSzPts val="1601"/>
              <a:buFont typeface="Calibri"/>
              <a:buChar char="•"/>
            </a:pPr>
            <a:r>
              <a:rPr lang="ru-RU" sz="16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Если Злость, то не произойдет переход к Апатии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230AC"/>
              </a:buClr>
              <a:buSzPts val="1601"/>
              <a:buFont typeface="Calibri"/>
              <a:buChar char="•"/>
            </a:pPr>
            <a:r>
              <a:rPr lang="ru-RU" sz="16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Если активна система C, то наблюдается Грусть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ru-RU" sz="16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Управление: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230AC"/>
              </a:buClr>
              <a:buSzPts val="1601"/>
              <a:buFont typeface="Calibri"/>
              <a:buChar char="•"/>
            </a:pPr>
            <a:r>
              <a:rPr lang="ru-RU" sz="16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Для перехода к Апатии необходимо активировать систему D, или подавить другие системы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230AC"/>
              </a:buClr>
              <a:buSzPts val="1601"/>
              <a:buFont typeface="Calibri"/>
              <a:buChar char="•"/>
            </a:pPr>
            <a:r>
              <a:rPr lang="ru-RU" sz="16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В состоянии Апатии невозможно управлять активностью системы D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5"/>
          <p:cNvSpPr/>
          <p:nvPr/>
        </p:nvSpPr>
        <p:spPr>
          <a:xfrm rot="10800000" flipH="1">
            <a:off x="2117880" y="2000880"/>
            <a:ext cx="382680" cy="1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001856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272" name="Google Shape;272;p45"/>
          <p:cNvSpPr/>
          <p:nvPr/>
        </p:nvSpPr>
        <p:spPr>
          <a:xfrm rot="10800000" flipH="1">
            <a:off x="2117880" y="2989080"/>
            <a:ext cx="382680" cy="32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001856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273" name="Google Shape;273;p45"/>
          <p:cNvSpPr/>
          <p:nvPr/>
        </p:nvSpPr>
        <p:spPr>
          <a:xfrm>
            <a:off x="2861640" y="2362320"/>
            <a:ext cx="360" cy="2667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001856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274" name="Google Shape;274;p45"/>
          <p:cNvSpPr/>
          <p:nvPr/>
        </p:nvSpPr>
        <p:spPr>
          <a:xfrm>
            <a:off x="1758240" y="2365560"/>
            <a:ext cx="360" cy="2682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001856"/>
            </a:solidFill>
            <a:prstDash val="solid"/>
            <a:round/>
            <a:headEnd type="triangle" w="med" len="med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Теории эмоций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6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6"/>
          <p:cNvSpPr/>
          <p:nvPr/>
        </p:nvSpPr>
        <p:spPr>
          <a:xfrm>
            <a:off x="243360" y="85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2000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Эволюционная теория Ч. Дарвина: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Книга </a:t>
            </a:r>
            <a:r>
              <a:rPr lang="ru-RU" sz="20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«Выражение эмоций у человека и животных» (1872) - поворотный пункт в понимании связи биологических и психологических явлений (в частности, организма и эмоций).</a:t>
            </a:r>
            <a:endParaRPr lang="ru-RU" sz="2000" dirty="0">
              <a:solidFill>
                <a:srgbClr val="0230A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Эволюционный принцип применим и к психолого-поведенческому развитию живого</a:t>
            </a:r>
            <a:r>
              <a:rPr lang="ru-RU" sz="2000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dirty="0">
              <a:solidFill>
                <a:srgbClr val="0230AC"/>
              </a:solidFill>
              <a:latin typeface="Calibri"/>
              <a:ea typeface="Calibri"/>
              <a:cs typeface="Calibri"/>
            </a:endParaRP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Эмоции появились в процессе эволюции живых существ как жизненно важные приспособительные механизмы, способствующие адаптации организма к условиям и ситуациям его жизни</a:t>
            </a:r>
            <a:r>
              <a:rPr lang="ru-RU" sz="2000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dirty="0">
              <a:solidFill>
                <a:srgbClr val="0230AC"/>
              </a:solidFill>
              <a:latin typeface="Calibri"/>
              <a:ea typeface="Calibri"/>
              <a:cs typeface="Calibri"/>
            </a:endParaRP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Эмоции возникли как средство, при помощи которого живые существа устанавливают значимость тех или иных условий для удовлетворения актуальных для них потребностей.</a:t>
            </a:r>
            <a:endParaRPr sz="2000" dirty="0">
              <a:solidFill>
                <a:srgbClr val="0230AC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Теории эмоций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6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6"/>
          <p:cNvSpPr/>
          <p:nvPr/>
        </p:nvSpPr>
        <p:spPr>
          <a:xfrm>
            <a:off x="243360" y="85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Возникновение эмоций рассматривают с трех точек зрения: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Неврологическая основана на идее, что эмоциональные реакции вызываются активностью головного мозга.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Согласно физиологической, эмоции возникают в результате физиологической реакции организма.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Когнитивная утверждает, что эмоции есть результат мышления и психической активности.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01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7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Теория Джеймса - Ланге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7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7"/>
          <p:cNvSpPr/>
          <p:nvPr/>
        </p:nvSpPr>
        <p:spPr>
          <a:xfrm>
            <a:off x="243360" y="85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Эмоции представляют собой результат физиологической реакции на значимое событие.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60" y="1881720"/>
            <a:ext cx="3081600" cy="2453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8080" y="1735920"/>
            <a:ext cx="3763080" cy="329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Теория Джеймса - Ланге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8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8"/>
          <p:cNvSpPr/>
          <p:nvPr/>
        </p:nvSpPr>
        <p:spPr>
          <a:xfrm>
            <a:off x="243360" y="85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Эмоции представляют собой результат физиологической реакции на значимое событие.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3240" y="2141640"/>
            <a:ext cx="6095160" cy="2542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Теория Джеймса - Ланге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8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8"/>
          <p:cNvSpPr/>
          <p:nvPr/>
        </p:nvSpPr>
        <p:spPr>
          <a:xfrm>
            <a:off x="243360" y="85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440" marR="0" lvl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</a:pPr>
            <a:r>
              <a:rPr lang="ru-RU" sz="20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Критика:</a:t>
            </a: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Телесные реакции, возникающие при различных эмоциях, очень похожи друг на друга, поэтому они недостаточны для объяснения многообразия эмоций.</a:t>
            </a: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Искусственно вызываемые у человека органические изменения далеко не всегда сопровождается эмоциональными переживаниями. Например, если потрясти рукой, то эмоция страха не возникнет.</a:t>
            </a:r>
            <a:endParaRPr sz="2000" dirty="0">
              <a:solidFill>
                <a:srgbClr val="0230AC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1061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Теория эмоций Кэннона - Барда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9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9"/>
          <p:cNvSpPr/>
          <p:nvPr/>
        </p:nvSpPr>
        <p:spPr>
          <a:xfrm>
            <a:off x="243360" y="49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Физиологические реакции и эмоции происходят одновременно.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Эмоция возникает, когда таламус (область головного мозга, контролирующая моторные функции, состояния сна и бодрствования и обработку сенсорных сигналов), реагируя на конкретный раздражитель, посылает мозгу определенное сообщение, в результате чего происходит физиологическая реакция.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0720" y="2955240"/>
            <a:ext cx="3971520" cy="1561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53600" y="2749680"/>
            <a:ext cx="2638440" cy="2306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0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Теория эмоций Шехтера - Сингера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0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50"/>
          <p:cNvSpPr/>
          <p:nvPr/>
        </p:nvSpPr>
        <p:spPr>
          <a:xfrm>
            <a:off x="243360" y="49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Двухфакторная теория эмоций представляет собой пример когнитивного подхода к эмоциям.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На первом этапе формирования эмоции происходит физиологическая активация (возбуждение), возникающая в ответ на переживаемое событие.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Человек должен найти причину этой активации, только потом он сможет охарактеризовать пережитый опыт и «маркировать» его как эмоцию.  	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1360" y="3528000"/>
            <a:ext cx="5713920" cy="50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Теория эмоций Лазаруса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51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51"/>
          <p:cNvSpPr/>
          <p:nvPr/>
        </p:nvSpPr>
        <p:spPr>
          <a:xfrm>
            <a:off x="243360" y="49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Любой эмоции или физиологической активации организма непременно предшествует мысль. Другими словами, прежде чем у вас возникнет какая-либо эмоция, вы должны осмыслить ситуацию, в которой оказались.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Эмоция и физиологическая активация организма возникают одновременно.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6000" y="2927880"/>
            <a:ext cx="4895280" cy="124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2400" b="1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Теория когнитивного диссонанса Л. </a:t>
            </a:r>
            <a:r>
              <a:rPr lang="ru-RU" sz="2400" b="1" dirty="0" err="1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Фестингера</a:t>
            </a:r>
            <a:endParaRPr sz="2400" b="0" i="0" u="none" strike="noStrike" cap="none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27" name="Google Shape;327;p51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51"/>
          <p:cNvSpPr/>
          <p:nvPr/>
        </p:nvSpPr>
        <p:spPr>
          <a:xfrm>
            <a:off x="243360" y="49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Положительные эмоциональные переживания возникают у человека тогда, когда реальные результаты деятельности соответствуют намеченным.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Отрицательные эмоции возникают, когда между ожидаемыми и действительными результатами деятельности имеется расхождение (диссонанс).</a:t>
            </a:r>
          </a:p>
          <a:p>
            <a:pPr marL="1440" lvl="0">
              <a:spcBef>
                <a:spcPts val="400"/>
              </a:spcBef>
              <a:buClr>
                <a:srgbClr val="0230AC"/>
              </a:buClr>
              <a:buSzPts val="2002"/>
            </a:pPr>
            <a:r>
              <a:rPr lang="ru-RU" sz="20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Выход из состояния когнитивного диссонанса может быть двояким: </a:t>
            </a:r>
          </a:p>
          <a:p>
            <a:pPr marL="344340" lvl="0" indent="-342900">
              <a:spcBef>
                <a:spcPts val="400"/>
              </a:spcBef>
              <a:buClr>
                <a:srgbClr val="0230AC"/>
              </a:buClr>
              <a:buSzPts val="2002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или изменить когнитивные ожидания, чтобы они соответствовали реально полученному результату; </a:t>
            </a: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или попытаться получить новый результат, который бы соответствовал прежним ожиданиям (знаниям).</a:t>
            </a:r>
            <a:endParaRPr sz="2000" dirty="0">
              <a:solidFill>
                <a:srgbClr val="0230AC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737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1"/>
          <p:cNvSpPr/>
          <p:nvPr/>
        </p:nvSpPr>
        <p:spPr>
          <a:xfrm>
            <a:off x="0" y="0"/>
            <a:ext cx="72085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2400" b="1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Биологическая теория эмоций П. К. Анохина (1949)</a:t>
            </a:r>
            <a:endParaRPr sz="2400" b="0" i="0" u="none" strike="noStrike" cap="none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27" name="Google Shape;327;p51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51"/>
          <p:cNvSpPr/>
          <p:nvPr/>
        </p:nvSpPr>
        <p:spPr>
          <a:xfrm>
            <a:off x="243360" y="49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Эмоции – физиологические состояния организма, имеющие ярко выраженную субъективную окраску и охватывающие все виды чувствований и переживаний человека.</a:t>
            </a:r>
            <a:endParaRPr sz="1800" b="0" i="0" u="none" strike="noStrike" cap="none" dirty="0">
              <a:solidFill>
                <a:schemeClr val="dk1"/>
              </a:solidFill>
              <a:sym typeface="Arial"/>
            </a:endParaRP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Биологическая теория эмоций построена на основе представления о целостной физиологической архитектуре любого приспособительного акта, каким являются эмоциональные реакции.</a:t>
            </a: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Каждому акту периферического удовлетворения какой-либо потребности предшествует формирование центрального аппарата оценки результатов – «акцепторов действия» (АД) и посылка множества эфферентных возбуждений, идущих к самым различным органам и частям той системы, которая должна выполнить акт удовлетворения потребности. Об успешности или не успешности такого акта сигнализирует поступающая в головной мозг афферентная </a:t>
            </a:r>
            <a:r>
              <a:rPr lang="ru-RU" sz="1800" dirty="0" err="1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импульсация</a:t>
            </a:r>
            <a:r>
              <a:rPr lang="ru-RU" sz="18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 от всех рецепторов, которые регистрируют последовательные этапы выполнения функций.</a:t>
            </a:r>
            <a:endParaRPr sz="1800" dirty="0">
              <a:solidFill>
                <a:srgbClr val="0230AC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3755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1"/>
          <p:cNvSpPr/>
          <p:nvPr/>
        </p:nvSpPr>
        <p:spPr>
          <a:xfrm>
            <a:off x="0" y="0"/>
            <a:ext cx="72085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2400" b="1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Биологическая теория эмоций П. К. Анохина (1949)</a:t>
            </a:r>
            <a:endParaRPr sz="2400" b="0" i="0" u="none" strike="noStrike" cap="none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27" name="Google Shape;327;p51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51"/>
          <p:cNvSpPr/>
          <p:nvPr/>
        </p:nvSpPr>
        <p:spPr>
          <a:xfrm>
            <a:off x="243360" y="49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Суть биологической теории эмоций: «положительные» эмоции возникают лишь в том случае, если обратная информация от результатов прошедшего действия точно совпадает с аппаратом акцептора действия (АД).</a:t>
            </a: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Наоборот, несовпадение обратных афферентных посылок от неполноценных результатов акта с акцептором действия ведет к беспокойству животных и человека и к поискам новой комбинации </a:t>
            </a:r>
            <a:r>
              <a:rPr lang="ru-RU" sz="1800" dirty="0" err="1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эффекторных</a:t>
            </a:r>
            <a:r>
              <a:rPr lang="ru-RU" sz="18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 возбуждений, которые привели бы к формированию полноценного периферического акта.</a:t>
            </a:r>
            <a:endParaRPr sz="1800" dirty="0">
              <a:solidFill>
                <a:srgbClr val="0230AC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160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1"/>
          <p:cNvSpPr/>
          <p:nvPr/>
        </p:nvSpPr>
        <p:spPr>
          <a:xfrm>
            <a:off x="0" y="0"/>
            <a:ext cx="72085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/>
            <a:r>
              <a:rPr lang="ru-RU" sz="2400" b="1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Информационная теория эмоций П. В. Симонова</a:t>
            </a:r>
            <a:endParaRPr sz="2400" b="0" i="0" u="none" strike="noStrike" cap="none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327" name="Google Shape;327;p51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51"/>
          <p:cNvSpPr/>
          <p:nvPr/>
        </p:nvSpPr>
        <p:spPr>
          <a:xfrm>
            <a:off x="243360" y="49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Эмоции тесно связаны с информацией, получаемой из окружающего мира.</a:t>
            </a: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Обычно эмоция возникает из-за неожиданности события, к которому не успели подготовиться и не могли собрать свою информацию, необходимую для адекватной реакции.</a:t>
            </a: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Симонов П. В. предложил следующую формулу:</a:t>
            </a: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Э = - П * (Ин – Ии)</a:t>
            </a: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Э – эмоция</a:t>
            </a: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П – актуальная потребность</a:t>
            </a: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Ин – информация, необходимая для удовлетворения потребности</a:t>
            </a:r>
          </a:p>
          <a:p>
            <a:pPr marL="343080" lvl="0" indent="-341640">
              <a:spcBef>
                <a:spcPts val="400"/>
              </a:spcBef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dirty="0">
                <a:solidFill>
                  <a:srgbClr val="0230AC"/>
                </a:solidFill>
                <a:latin typeface="Calibri"/>
                <a:ea typeface="Calibri"/>
                <a:cs typeface="Calibri"/>
              </a:rPr>
              <a:t>Ии – имеющаяся на данный момент информация</a:t>
            </a:r>
            <a:endParaRPr sz="1800" dirty="0">
              <a:solidFill>
                <a:srgbClr val="0230AC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283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2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Теория мимической обратной связи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5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52"/>
          <p:cNvSpPr/>
          <p:nvPr/>
        </p:nvSpPr>
        <p:spPr>
          <a:xfrm>
            <a:off x="243360" y="49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Эмоциональное переживание по меньшей мере усиливается обратной связью, возникающей при активации лицевых мышц, которые участвуют в мимической эмоциональной экспрессии; в противном случае мы просто оцениваем событие рассудочно.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Другими словами, улыбающийся человек счастлив, нахмуренный - озабочен или опечален. Именно движения лицевых мышц дают мозгу подсказку, на основе которой он идентифицирует источник эмоции, а не наоборот.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2000" y="3565080"/>
            <a:ext cx="5255280" cy="6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3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Области лица, способные двигаться независимо: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53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53"/>
          <p:cNvSpPr/>
          <p:nvPr/>
        </p:nvSpPr>
        <p:spPr>
          <a:xfrm>
            <a:off x="243360" y="49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брови и лоб;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глаза, веки и переносица;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нижняя часть лица: щеки, рот, большая часть носа и подбородок.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Для каждой из областей существует своя схема движения в каждой из базовых эмоций.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400" b="0" i="1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Удивление</a:t>
            </a:r>
            <a:r>
              <a:rPr lang="ru-RU" sz="14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: брови приподнимаются,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глаза широко раскрываются,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челюсти разжимаются,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а затем размыкаются губы.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9240" y="3458880"/>
            <a:ext cx="1907640" cy="143064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3"/>
          <p:cNvSpPr/>
          <p:nvPr/>
        </p:nvSpPr>
        <p:spPr>
          <a:xfrm>
            <a:off x="4214160" y="2624760"/>
            <a:ext cx="2844000" cy="207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1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Страх</a:t>
            </a:r>
            <a:r>
              <a:rPr lang="ru-RU" sz="14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: брови приподняты и слегка сведены к переносице; верхние веки также подняты, обнажая склеру, нижние веки напряжены; рот приоткрыт, а губы тоже слегка напряжены и оттянуты назад.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35400" y="3286440"/>
            <a:ext cx="2207880" cy="1462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4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54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4"/>
          <p:cNvSpPr/>
          <p:nvPr/>
        </p:nvSpPr>
        <p:spPr>
          <a:xfrm>
            <a:off x="243360" y="49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Наши жесты, в отличие от мимики, можно назвать условными, они зависят от того, к какой культуре принадлежит человек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6840" y="1661400"/>
            <a:ext cx="2950560" cy="318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5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Исследование Карни Ландиса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5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5"/>
          <p:cNvSpPr/>
          <p:nvPr/>
        </p:nvSpPr>
        <p:spPr>
          <a:xfrm>
            <a:off x="243360" y="49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Эксперимент по выявлению взаимосвязи между мимикой и эмоциями человека: характерна ли для людей, испытывающих одинаковые эмоции, универсальная мимика?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Эксперимент не выявил абсолютной универсальности в выражениях лиц людей и не обнаружил прямой связи между мимикой и переживаемой эмоцией.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Самым интересным результатом опыта оказалось то, что большинство участников безропотно выполняли даже самые бессмысленные и жестокие распоряжения облеченного властью экспериментатора.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6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Определения эмоций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6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6"/>
          <p:cNvSpPr/>
          <p:nvPr/>
        </p:nvSpPr>
        <p:spPr>
          <a:xfrm>
            <a:off x="243360" y="85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Эмоции (от лат. emovere – возбуждать, волновать):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Ощущение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Состояние (физиологической возбудимости)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Мыслительный процесс, который оценивает значимость полученного опыта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Описание конфигурации состояний тела, мысли и ситуационных факторов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Наказание Бога за непослушание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7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Влияние эмоций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57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57"/>
          <p:cNvSpPr/>
          <p:nvPr/>
        </p:nvSpPr>
        <p:spPr>
          <a:xfrm>
            <a:off x="216000" y="654480"/>
            <a:ext cx="836388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Компоненты эмоций: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Феноменологический:</a:t>
            </a:r>
            <a:r>
              <a:rPr lang="ru-RU" sz="1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субъективные переживания эмоций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Когнитивный: подвержен влиянию или влияет на мыслительный процесс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Рефлексивный: осознание субъектом своего эмоционального состояния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Физиологический: сопровождающие эмоции физиологические изменения в организме (гормоны, сердцебиение, потоотделение и т.д.)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Экспрессивность: выражение лица, позы, жесты, эмоциональные изменения голоса (вокальная мимика), тембра, громкость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Мотивация: цели и стремления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Влияние эмоциональных состояний на мировосприятие:</a:t>
            </a:r>
            <a:r>
              <a:rPr lang="ru-RU" sz="1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800" b="0" i="0" u="none" strike="noStrike" cap="none" dirty="0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под влиянием эмоций может меняться восприятие явления или события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8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Фазы эмоций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8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8"/>
          <p:cNvSpPr/>
          <p:nvPr/>
        </p:nvSpPr>
        <p:spPr>
          <a:xfrm>
            <a:off x="243360" y="851400"/>
            <a:ext cx="812952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marR="0" lvl="0" indent="-4557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Низкоуровневые: автоматические рефлексы.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5759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Высокоуровневые: точная, осознанная оценка.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5759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Приоритизация целей.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5759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Оценка действия и принятие решений.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5759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Подготовка к действию.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5759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Выполнение действия.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5759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Коммуникации.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9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Базовые эмоции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9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9"/>
          <p:cNvSpPr/>
          <p:nvPr/>
        </p:nvSpPr>
        <p:spPr>
          <a:xfrm>
            <a:off x="243360" y="851400"/>
            <a:ext cx="812952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Классификация Пола Экмана (</a:t>
            </a:r>
            <a:r>
              <a:rPr lang="ru-RU" sz="18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https://youtu.be/lC6BsTio2dQ</a:t>
            </a:r>
            <a:r>
              <a:rPr lang="ru-RU" sz="18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радость;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печаль;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страх;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отвращение;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удивление;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злость;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презрение.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0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Базовые эмоции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60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60"/>
          <p:cNvSpPr/>
          <p:nvPr/>
        </p:nvSpPr>
        <p:spPr>
          <a:xfrm>
            <a:off x="243360" y="851400"/>
            <a:ext cx="812952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Классификация Изарда: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удовольствие – радость;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страх – ужас;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отвращение – омерзение;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удивление – испуг;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гнев – ярость;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горе – страдание;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интерес – возбуждение;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85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AC"/>
              </a:buClr>
              <a:buSzPts val="1800"/>
              <a:buFont typeface="Arial"/>
              <a:buChar char="•"/>
            </a:pPr>
            <a:r>
              <a:rPr lang="ru-RU" sz="18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стыд – унижение.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Описание и значение эмоций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61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61"/>
          <p:cNvSpPr/>
          <p:nvPr/>
        </p:nvSpPr>
        <p:spPr>
          <a:xfrm>
            <a:off x="243360" y="851400"/>
            <a:ext cx="812952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Радость. </a:t>
            </a:r>
            <a:r>
              <a:rPr lang="ru-RU" sz="16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Помогает сближаться и взаимодействовать с другими людьми, формирует психологическую привязанность. Обостряет чувство причастности и единства с миром. Ответ на удовольствие, оправдание надежд и желаний. Поддерживает положительный настрой и вдохновляет.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Печаль. </a:t>
            </a:r>
            <a:r>
              <a:rPr lang="ru-RU" sz="16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Реакция на утрату и образовавшуюся внутреннюю пустоту. Выполняет защитную функцию, стимулируя выход негатива и внутреннего напряжения, что, в свою очередь, не позволяет впасть в длительную депрессию.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Страх. </a:t>
            </a:r>
            <a:r>
              <a:rPr lang="ru-RU" sz="16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Возникает в ситуациях опасности. Личность перестает адекватно оценивать действительность, поэтому не может сконцентрироваться на самой возможности избежать угрозы. Он заставляет человека увеличивать дистанцию между ним и небезопасными факторами. Чем больше расстояние – тем меньше проявления страха. Это мощный стимул и помощник, так как дает возможность одержать верх над опасностью.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2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Описание и значение эмоций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6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62"/>
          <p:cNvSpPr/>
          <p:nvPr/>
        </p:nvSpPr>
        <p:spPr>
          <a:xfrm>
            <a:off x="243360" y="851400"/>
            <a:ext cx="812952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Отвращение (омерзение). </a:t>
            </a:r>
            <a:r>
              <a:rPr lang="ru-RU" sz="14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Реакция отторжения. Может проявляться в отношении предметов, запахов, вкусов, других людей и себя. Подсознательно личность будет стремиться держать дистанцию, что является положительной стороной, так как предупреждает ситуации, которые могут иметь негативные последствия.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Удивление. </a:t>
            </a:r>
            <a:r>
              <a:rPr lang="ru-RU" sz="14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Помогает лучше ориентироваться в окружающей среде, повышает внимание, налаживает отношения и взаимопонимание. Открывает возможности увидеть что-то новое в привычных вещах или окружении. Но если человек встревожен – превращается в испуг.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Злость. </a:t>
            </a:r>
            <a:r>
              <a:rPr lang="ru-RU" sz="14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Выполняет важные функции: сигнализирует о появлении врага или угрозы, стимулирует к борьбе за потребности. Дает энергию и подготавливает тело к защите: фокусирует внимание, уменьшает тревогу и эмпатию, чтобы облегчить нападение в случае необходимости.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Горе (страдание). </a:t>
            </a:r>
            <a:r>
              <a:rPr lang="ru-RU" sz="14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Негативное состояние, связанное с утратой чего-то (кого-то) очень ценного или полной неспособностью удовлетворения крайне важных потребностей. Часто выливается в депрессию.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3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Описание и значение эмоций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63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63"/>
          <p:cNvSpPr/>
          <p:nvPr/>
        </p:nvSpPr>
        <p:spPr>
          <a:xfrm>
            <a:off x="243360" y="851400"/>
            <a:ext cx="812952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Гнев (ярость). </a:t>
            </a:r>
            <a:r>
              <a:rPr lang="ru-RU" sz="16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Подталкивает к переменам в неудовлетворительной ситуации. Конструктивен, только если направлен на изменения, в противном случае выступает как разрушитель. Это эмоция «чистого вида». Является сигнальной системой к изменению взаимодействия с определенными личностями. Подталкивает на разрушение старого и строительство чего-то нового.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Презрение. </a:t>
            </a:r>
            <a:r>
              <a:rPr lang="ru-RU" sz="16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Отрицательная оценка событий или людей. Те, кто испытывает презрение, ощущают свое превосходство. Но если оно направлено на себя, то может спровоцировать затяжную депрессию и суицид. Самое разрушительное эмоциональное состояние для отношений и самого человека. Особо жестокие убийства провоцируются именно ним. Положительными сторонами выступают: стремление личности стать лучше, как способ оценки недостойного поступка.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Стыд (унижение). </a:t>
            </a:r>
            <a:r>
              <a:rPr lang="ru-RU" sz="16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Заставляет человека чувствовать себя неудачником, беспомощным и несостоятельным. С другой стороны, развивает самоконтроль, побуждает к приобретению новых навыков и развитию.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4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Эмоции обеспечивающие выживание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64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64"/>
          <p:cNvSpPr/>
          <p:nvPr/>
        </p:nvSpPr>
        <p:spPr>
          <a:xfrm>
            <a:off x="243360" y="851400"/>
            <a:ext cx="812952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Страх. </a:t>
            </a:r>
            <a:r>
              <a:rPr lang="ru-RU" sz="16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Основа выживания на земле и сохранения вида. Под его воздействием древние люди искали укрытие от природных явлений и диких животных. Развивались осторожность и инстинкт самосохранения. Страх боли научил избегать его источников и продумывать свои шаги, предупреждая опасность. 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Удовольствие. </a:t>
            </a:r>
            <a:r>
              <a:rPr lang="ru-RU" sz="16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Можно назвать много синонимов, но все они подойдут под одно определение – это то, что дарит высшую степень наслаждения, удовлетворение и стремление испытать похожие чувства еще. Легко иллюстрируется на примере младенца-грудничка (реакция малыша на поглаживания по животику и отчетливое проявление блаженства и счастья).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5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Эмоции стимулирующие развитие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65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65"/>
          <p:cNvSpPr/>
          <p:nvPr/>
        </p:nvSpPr>
        <p:spPr>
          <a:xfrm>
            <a:off x="243360" y="851400"/>
            <a:ext cx="812952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Интерес. </a:t>
            </a:r>
            <a:r>
              <a:rPr lang="ru-RU" sz="16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Одна из самых побуждающих. Очень легко сопоставима с двумя рассмотренными ранее. В одном случае стимулирует узнать, как сделать, чтобы не получить негативных последствий, вызывающих страх. А в другом, человек ищет способ получения удовольствия и блаженства. Она подталкивает человека к действию, рассмотрению и поиску новых способов получения желаемого результата. Помогает достичь не только внутреннее удовлетворение, но и получить материальное вознаграждение.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Стыд. </a:t>
            </a:r>
            <a:r>
              <a:rPr lang="ru-RU" sz="1600" b="0" i="0" u="none" strike="noStrike" cap="none">
                <a:solidFill>
                  <a:srgbClr val="0230AC"/>
                </a:solidFill>
                <a:latin typeface="Arial"/>
                <a:ea typeface="Arial"/>
                <a:cs typeface="Arial"/>
                <a:sym typeface="Arial"/>
              </a:rPr>
              <a:t>Очень сложное внутреннее переживание, доступное далеко не каждому. Основано на чутком восприятии впечатлений, доставленных другому человеку своими поступками. Если индивид понимает, что его действие доставило боль и страдание (возможно, просто разочарование), то начинаете испытывать чувство стыда. В дальнейшем личность старается не повторять подобных ошибок. Такой анализ и полученные выводы приводят к внутреннему совершенствованию и развитию.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6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Противоречия теорий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66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66"/>
          <p:cNvSpPr/>
          <p:nvPr/>
        </p:nvSpPr>
        <p:spPr>
          <a:xfrm>
            <a:off x="243360" y="851400"/>
            <a:ext cx="812952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Теории затрагивают различные аспекты, например: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Оценочные теории описывают когнитивные предпосылки.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Дискретные теории указывают физиологические последствия эмоций.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Различные теории отличаются определением, которое они дают «эмоциям», и как учитывают ранее приведенные компоненты и фазы: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Эмоции – </a:t>
            </a:r>
            <a:r>
              <a:rPr lang="ru-RU" sz="20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дискретные</a:t>
            </a: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 или </a:t>
            </a:r>
            <a:r>
              <a:rPr lang="ru-RU" sz="20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непрерывные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Эмоция – </a:t>
            </a:r>
            <a:r>
              <a:rPr lang="ru-RU" sz="20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атомы</a:t>
            </a: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 или </a:t>
            </a:r>
            <a:r>
              <a:rPr lang="ru-RU" sz="20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молекулы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Эмоция – </a:t>
            </a:r>
            <a:r>
              <a:rPr lang="ru-RU" sz="20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восходящая</a:t>
            </a: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ru-RU" sz="20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нисходящая последовательности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7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Дискретные и непрерывные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67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67"/>
          <p:cNvSpPr/>
          <p:nvPr/>
        </p:nvSpPr>
        <p:spPr>
          <a:xfrm>
            <a:off x="243360" y="851400"/>
            <a:ext cx="812952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Дискретные</a:t>
            </a: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 эмоции: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Эмоции как дискретные категории, универсальны для всех людей и животных.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Примеры: радость, злость, отвращение, страх, грусть, удивление (Пол Экман). 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20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Непрерывные</a:t>
            </a: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 (многомерные) эмоции: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Комбинации нескольких психологических измерений.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Пример: эмоция как трехмерная величина с характеристиками возбудимости/спокойствия, удовлетворения/неудовлетворенности и напряжения/расслабления.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8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Дискретные и непрерывные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68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0" name="Google Shape;470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76240" y="829080"/>
            <a:ext cx="4552920" cy="309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040" y="687240"/>
            <a:ext cx="3361680" cy="337392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68"/>
          <p:cNvSpPr/>
          <p:nvPr/>
        </p:nvSpPr>
        <p:spPr>
          <a:xfrm>
            <a:off x="1226880" y="4266000"/>
            <a:ext cx="2106360" cy="30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Колесо Роберта Плутчика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68"/>
          <p:cNvSpPr/>
          <p:nvPr/>
        </p:nvSpPr>
        <p:spPr>
          <a:xfrm>
            <a:off x="4935600" y="4272840"/>
            <a:ext cx="3650040" cy="30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Круговая модель Джеймса Рассела 80-х годов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9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Атом и молекула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69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69"/>
          <p:cNvSpPr/>
          <p:nvPr/>
        </p:nvSpPr>
        <p:spPr>
          <a:xfrm>
            <a:off x="243360" y="851400"/>
            <a:ext cx="812952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Эмоция как </a:t>
            </a:r>
            <a:r>
              <a:rPr lang="ru-RU" sz="20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атом</a:t>
            </a: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Эмоциональные компоненты тесно связаны и могут быть рассмотрены как цепь, связывающая стимулы и реакцию.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Пример: выражение лица, физиологические отклики организма и эмоции четко связаны между собой.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Эмоция как </a:t>
            </a:r>
            <a:r>
              <a:rPr lang="ru-RU" sz="20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молекула</a:t>
            </a: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Эмоции определяются свободной структурой различных компонентов.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Пример: выражение лица, физиологические отклики организма и эмоции могут быть не синхронизированы.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0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Атом и молекула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70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8" name="Google Shape;488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960" y="844200"/>
            <a:ext cx="2510640" cy="37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70"/>
          <p:cNvSpPr/>
          <p:nvPr/>
        </p:nvSpPr>
        <p:spPr>
          <a:xfrm>
            <a:off x="2563560" y="2552760"/>
            <a:ext cx="825840" cy="3207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25400" cap="flat" cmpd="sng">
            <a:solidFill>
              <a:srgbClr val="003F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70"/>
          <p:cNvSpPr/>
          <p:nvPr/>
        </p:nvSpPr>
        <p:spPr>
          <a:xfrm>
            <a:off x="5808600" y="2571840"/>
            <a:ext cx="825840" cy="3207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25400" cap="flat" cmpd="sng">
            <a:solidFill>
              <a:srgbClr val="003F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70"/>
          <p:cNvSpPr/>
          <p:nvPr/>
        </p:nvSpPr>
        <p:spPr>
          <a:xfrm>
            <a:off x="6806880" y="844200"/>
            <a:ext cx="2074680" cy="3783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rgbClr val="003F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Восприятие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Активация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миндалевидного тела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Учащенный сердечный ритм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Дерись, беги, замри.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70"/>
          <p:cNvSpPr/>
          <p:nvPr/>
        </p:nvSpPr>
        <p:spPr>
          <a:xfrm>
            <a:off x="3561840" y="840240"/>
            <a:ext cx="2074680" cy="3783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rgbClr val="003F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СТРАХ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Атом и молекула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71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9" name="Google Shape;499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960" y="844200"/>
            <a:ext cx="2510640" cy="37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71"/>
          <p:cNvSpPr/>
          <p:nvPr/>
        </p:nvSpPr>
        <p:spPr>
          <a:xfrm>
            <a:off x="2563560" y="2552760"/>
            <a:ext cx="825840" cy="3207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25400" cap="flat" cmpd="sng">
            <a:solidFill>
              <a:srgbClr val="003F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71"/>
          <p:cNvSpPr/>
          <p:nvPr/>
        </p:nvSpPr>
        <p:spPr>
          <a:xfrm>
            <a:off x="5808600" y="2091600"/>
            <a:ext cx="825840" cy="3207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25400" cap="flat" cmpd="sng">
            <a:solidFill>
              <a:srgbClr val="003F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71"/>
          <p:cNvSpPr/>
          <p:nvPr/>
        </p:nvSpPr>
        <p:spPr>
          <a:xfrm>
            <a:off x="3561840" y="844200"/>
            <a:ext cx="2074680" cy="3783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rgbClr val="003F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Восприятие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Активация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миндалевидного тела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Учащенный сердечный ритм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Дерись, беги, замри.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71"/>
          <p:cNvSpPr/>
          <p:nvPr/>
        </p:nvSpPr>
        <p:spPr>
          <a:xfrm>
            <a:off x="6806880" y="821160"/>
            <a:ext cx="2074680" cy="3783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>
            <a:solidFill>
              <a:srgbClr val="003F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СТРАХ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71"/>
          <p:cNvSpPr/>
          <p:nvPr/>
        </p:nvSpPr>
        <p:spPr>
          <a:xfrm>
            <a:off x="5808600" y="1195920"/>
            <a:ext cx="825840" cy="3207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25400" cap="flat" cmpd="sng">
            <a:solidFill>
              <a:srgbClr val="003F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71"/>
          <p:cNvSpPr/>
          <p:nvPr/>
        </p:nvSpPr>
        <p:spPr>
          <a:xfrm>
            <a:off x="5808600" y="2985480"/>
            <a:ext cx="825840" cy="3207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25400" cap="flat" cmpd="sng">
            <a:solidFill>
              <a:srgbClr val="003F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71"/>
          <p:cNvSpPr/>
          <p:nvPr/>
        </p:nvSpPr>
        <p:spPr>
          <a:xfrm>
            <a:off x="5812920" y="3879000"/>
            <a:ext cx="825840" cy="3207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25400" cap="flat" cmpd="sng">
            <a:solidFill>
              <a:srgbClr val="003F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72"/>
          <p:cNvSpPr/>
          <p:nvPr/>
        </p:nvSpPr>
        <p:spPr>
          <a:xfrm>
            <a:off x="243360" y="851400"/>
            <a:ext cx="848016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Нисходящая последовательность</a:t>
            </a: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 (эмоции управляют поведением, теория оценивания):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Мысли предшествуют эмоциям, эмоции предшествуют поведению и определяют его.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Пример: за человеком погнались, человек испугался, участилось сердцебиение.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20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Восходящая последовательность </a:t>
            </a: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(поведение управляет эмоциями, конструктивистская теория):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Поведение и отклик организма предшествуют и определяют эмоции и мысли.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Пример: за человеком погнались, участилось сердцебиение, человек испугался.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72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Восходящая и нисходящая последовательность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3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Восходящая и нисходящая последовательность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73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40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73"/>
          <p:cNvSpPr/>
          <p:nvPr/>
        </p:nvSpPr>
        <p:spPr>
          <a:xfrm>
            <a:off x="3485880" y="844200"/>
            <a:ext cx="213696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Теория оценивания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73"/>
          <p:cNvSpPr/>
          <p:nvPr/>
        </p:nvSpPr>
        <p:spPr>
          <a:xfrm>
            <a:off x="3175920" y="2756520"/>
            <a:ext cx="28897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Конструктивистская теория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3" name="Google Shape;523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960" y="844200"/>
            <a:ext cx="2510640" cy="37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6040" y="1545840"/>
            <a:ext cx="2275920" cy="597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7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5880" y="1147320"/>
            <a:ext cx="2155320" cy="140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7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6160" y="3214800"/>
            <a:ext cx="2155320" cy="140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73"/>
          <p:cNvSpPr/>
          <p:nvPr/>
        </p:nvSpPr>
        <p:spPr>
          <a:xfrm>
            <a:off x="5825160" y="1829160"/>
            <a:ext cx="385560" cy="68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528" name="Google Shape;528;p73"/>
          <p:cNvSpPr/>
          <p:nvPr/>
        </p:nvSpPr>
        <p:spPr>
          <a:xfrm>
            <a:off x="2921040" y="1837440"/>
            <a:ext cx="385560" cy="68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529" name="Google Shape;529;p73"/>
          <p:cNvSpPr/>
          <p:nvPr/>
        </p:nvSpPr>
        <p:spPr>
          <a:xfrm>
            <a:off x="2923560" y="3906000"/>
            <a:ext cx="385560" cy="68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sp>
        <p:nvSpPr>
          <p:cNvPr id="530" name="Google Shape;530;p73"/>
          <p:cNvSpPr/>
          <p:nvPr/>
        </p:nvSpPr>
        <p:spPr>
          <a:xfrm>
            <a:off x="5825160" y="3922560"/>
            <a:ext cx="385560" cy="68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160" dir="5400000" rotWithShape="0">
              <a:srgbClr val="000000">
                <a:alpha val="37647"/>
              </a:srgbClr>
            </a:outerShdw>
          </a:effectLst>
        </p:spPr>
      </p:sp>
      <p:pic>
        <p:nvPicPr>
          <p:cNvPr id="531" name="Google Shape;531;p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5400" y="3631320"/>
            <a:ext cx="2275920" cy="597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7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Когнитивистский подход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77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77"/>
          <p:cNvSpPr/>
          <p:nvPr/>
        </p:nvSpPr>
        <p:spPr>
          <a:xfrm>
            <a:off x="243360" y="49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В области взаимодействия человека с компьютером концепция эмоций Розалинд Пикард придерживается когнитивисткого подхода или «информационной модели».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Р. Пикард фокусируется на взаимодействии человека и компьютера с целью «дать компьютерам возможность распознавать, выражать и в некоторых случаях« иметь» эмоции».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Критики Пикард описывают ее концепцию эмоций как «объективную, внутреннюю, частную и механистическую». Эмоции сводятся к дискретному психологическому сигналу, происходящему внутри тела, который можно измерить и который является входным сигналом для познания, снижая сложность эмоционального опыта.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8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Интерактивный подход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78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42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78"/>
          <p:cNvSpPr/>
          <p:nvPr/>
        </p:nvSpPr>
        <p:spPr>
          <a:xfrm>
            <a:off x="243360" y="49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«Посткогнитивистский» или «интерактивный» прагматический подход, принятый Кирстен Бонер и другими, рассматривает эмоции как  социальные по своей сути.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Направлен на то, чтобы помочь «людям понять и испытать свои собственные эмоции» и улучшить межличностное общение с помощью компьютера.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Не стремится отобразить эмоции в объективной математической модели для машинной интерпретации, но скорее позволяет людям разобраться в эмоциональных выражениях друг друга открытым способом, который может быть двусмысленным, субъективным и чувствительным к контексту.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Рассматривает эмоции «как социальный и культурный продукт, переживаемый в ходе наших взаимодействий».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9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Дополнительные материалы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79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 b="1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43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79"/>
          <p:cNvSpPr/>
          <p:nvPr/>
        </p:nvSpPr>
        <p:spPr>
          <a:xfrm>
            <a:off x="243360" y="491400"/>
            <a:ext cx="8272440" cy="40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7 эмоций, лежащие в основе всех чувств: </a:t>
            </a:r>
            <a:r>
              <a:rPr lang="ru-RU" sz="2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https://youtu.be/Q4hgn0DTfb8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Определение эмоций: </a:t>
            </a:r>
            <a:r>
              <a:rPr lang="ru-RU" sz="2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https://youtu.be/mguaJIOfnjI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Эмоции: функции, интенсивность, базовые эмоции: </a:t>
            </a:r>
            <a:r>
              <a:rPr lang="ru-RU" sz="2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https://youtu.be/hgGI-75FMCA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164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230AC"/>
              </a:buClr>
              <a:buSzPts val="2002"/>
              <a:buFont typeface="Calibri"/>
              <a:buChar char="•"/>
            </a:pPr>
            <a:r>
              <a:rPr lang="ru-RU" sz="2000" b="0" i="0" u="none" strike="noStrike" cap="none">
                <a:solidFill>
                  <a:srgbClr val="0230AC"/>
                </a:solidFill>
                <a:latin typeface="Calibri"/>
                <a:ea typeface="Calibri"/>
                <a:cs typeface="Calibri"/>
                <a:sym typeface="Calibri"/>
              </a:rPr>
              <a:t>Базовые эмоции: </a:t>
            </a:r>
            <a:r>
              <a:rPr lang="ru-RU" sz="2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https://youtu.be/Wr8bTIRiaoY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0"/>
          <p:cNvSpPr/>
          <p:nvPr/>
        </p:nvSpPr>
        <p:spPr>
          <a:xfrm>
            <a:off x="457200" y="1699920"/>
            <a:ext cx="822816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внимание!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3869</Words>
  <Application>Microsoft Office PowerPoint</Application>
  <PresentationFormat>Экран (16:9)</PresentationFormat>
  <Paragraphs>428</Paragraphs>
  <Slides>44</Slides>
  <Notes>44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44</vt:i4>
      </vt:variant>
    </vt:vector>
  </HeadingPairs>
  <TitlesOfParts>
    <vt:vector size="50" baseType="lpstr">
      <vt:lpstr>Arial</vt:lpstr>
      <vt:lpstr>Calibri</vt:lpstr>
      <vt:lpstr>Times New Roman</vt:lpstr>
      <vt:lpstr>Office Theme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26</cp:revision>
  <dcterms:modified xsi:type="dcterms:W3CDTF">2025-05-26T17:49:19Z</dcterms:modified>
</cp:coreProperties>
</file>