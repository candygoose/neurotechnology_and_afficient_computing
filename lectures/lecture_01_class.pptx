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3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83" r:id="rId11"/>
    <p:sldId id="284" r:id="rId12"/>
    <p:sldId id="264" r:id="rId13"/>
    <p:sldId id="281" r:id="rId14"/>
    <p:sldId id="282" r:id="rId15"/>
    <p:sldId id="263" r:id="rId16"/>
    <p:sldId id="285" r:id="rId17"/>
    <p:sldId id="286" r:id="rId18"/>
    <p:sldId id="265" r:id="rId19"/>
    <p:sldId id="280" r:id="rId20"/>
    <p:sldId id="266" r:id="rId21"/>
    <p:sldId id="267" r:id="rId22"/>
    <p:sldId id="268" r:id="rId23"/>
    <p:sldId id="269" r:id="rId24"/>
    <p:sldId id="270" r:id="rId25"/>
    <p:sldId id="271" r:id="rId26"/>
    <p:sldId id="278" r:id="rId27"/>
    <p:sldId id="279" r:id="rId28"/>
    <p:sldId id="272" r:id="rId29"/>
    <p:sldId id="273" r:id="rId30"/>
    <p:sldId id="274" r:id="rId31"/>
    <p:sldId id="275" r:id="rId32"/>
    <p:sldId id="276" r:id="rId33"/>
    <p:sldId id="277" r:id="rId34"/>
  </p:sldIdLst>
  <p:sldSz cx="9144000" cy="5143500" type="screen16x9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118" autoAdjust="0"/>
  </p:normalViewPr>
  <p:slideViewPr>
    <p:cSldViewPr snapToGrid="0">
      <p:cViewPr varScale="1">
        <p:scale>
          <a:sx n="126" d="100"/>
          <a:sy n="126" d="100"/>
        </p:scale>
        <p:origin x="111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400" b="0" strike="noStrike" spc="-1">
                <a:latin typeface="Arial"/>
              </a:rPr>
              <a:t>Для перемещения страницы щёлкните мышью</a:t>
            </a: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ru-RU" sz="2000" b="0" strike="noStrike" spc="-1">
                <a:latin typeface="Arial"/>
              </a:rPr>
              <a:t>Для правки формата примечаний щёлкните мышью</a:t>
            </a:r>
          </a:p>
        </p:txBody>
      </p:sp>
      <p:sp>
        <p:nvSpPr>
          <p:cNvPr id="11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ru-RU" sz="1400" b="0" strike="noStrike" spc="-1">
                <a:latin typeface="Times New Roman"/>
              </a:rPr>
              <a:t> </a:t>
            </a:r>
          </a:p>
        </p:txBody>
      </p:sp>
      <p:sp>
        <p:nvSpPr>
          <p:cNvPr id="120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ru-RU" sz="1400" b="0" strike="noStrike" spc="-1">
                <a:latin typeface="Times New Roman"/>
              </a:rPr>
              <a:t> </a:t>
            </a:r>
          </a:p>
        </p:txBody>
      </p:sp>
      <p:sp>
        <p:nvSpPr>
          <p:cNvPr id="121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ru-RU" sz="1400" b="0" strike="noStrike" spc="-1">
                <a:latin typeface="Times New Roman"/>
              </a:rPr>
              <a:t> </a:t>
            </a:r>
          </a:p>
        </p:txBody>
      </p:sp>
      <p:sp>
        <p:nvSpPr>
          <p:cNvPr id="122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B56986B5-0F52-4F42-9BEA-6088F900BD9D}" type="slidenum">
              <a:rPr lang="ru-RU" sz="1400" b="0" strike="noStrike" spc="-1">
                <a:latin typeface="Times New Roman"/>
              </a:rPr>
              <a:t>‹#›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r>
              <a:rPr lang="ru-RU" sz="2000" b="0" strike="noStrike" spc="-1">
                <a:latin typeface="Arial"/>
              </a:rPr>
              <a:t>Эмоции играют важную роль в жизни человека.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518400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216000" indent="-216000">
              <a:lnSpc>
                <a:spcPct val="100000"/>
              </a:lnSpc>
            </a:pPr>
            <a:r>
              <a:rPr lang="ru-RU" sz="2000" b="0" strike="noStrike" spc="-1" dirty="0">
                <a:latin typeface="Arial"/>
              </a:rPr>
              <a:t>Появление направления эмоциональных вычислений, или </a:t>
            </a:r>
            <a:r>
              <a:rPr lang="ru-RU" sz="2000" b="0" strike="noStrike" spc="-1" dirty="0" err="1">
                <a:latin typeface="Arial"/>
              </a:rPr>
              <a:t>Affective</a:t>
            </a:r>
            <a:r>
              <a:rPr lang="ru-RU" sz="2000" b="0" strike="noStrike" spc="-1" dirty="0">
                <a:latin typeface="Arial"/>
              </a:rPr>
              <a:t> </a:t>
            </a:r>
            <a:r>
              <a:rPr lang="ru-RU" sz="2000" b="0" strike="noStrike" spc="-1" dirty="0" err="1">
                <a:latin typeface="Arial"/>
              </a:rPr>
              <a:t>Computing</a:t>
            </a:r>
            <a:r>
              <a:rPr lang="ru-RU" sz="2000" b="0" strike="noStrike" spc="-1" dirty="0">
                <a:latin typeface="Arial"/>
              </a:rPr>
              <a:t>, относится к 1995 году, когда </a:t>
            </a:r>
            <a:r>
              <a:rPr lang="ru-RU" sz="2000" b="0" strike="noStrike" spc="-1" dirty="0" err="1">
                <a:latin typeface="Arial"/>
              </a:rPr>
              <a:t>Розалинд</a:t>
            </a:r>
            <a:r>
              <a:rPr lang="ru-RU" sz="2000" b="0" strike="noStrike" spc="-1" dirty="0">
                <a:latin typeface="Arial"/>
              </a:rPr>
              <a:t> </a:t>
            </a:r>
            <a:r>
              <a:rPr lang="ru-RU" sz="2000" b="0" strike="noStrike" spc="-1" dirty="0" err="1">
                <a:latin typeface="Arial"/>
              </a:rPr>
              <a:t>Пикард</a:t>
            </a:r>
            <a:r>
              <a:rPr lang="ru-RU" sz="2000" b="0" strike="noStrike" spc="-1" dirty="0">
                <a:latin typeface="Arial"/>
              </a:rPr>
              <a:t> опубликовала свою книгу под названием </a:t>
            </a:r>
            <a:r>
              <a:rPr lang="ru-RU" sz="2000" b="0" strike="noStrike" spc="-1" dirty="0" err="1">
                <a:latin typeface="Arial"/>
              </a:rPr>
              <a:t>Affective</a:t>
            </a:r>
            <a:r>
              <a:rPr lang="ru-RU" sz="2000" b="0" strike="noStrike" spc="-1" dirty="0">
                <a:latin typeface="Arial"/>
              </a:rPr>
              <a:t> </a:t>
            </a:r>
            <a:r>
              <a:rPr lang="ru-RU" sz="2000" b="0" strike="noStrike" spc="-1" dirty="0" err="1">
                <a:latin typeface="Arial"/>
              </a:rPr>
              <a:t>Computing</a:t>
            </a:r>
            <a:r>
              <a:rPr lang="ru-RU" sz="2000" b="0" strike="noStrike" spc="-1" dirty="0">
                <a:latin typeface="Arial"/>
              </a:rPr>
              <a:t>.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r>
              <a:rPr lang="ru-RU" sz="2000" b="0" strike="noStrike" spc="-1" dirty="0">
                <a:latin typeface="Arial"/>
              </a:rPr>
              <a:t>Когнитивная наука — это междисциплинарное научное изучение сознания и его процессов с привлечением лингвистики, психологии, </a:t>
            </a:r>
            <a:r>
              <a:rPr lang="ru-RU" sz="2000" b="0" strike="noStrike" spc="-1" dirty="0" err="1">
                <a:latin typeface="Arial"/>
              </a:rPr>
              <a:t>нейробиологии</a:t>
            </a:r>
            <a:r>
              <a:rPr lang="ru-RU" sz="2000" b="0" strike="noStrike" spc="-1" dirty="0">
                <a:latin typeface="Arial"/>
              </a:rPr>
              <a:t>, философии, информатики, ИИ и антропологии. Изучает природу, задачи и функции познания (в широком смысле)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B56986B5-0F52-4F42-9BEA-6088F900BD9D}" type="slidenum">
              <a:rPr lang="ru-RU" sz="1400" b="0" strike="noStrike" spc="-1" smtClean="0">
                <a:latin typeface="Times New Roman"/>
              </a:rPr>
              <a:t>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800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Некоторые аффективные состояния, например, депрессия, могут иметь неопределенную длительность.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B56986B5-0F52-4F42-9BEA-6088F900BD9D}" type="slidenum">
              <a:rPr lang="ru-RU" sz="1400" b="0" strike="noStrike" spc="-1" smtClean="0">
                <a:latin typeface="Times New Roman"/>
              </a:rPr>
              <a:t>7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69324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6850"/>
          </a:xfrm>
          <a:prstGeom prst="rect">
            <a:avLst/>
          </a:prstGeom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56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216000" indent="-215640">
              <a:lnSpc>
                <a:spcPct val="100000"/>
              </a:lnSpc>
            </a:pPr>
            <a:r>
              <a:rPr lang="ru-RU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Зависть = </a:t>
            </a:r>
            <a:r>
              <a:rPr lang="ru-RU" sz="12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интерес+гнев+стыд</a:t>
            </a:r>
            <a:endParaRPr lang="ru-RU" sz="1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4711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B56986B5-0F52-4F42-9BEA-6088F900BD9D}" type="slidenum">
              <a:rPr lang="ru-RU" sz="1400" b="0" strike="noStrike" spc="-1" smtClean="0">
                <a:latin typeface="Times New Roman"/>
              </a:rPr>
              <a:t>11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82485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B56986B5-0F52-4F42-9BEA-6088F900BD9D}" type="slidenum">
              <a:rPr lang="ru-RU" sz="1400" b="0" strike="noStrike" spc="-1" smtClean="0">
                <a:latin typeface="Times New Roman"/>
              </a:rPr>
              <a:t>12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13575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5900" y="812800"/>
            <a:ext cx="7126288" cy="4008438"/>
          </a:xfrm>
          <a:prstGeom prst="rect">
            <a:avLst/>
          </a:prstGeom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216000" indent="-215640" algn="l" defTabSz="914400" rtl="0" eaLnBrk="1" latinLnBrk="0" hangingPunct="1">
              <a:lnSpc>
                <a:spcPct val="100000"/>
              </a:lnSpc>
            </a:pPr>
            <a:endParaRPr lang="ru-RU" sz="1200" b="0" strike="noStrike" kern="1200" spc="-1" dirty="0">
              <a:solidFill>
                <a:srgbClr val="000000"/>
              </a:solidFill>
              <a:latin typeface="Times New Roman"/>
              <a:ea typeface="Times New Roman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04476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6850"/>
          </a:xfrm>
          <a:prstGeom prst="rect">
            <a:avLst/>
          </a:prstGeom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560" cy="481104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216000" indent="-215640" algn="l" defTabSz="914400" rtl="0" eaLnBrk="1" latinLnBrk="0" hangingPunct="1">
              <a:lnSpc>
                <a:spcPct val="100000"/>
              </a:lnSpc>
            </a:pPr>
            <a:endParaRPr lang="ru-RU" sz="1200" b="0" strike="noStrike" kern="1200" spc="-1" dirty="0">
              <a:solidFill>
                <a:srgbClr val="000000"/>
              </a:solidFill>
              <a:latin typeface="Times New Roman"/>
              <a:ea typeface="Times New Roman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04185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16000" indent="-215640">
              <a:lnSpc>
                <a:spcPct val="100000"/>
              </a:lnSpc>
            </a:pPr>
            <a:r>
              <a:rPr lang="ru-RU" sz="1200" b="0" strike="noStrike" kern="1200" spc="-1" dirty="0" smtClean="0">
                <a:solidFill>
                  <a:srgbClr val="000000"/>
                </a:solidFill>
                <a:latin typeface="Times New Roman"/>
                <a:ea typeface="Times New Roman"/>
                <a:cs typeface="+mn-cs"/>
              </a:rPr>
              <a:t>Пример смешанной модели эмоций.</a:t>
            </a:r>
          </a:p>
          <a:p>
            <a:pPr marL="216000" indent="-215640">
              <a:lnSpc>
                <a:spcPct val="100000"/>
              </a:lnSpc>
            </a:pPr>
            <a:r>
              <a:rPr lang="ru-RU" sz="1200" b="0" strike="noStrike" kern="1200" spc="-1" dirty="0" smtClean="0">
                <a:solidFill>
                  <a:srgbClr val="000000"/>
                </a:solidFill>
                <a:latin typeface="Times New Roman"/>
                <a:ea typeface="Times New Roman"/>
                <a:cs typeface="+mn-cs"/>
              </a:rPr>
              <a:t>С одной стороны это категориальная модель, </a:t>
            </a:r>
            <a:r>
              <a:rPr lang="ru-RU" sz="1200" b="0" strike="noStrike" kern="1200" spc="-1" dirty="0" smtClean="0">
                <a:solidFill>
                  <a:srgbClr val="000000"/>
                </a:solidFill>
                <a:latin typeface="Times New Roman"/>
                <a:ea typeface="Times New Roman"/>
                <a:cs typeface="+mn-cs"/>
              </a:rPr>
              <a:t>с </a:t>
            </a:r>
            <a:r>
              <a:rPr lang="ru-RU" sz="1200" b="0" strike="noStrike" kern="1200" spc="-1" dirty="0" smtClean="0">
                <a:solidFill>
                  <a:srgbClr val="000000"/>
                </a:solidFill>
                <a:latin typeface="Times New Roman"/>
                <a:ea typeface="Times New Roman"/>
                <a:cs typeface="+mn-cs"/>
              </a:rPr>
              <a:t>другой стороны она включает смешанные эмоции и отображает интенсивность (чем более яркий цвет, тем более выражена сама эмоция).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B56986B5-0F52-4F42-9BEA-6088F900BD9D}" type="slidenum">
              <a:rPr lang="ru-RU" sz="1400" b="0" strike="noStrike" spc="-1" smtClean="0">
                <a:latin typeface="Times New Roman"/>
              </a:rPr>
              <a:t>16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61883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Астенические эмоции часто трактуются как отрицательные, так как мешают человеку достигать цели, хорошо работать.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B56986B5-0F52-4F42-9BEA-6088F900BD9D}" type="slidenum">
              <a:rPr lang="ru-RU" sz="1400" b="0" strike="noStrike" spc="-1" smtClean="0">
                <a:latin typeface="Times New Roman"/>
              </a:rPr>
              <a:t>17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11811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Эмоции необходимы для нормального развития человека. </a:t>
            </a:r>
          </a:p>
          <a:p>
            <a:r>
              <a:rPr lang="ru-RU" dirty="0" smtClean="0"/>
              <a:t>Потребность в эмоциональном насыщении удовлетворяется человеком во время борьбы за достижение разных целей</a:t>
            </a:r>
            <a:r>
              <a:rPr lang="ru-RU" dirty="0" smtClean="0"/>
              <a:t>.</a:t>
            </a: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B56986B5-0F52-4F42-9BEA-6088F900BD9D}" type="slidenum">
              <a:rPr lang="ru-RU" sz="1400" b="0" strike="noStrike" spc="-1" smtClean="0">
                <a:latin typeface="Times New Roman"/>
              </a:rPr>
              <a:t>23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71997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B56986B5-0F52-4F42-9BEA-6088F900BD9D}" type="slidenum">
              <a:rPr lang="ru-RU" sz="1400" b="0" strike="noStrike" spc="-1" smtClean="0">
                <a:latin typeface="Times New Roman"/>
              </a:rPr>
              <a:t>24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34219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B56986B5-0F52-4F42-9BEA-6088F900BD9D}" type="slidenum">
              <a:rPr lang="ru-RU" sz="1400" b="0" strike="noStrike" spc="-1" smtClean="0">
                <a:latin typeface="Times New Roman"/>
              </a:rPr>
              <a:t>25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4592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 fontScale="49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5098320" y="490320"/>
            <a:ext cx="183600" cy="36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2"/>
          <p:cNvSpPr/>
          <p:nvPr/>
        </p:nvSpPr>
        <p:spPr>
          <a:xfrm>
            <a:off x="5910840" y="427320"/>
            <a:ext cx="183600" cy="36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400" b="0" strike="noStrike" spc="-1"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 fontScale="8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ustomShape 1"/>
          <p:cNvSpPr/>
          <p:nvPr/>
        </p:nvSpPr>
        <p:spPr>
          <a:xfrm>
            <a:off x="171360" y="4280040"/>
            <a:ext cx="1675440" cy="703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round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400" b="0" strike="noStrike" spc="-1"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 fontScale="88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400" b="0" strike="noStrike" spc="-1"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 fontScale="88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0" y="2294280"/>
            <a:ext cx="9142920" cy="704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3200" b="0" strike="noStrike" spc="-1">
                <a:solidFill>
                  <a:srgbClr val="FFFFFF"/>
                </a:solidFill>
                <a:latin typeface="Calibri"/>
                <a:ea typeface="DejaVu Sans"/>
              </a:rPr>
              <a:t>Нейротехнологии и аффективные вычисления</a:t>
            </a:r>
            <a:endParaRPr lang="ru-RU" sz="3200" b="0" strike="noStrike" spc="-1"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0" y="3720600"/>
            <a:ext cx="9142920" cy="461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5" name="CustomShape 3"/>
          <p:cNvSpPr/>
          <p:nvPr/>
        </p:nvSpPr>
        <p:spPr>
          <a:xfrm>
            <a:off x="0" y="4667400"/>
            <a:ext cx="9142920" cy="303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Аффективные вычисления 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 dirty="0">
              <a:latin typeface="Arial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F23DEE8B-7102-459E-B28D-8333F9A6F20F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28" name="CustomShape 3"/>
          <p:cNvSpPr/>
          <p:nvPr/>
        </p:nvSpPr>
        <p:spPr>
          <a:xfrm>
            <a:off x="457200" y="833400"/>
            <a:ext cx="6052680" cy="4025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Аффективные вычисления </a:t>
            </a: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(Affective Computing) –</a:t>
            </a:r>
            <a:r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это вычисления, которые связаны с эмоциями или другими аффективными явлениями, возникают из них или преднамеренно влияют на них (Розалинд Пикар).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800"/>
              </a:spcBef>
              <a:buSzPct val="100045"/>
              <a:buBlip>
                <a:blip r:embed="rId3"/>
              </a:buBlip>
            </a:pPr>
            <a:r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Аффективные вычисления </a:t>
            </a: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– область ИИ, исследующая компьютерные методы и технологии, обеспечивающие естественное взаимодействие между машиной (роботом) и человеком с учетом его психоэмоционального состояния.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800"/>
              </a:spcBef>
              <a:buSzPct val="100045"/>
              <a:buBlip>
                <a:blip r:embed="rId3"/>
              </a:buBlip>
            </a:pPr>
            <a:r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Аффективные вычисления </a:t>
            </a: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включают в себя исследования и разработку систем и устройств, которые могут распознавать, интерпретировать, обрабатывать и моделировать человеческие аффекты.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29" name="Picture 2"/>
          <p:cNvPicPr/>
          <p:nvPr/>
        </p:nvPicPr>
        <p:blipFill>
          <a:blip r:embed="rId4"/>
          <a:stretch/>
        </p:blipFill>
        <p:spPr>
          <a:xfrm>
            <a:off x="6667560" y="833400"/>
            <a:ext cx="2363760" cy="2968920"/>
          </a:xfrm>
          <a:prstGeom prst="rect">
            <a:avLst/>
          </a:prstGeom>
          <a:ln>
            <a:noFill/>
          </a:ln>
        </p:spPr>
      </p:pic>
      <p:sp>
        <p:nvSpPr>
          <p:cNvPr id="130" name="CustomShape 4"/>
          <p:cNvSpPr/>
          <p:nvPr/>
        </p:nvSpPr>
        <p:spPr>
          <a:xfrm>
            <a:off x="6489360" y="3803400"/>
            <a:ext cx="2720160" cy="515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strike="noStrike" spc="-1">
                <a:solidFill>
                  <a:srgbClr val="0230AC"/>
                </a:solidFill>
                <a:latin typeface="Calibri"/>
                <a:ea typeface="DejaVu Sans"/>
              </a:rPr>
              <a:t>Розалинд Пикар</a:t>
            </a:r>
            <a:endParaRPr lang="ru-RU" sz="1400" b="0" strike="noStrike" spc="-1">
              <a:latin typeface="Arial"/>
            </a:endParaRPr>
          </a:p>
          <a:p>
            <a:r>
              <a:rPr lang="es-ES" sz="1400" b="0" strike="noStrike" spc="-1">
                <a:solidFill>
                  <a:srgbClr val="0230AC"/>
                </a:solidFill>
                <a:latin typeface="Calibri"/>
                <a:ea typeface="DejaVu Sans"/>
              </a:rPr>
              <a:t>http://www.media.mit.edu/picard/</a:t>
            </a:r>
            <a:endParaRPr lang="es-ES" sz="1400" b="0" strike="noStrike" spc="-1">
              <a:solidFill>
                <a:srgbClr val="000000"/>
              </a:solidFill>
              <a:latin typeface="T4"/>
              <a:ea typeface="T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Основные вопросы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latin typeface="Arial"/>
            </a:endParaRPr>
          </a:p>
        </p:txBody>
      </p:sp>
      <p:sp>
        <p:nvSpPr>
          <p:cNvPr id="132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70BDC37C-D226-47BE-9349-4438CEC2D47D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3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33" name="CustomShape 3"/>
          <p:cNvSpPr/>
          <p:nvPr/>
        </p:nvSpPr>
        <p:spPr>
          <a:xfrm>
            <a:off x="457200" y="653400"/>
            <a:ext cx="4945680" cy="4025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lnSpc>
                <a:spcPct val="100000"/>
              </a:lnSpc>
              <a:spcBef>
                <a:spcPts val="1800"/>
              </a:spcBef>
              <a:buSzPct val="100045"/>
              <a:buBlip>
                <a:blip r:embed="rId2"/>
              </a:buBlip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Как аффект влияет на </a:t>
            </a:r>
            <a:r>
              <a:rPr lang="ru-RU" sz="1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взаимодействие человека с компьютером или роботом</a:t>
            </a: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?</a:t>
            </a:r>
            <a:endParaRPr lang="ru-RU" sz="18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800"/>
              </a:spcBef>
              <a:buSzPct val="100045"/>
              <a:buBlip>
                <a:blip r:embed="rId2"/>
              </a:buBlip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Можно ли </a:t>
            </a:r>
            <a:r>
              <a:rPr lang="ru-RU" sz="1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перенести человеческие эмоции на вычислительные системы</a:t>
            </a: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?</a:t>
            </a:r>
            <a:endParaRPr lang="ru-RU" sz="18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800"/>
              </a:spcBef>
              <a:buSzPct val="100045"/>
              <a:buBlip>
                <a:blip r:embed="rId2"/>
              </a:buBlip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Как распознавание аффектов поможет  </a:t>
            </a:r>
            <a:r>
              <a:rPr lang="ru-RU" sz="1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пониманию людей машинами</a:t>
            </a: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? Почему важно </a:t>
            </a:r>
            <a:r>
              <a:rPr lang="ru-RU" sz="1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добиваться от роботов эмоциональной отдачи</a:t>
            </a: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?</a:t>
            </a:r>
            <a:endParaRPr lang="ru-RU" sz="18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800"/>
              </a:spcBef>
              <a:buSzPct val="100045"/>
              <a:buBlip>
                <a:blip r:embed="rId2"/>
              </a:buBlip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Как сделать </a:t>
            </a:r>
            <a:r>
              <a:rPr lang="ru-RU" sz="1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человекоподобные компьютеры и машины</a:t>
            </a: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?</a:t>
            </a:r>
            <a:endParaRPr lang="ru-RU" sz="18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800"/>
              </a:spcBef>
              <a:buSzPct val="100045"/>
              <a:buBlip>
                <a:blip r:embed="rId2"/>
              </a:buBlip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Этические вопросы “наделения” машин </a:t>
            </a:r>
            <a:r>
              <a:rPr lang="ru-RU" sz="1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эмоциональным интеллектом</a:t>
            </a: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.  </a:t>
            </a:r>
            <a:endParaRPr lang="ru-RU" sz="1800" b="0" strike="noStrike" spc="-1" dirty="0">
              <a:latin typeface="Arial"/>
            </a:endParaRPr>
          </a:p>
        </p:txBody>
      </p:sp>
      <p:pic>
        <p:nvPicPr>
          <p:cNvPr id="134" name="Рисунок 1"/>
          <p:cNvPicPr/>
          <p:nvPr/>
        </p:nvPicPr>
        <p:blipFill>
          <a:blip r:embed="rId3"/>
          <a:stretch/>
        </p:blipFill>
        <p:spPr>
          <a:xfrm>
            <a:off x="5883120" y="833400"/>
            <a:ext cx="2900520" cy="3351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Аффективные вычисления 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latin typeface="Arial"/>
            </a:endParaRPr>
          </a:p>
        </p:txBody>
      </p:sp>
      <p:sp>
        <p:nvSpPr>
          <p:cNvPr id="136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8B1E106D-555F-4B27-A843-4B934991AA69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4</a:t>
            </a:fld>
            <a:endParaRPr lang="ru-RU" sz="1800" b="0" strike="noStrike" spc="-1">
              <a:latin typeface="Arial"/>
            </a:endParaRPr>
          </a:p>
        </p:txBody>
      </p:sp>
      <p:pic>
        <p:nvPicPr>
          <p:cNvPr id="137" name="Picture 2"/>
          <p:cNvPicPr/>
          <p:nvPr/>
        </p:nvPicPr>
        <p:blipFill>
          <a:blip r:embed="rId2"/>
          <a:stretch/>
        </p:blipFill>
        <p:spPr>
          <a:xfrm>
            <a:off x="1546200" y="1185840"/>
            <a:ext cx="6098040" cy="2924640"/>
          </a:xfrm>
          <a:prstGeom prst="rect">
            <a:avLst/>
          </a:prstGeom>
          <a:ln>
            <a:noFill/>
          </a:ln>
        </p:spPr>
      </p:pic>
      <p:sp>
        <p:nvSpPr>
          <p:cNvPr id="138" name="CustomShape 3"/>
          <p:cNvSpPr/>
          <p:nvPr/>
        </p:nvSpPr>
        <p:spPr>
          <a:xfrm>
            <a:off x="145440" y="3346560"/>
            <a:ext cx="23598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Компьютерные науки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39" name="CustomShape 4"/>
          <p:cNvSpPr/>
          <p:nvPr/>
        </p:nvSpPr>
        <p:spPr>
          <a:xfrm>
            <a:off x="6851160" y="3346560"/>
            <a:ext cx="21265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Когнитивные науки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40" name="CustomShape 5"/>
          <p:cNvSpPr/>
          <p:nvPr/>
        </p:nvSpPr>
        <p:spPr>
          <a:xfrm>
            <a:off x="3929400" y="4070520"/>
            <a:ext cx="13309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Психология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41" name="TextShape 6"/>
          <p:cNvSpPr txBox="1"/>
          <p:nvPr/>
        </p:nvSpPr>
        <p:spPr>
          <a:xfrm>
            <a:off x="864000" y="792000"/>
            <a:ext cx="6488640" cy="3207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spAutoFit/>
          </a:bodyPr>
          <a:lstStyle/>
          <a:p>
            <a:r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Аффективные вычисления </a:t>
            </a: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– интердисциплинарная область 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Когнитивные науки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latin typeface="Arial"/>
            </a:endParaRPr>
          </a:p>
        </p:txBody>
      </p:sp>
      <p:sp>
        <p:nvSpPr>
          <p:cNvPr id="143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A5834FDE-3A68-4FCA-B948-6FE3FD2F291C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5</a:t>
            </a:fld>
            <a:endParaRPr lang="ru-RU" sz="1800" b="0" strike="noStrike" spc="-1">
              <a:latin typeface="Arial"/>
            </a:endParaRPr>
          </a:p>
        </p:txBody>
      </p:sp>
      <p:pic>
        <p:nvPicPr>
          <p:cNvPr id="144" name="Рисунок 4"/>
          <p:cNvPicPr/>
          <p:nvPr/>
        </p:nvPicPr>
        <p:blipFill>
          <a:blip r:embed="rId3"/>
          <a:stretch/>
        </p:blipFill>
        <p:spPr>
          <a:xfrm>
            <a:off x="4422353" y="843752"/>
            <a:ext cx="3929400" cy="3929400"/>
          </a:xfrm>
          <a:prstGeom prst="rect">
            <a:avLst/>
          </a:prstGeom>
          <a:ln>
            <a:noFill/>
          </a:ln>
        </p:spPr>
      </p:pic>
      <p:sp>
        <p:nvSpPr>
          <p:cNvPr id="2" name="Прямоугольник 1"/>
          <p:cNvSpPr/>
          <p:nvPr/>
        </p:nvSpPr>
        <p:spPr>
          <a:xfrm>
            <a:off x="96252" y="960388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i="1" spc="-1" dirty="0">
                <a:solidFill>
                  <a:srgbClr val="0230AC"/>
                </a:solidFill>
                <a:latin typeface="Calibri"/>
                <a:ea typeface="DejaVu Sans"/>
              </a:rPr>
              <a:t>Когнитивная наука </a:t>
            </a:r>
            <a:r>
              <a:rPr lang="ru-RU" spc="-1" dirty="0">
                <a:solidFill>
                  <a:srgbClr val="0230AC"/>
                </a:solidFill>
                <a:latin typeface="Calibri"/>
                <a:ea typeface="DejaVu Sans"/>
              </a:rPr>
              <a:t>— это междисциплинарное научное изучение сознания и его процессов с привлечением лингвистики, психологии, </a:t>
            </a:r>
            <a:r>
              <a:rPr lang="ru-RU" spc="-1" dirty="0" err="1">
                <a:solidFill>
                  <a:srgbClr val="0230AC"/>
                </a:solidFill>
                <a:latin typeface="Calibri"/>
                <a:ea typeface="DejaVu Sans"/>
              </a:rPr>
              <a:t>нейробиологии</a:t>
            </a:r>
            <a:r>
              <a:rPr lang="ru-RU" spc="-1" dirty="0">
                <a:solidFill>
                  <a:srgbClr val="0230AC"/>
                </a:solidFill>
                <a:latin typeface="Calibri"/>
                <a:ea typeface="DejaVu Sans"/>
              </a:rPr>
              <a:t>, философии, информатики, ИИ и антропологии. </a:t>
            </a:r>
            <a:endParaRPr lang="ru-RU" spc="-1" dirty="0" smtClean="0">
              <a:solidFill>
                <a:srgbClr val="0230AC"/>
              </a:solidFill>
              <a:latin typeface="Calibri"/>
              <a:ea typeface="DejaVu Sans"/>
            </a:endParaRPr>
          </a:p>
          <a:p>
            <a:r>
              <a:rPr lang="ru-RU" spc="-1" dirty="0" smtClean="0">
                <a:solidFill>
                  <a:srgbClr val="0230AC"/>
                </a:solidFill>
                <a:latin typeface="Calibri"/>
                <a:ea typeface="DejaVu Sans"/>
              </a:rPr>
              <a:t>Изучает </a:t>
            </a:r>
            <a:r>
              <a:rPr lang="ru-RU" spc="-1" dirty="0">
                <a:solidFill>
                  <a:srgbClr val="0230AC"/>
                </a:solidFill>
                <a:latin typeface="Calibri"/>
                <a:ea typeface="DejaVu Sans"/>
              </a:rPr>
              <a:t>природу, задачи и функции познания (в широком смысле)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Аффективные психоэмоциональные состояния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latin typeface="Arial"/>
            </a:endParaRPr>
          </a:p>
        </p:txBody>
      </p:sp>
      <p:sp>
        <p:nvSpPr>
          <p:cNvPr id="146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9DC29045-BAEE-4401-A0A1-7443218AE3D5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6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47" name="CustomShape 3"/>
          <p:cNvSpPr/>
          <p:nvPr/>
        </p:nvSpPr>
        <p:spPr>
          <a:xfrm>
            <a:off x="409072" y="785273"/>
            <a:ext cx="8398043" cy="236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r>
              <a:rPr lang="ru-RU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Аффект и эмоции </a:t>
            </a:r>
            <a:r>
              <a:rPr lang="ru-RU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– короткие и интенсивные переживания человека.</a:t>
            </a:r>
            <a:endParaRPr lang="ru-RU" b="0" strike="noStrike" spc="-1" dirty="0">
              <a:latin typeface="Arial"/>
            </a:endParaRPr>
          </a:p>
          <a:p>
            <a:r>
              <a:rPr lang="ru-RU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Эмоции</a:t>
            </a:r>
            <a:r>
              <a:rPr lang="ru-RU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r>
              <a:rPr lang="ru-RU" b="0" strike="noStrike" spc="-1" dirty="0" smtClean="0">
                <a:solidFill>
                  <a:srgbClr val="0230AC"/>
                </a:solidFill>
                <a:latin typeface="Calibri"/>
                <a:ea typeface="DejaVu Sans"/>
              </a:rPr>
              <a:t>(от лат. </a:t>
            </a:r>
            <a:r>
              <a:rPr lang="en-US" b="0" i="1" strike="noStrike" spc="-1" dirty="0" err="1" smtClean="0">
                <a:solidFill>
                  <a:srgbClr val="0230AC"/>
                </a:solidFill>
                <a:latin typeface="Calibri"/>
                <a:ea typeface="DejaVu Sans"/>
              </a:rPr>
              <a:t>emoveo</a:t>
            </a:r>
            <a:r>
              <a:rPr lang="en-US" b="0" strike="noStrike" spc="-1" dirty="0" smtClean="0">
                <a:solidFill>
                  <a:srgbClr val="0230AC"/>
                </a:solidFill>
                <a:latin typeface="Calibri"/>
                <a:ea typeface="DejaVu Sans"/>
              </a:rPr>
              <a:t> – </a:t>
            </a:r>
            <a:r>
              <a:rPr lang="ru-RU" b="0" strike="noStrike" spc="-1" dirty="0" smtClean="0">
                <a:solidFill>
                  <a:srgbClr val="0230AC"/>
                </a:solidFill>
                <a:latin typeface="Calibri"/>
                <a:ea typeface="DejaVu Sans"/>
              </a:rPr>
              <a:t>волновать, возбуждать), </a:t>
            </a:r>
            <a:r>
              <a:rPr lang="ru-RU" spc="-1" dirty="0">
                <a:solidFill>
                  <a:srgbClr val="0230AC"/>
                </a:solidFill>
                <a:latin typeface="Calibri"/>
                <a:ea typeface="DejaVu Sans"/>
              </a:rPr>
              <a:t>возникают на конкретную ситуацию, выражаются в переживании человеком своего отношения к окружающей действительности и к себе </a:t>
            </a:r>
            <a:r>
              <a:rPr lang="ru-RU" spc="-1" dirty="0" smtClean="0">
                <a:solidFill>
                  <a:srgbClr val="0230AC"/>
                </a:solidFill>
                <a:latin typeface="Calibri"/>
                <a:ea typeface="DejaVu Sans"/>
              </a:rPr>
              <a:t>самому, это </a:t>
            </a:r>
            <a:r>
              <a:rPr lang="ru-RU" spc="-1" dirty="0">
                <a:solidFill>
                  <a:srgbClr val="0230AC"/>
                </a:solidFill>
                <a:latin typeface="Calibri"/>
                <a:ea typeface="DejaVu Sans"/>
              </a:rPr>
              <a:t>форма проявления </a:t>
            </a:r>
            <a:r>
              <a:rPr lang="ru-RU" spc="-1" dirty="0" smtClean="0">
                <a:solidFill>
                  <a:srgbClr val="0230AC"/>
                </a:solidFill>
                <a:latin typeface="Calibri"/>
                <a:ea typeface="DejaVu Sans"/>
              </a:rPr>
              <a:t>чувств, </a:t>
            </a:r>
            <a:r>
              <a:rPr lang="ru-RU" spc="-1" dirty="0">
                <a:solidFill>
                  <a:srgbClr val="0230AC"/>
                </a:solidFill>
                <a:latin typeface="Calibri"/>
              </a:rPr>
              <a:t>например: злость, грусть, радость, </a:t>
            </a: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страх</a:t>
            </a:r>
            <a:r>
              <a:rPr lang="ru-RU" spc="-1" dirty="0" smtClean="0">
                <a:solidFill>
                  <a:srgbClr val="0230AC"/>
                </a:solidFill>
                <a:latin typeface="Calibri"/>
                <a:ea typeface="DejaVu Sans"/>
              </a:rPr>
              <a:t>.</a:t>
            </a:r>
            <a:endParaRPr lang="ru-RU" spc="-1" dirty="0">
              <a:solidFill>
                <a:srgbClr val="0230AC"/>
              </a:solidFill>
              <a:latin typeface="Calibri"/>
              <a:ea typeface="DejaVu Sans"/>
            </a:endParaRPr>
          </a:p>
          <a:p>
            <a:r>
              <a:rPr lang="ru-RU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Аффект</a:t>
            </a:r>
            <a:r>
              <a:rPr lang="ru-RU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носит взрывной характер и неконтролируем.</a:t>
            </a:r>
            <a:endParaRPr lang="ru-RU" b="0" strike="noStrike" spc="-1" dirty="0">
              <a:latin typeface="Arial"/>
            </a:endParaRPr>
          </a:p>
          <a:p>
            <a:r>
              <a:rPr lang="ru-RU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Чувства</a:t>
            </a:r>
            <a:r>
              <a:rPr lang="ru-RU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(например: симпатия, любовь, ненависть) показывают отношение к конкретным </a:t>
            </a:r>
            <a:r>
              <a:rPr lang="ru-RU" b="0" strike="noStrike" spc="-1" dirty="0" smtClean="0">
                <a:solidFill>
                  <a:srgbClr val="0230AC"/>
                </a:solidFill>
                <a:latin typeface="Calibri"/>
                <a:ea typeface="DejaVu Sans"/>
              </a:rPr>
              <a:t>объектам, </a:t>
            </a:r>
            <a:r>
              <a:rPr lang="ru-RU" spc="-1" dirty="0">
                <a:solidFill>
                  <a:srgbClr val="0230AC"/>
                </a:solidFill>
                <a:latin typeface="Calibri"/>
                <a:ea typeface="DejaVu Sans"/>
              </a:rPr>
              <a:t>отличие чувств от эмоций в том, что чувства обладают относительной устойчивостью и постоянством.</a:t>
            </a:r>
          </a:p>
          <a:p>
            <a:r>
              <a:rPr lang="ru-RU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Настроения</a:t>
            </a:r>
            <a:r>
              <a:rPr lang="ru-RU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(например: веселое, мрачное, подавленное, жизнерадостное) отражают ощущения к ситуации в целом, а не к конкретным объектам.</a:t>
            </a:r>
            <a:endParaRPr lang="ru-RU" b="0" strike="noStrike" spc="-1" dirty="0">
              <a:latin typeface="Arial"/>
            </a:endParaRPr>
          </a:p>
          <a:p>
            <a:r>
              <a:rPr lang="ru-RU" b="1" spc="-1" dirty="0">
                <a:solidFill>
                  <a:srgbClr val="0230AC"/>
                </a:solidFill>
                <a:latin typeface="Calibri"/>
                <a:ea typeface="DejaVu Sans"/>
              </a:rPr>
              <a:t>Отношения</a:t>
            </a:r>
            <a:r>
              <a:rPr lang="ru-RU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r>
              <a:rPr lang="ru-RU" spc="-1" dirty="0">
                <a:solidFill>
                  <a:srgbClr val="0230AC"/>
                </a:solidFill>
                <a:latin typeface="Calibri"/>
                <a:ea typeface="DejaVu Sans"/>
              </a:rPr>
              <a:t>(например, отстраненность, холодность, теплота, поддержка).</a:t>
            </a:r>
          </a:p>
          <a:p>
            <a:r>
              <a:rPr lang="ru-RU" b="1" spc="-1" dirty="0">
                <a:solidFill>
                  <a:srgbClr val="0230AC"/>
                </a:solidFill>
                <a:latin typeface="Calibri"/>
                <a:ea typeface="DejaVu Sans"/>
              </a:rPr>
              <a:t>Переживания</a:t>
            </a:r>
            <a:r>
              <a:rPr lang="ru-RU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r>
              <a:rPr lang="ru-RU" spc="-1" dirty="0">
                <a:solidFill>
                  <a:srgbClr val="0230AC"/>
                </a:solidFill>
                <a:latin typeface="Calibri"/>
                <a:ea typeface="DejaVu Sans"/>
              </a:rPr>
              <a:t>(например, нервозность, беспокойство).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Аффективные психоэмоциональные состояния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strike="noStrike" spc="-1">
              <a:latin typeface="Arial"/>
            </a:endParaRPr>
          </a:p>
        </p:txBody>
      </p:sp>
      <p:sp>
        <p:nvSpPr>
          <p:cNvPr id="149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A442750F-137B-4FB3-A7D6-3D3D63371C74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7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50" name="CustomShape 3"/>
          <p:cNvSpPr/>
          <p:nvPr/>
        </p:nvSpPr>
        <p:spPr>
          <a:xfrm>
            <a:off x="457200" y="833400"/>
            <a:ext cx="8063280" cy="236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51" name="Рисунок 150"/>
          <p:cNvPicPr/>
          <p:nvPr/>
        </p:nvPicPr>
        <p:blipFill>
          <a:blip r:embed="rId3"/>
          <a:stretch/>
        </p:blipFill>
        <p:spPr>
          <a:xfrm>
            <a:off x="1368000" y="1152000"/>
            <a:ext cx="6323040" cy="2232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Аффективные вычисления 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 dirty="0"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6B91CBD4-7036-4CDC-8611-7FD7A34C2931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8</a:t>
            </a:fld>
            <a:endParaRPr lang="ru-RU" sz="1800" b="0" strike="noStrike" spc="-1">
              <a:latin typeface="Arial"/>
            </a:endParaRPr>
          </a:p>
        </p:txBody>
      </p:sp>
      <p:pic>
        <p:nvPicPr>
          <p:cNvPr id="167" name="Рисунок 166"/>
          <p:cNvPicPr/>
          <p:nvPr/>
        </p:nvPicPr>
        <p:blipFill>
          <a:blip r:embed="rId2"/>
          <a:stretch/>
        </p:blipFill>
        <p:spPr>
          <a:xfrm>
            <a:off x="1893066" y="1924281"/>
            <a:ext cx="5320080" cy="2872080"/>
          </a:xfrm>
          <a:prstGeom prst="rect">
            <a:avLst/>
          </a:prstGeom>
          <a:ln>
            <a:noFill/>
          </a:ln>
        </p:spPr>
      </p:pic>
      <p:sp>
        <p:nvSpPr>
          <p:cNvPr id="2" name="Прямоугольник 1"/>
          <p:cNvSpPr/>
          <p:nvPr/>
        </p:nvSpPr>
        <p:spPr>
          <a:xfrm>
            <a:off x="414866" y="783224"/>
            <a:ext cx="692573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pc="-1" dirty="0">
                <a:solidFill>
                  <a:srgbClr val="0230AC"/>
                </a:solidFill>
                <a:latin typeface="Calibri"/>
                <a:ea typeface="DejaVu Sans"/>
              </a:rPr>
              <a:t>Люди проявляют свои эмоции </a:t>
            </a:r>
            <a:r>
              <a:rPr lang="ru-RU" spc="-1" dirty="0" err="1">
                <a:solidFill>
                  <a:srgbClr val="0230AC"/>
                </a:solidFill>
                <a:latin typeface="Calibri"/>
                <a:ea typeface="DejaVu Sans"/>
              </a:rPr>
              <a:t>многомодально</a:t>
            </a:r>
            <a:r>
              <a:rPr lang="ru-RU" spc="-1" dirty="0">
                <a:solidFill>
                  <a:srgbClr val="0230AC"/>
                </a:solidFill>
                <a:latin typeface="Calibri"/>
                <a:ea typeface="DejaVu Sans"/>
              </a:rPr>
              <a:t>: мимика лица, жесты и движения тела, характеристики голоса, физиологические сигналы (потоотделение, пульс, цвет кожи и др.), </a:t>
            </a:r>
            <a:r>
              <a:rPr lang="ru-RU" spc="-1" dirty="0" err="1">
                <a:solidFill>
                  <a:srgbClr val="0230AC"/>
                </a:solidFill>
                <a:latin typeface="Calibri"/>
                <a:ea typeface="DejaVu Sans"/>
              </a:rPr>
              <a:t>эмодзи</a:t>
            </a:r>
            <a:r>
              <a:rPr lang="ru-RU" spc="-1" dirty="0">
                <a:solidFill>
                  <a:srgbClr val="0230AC"/>
                </a:solidFill>
                <a:latin typeface="Calibri"/>
                <a:ea typeface="DejaVu Sans"/>
              </a:rPr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124917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1"/>
          <p:cNvSpPr/>
          <p:nvPr/>
        </p:nvSpPr>
        <p:spPr>
          <a:xfrm>
            <a:off x="0" y="0"/>
            <a:ext cx="6666120" cy="48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Дискретные модели эмоций 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latin typeface="Arial"/>
            </a:endParaRPr>
          </a:p>
        </p:txBody>
      </p:sp>
      <p:sp>
        <p:nvSpPr>
          <p:cNvPr id="169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F7D24B6A-DA4B-4AF1-9AE3-F745848B37DE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9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70" name="CustomShape 3"/>
          <p:cNvSpPr/>
          <p:nvPr/>
        </p:nvSpPr>
        <p:spPr>
          <a:xfrm>
            <a:off x="457200" y="581400"/>
            <a:ext cx="8149320" cy="749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1800"/>
              </a:spcBef>
              <a:buSzPct val="100045"/>
              <a:buBlip>
                <a:blip r:embed="rId3"/>
              </a:buBlip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Эмоциональная сфера человека состоит из первичных, фундаментальных эмоций, их комбинация создает вторичные эмоции. 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  </a:t>
            </a:r>
            <a:endParaRPr lang="ru-RU" sz="1800" b="0" strike="noStrike" spc="-1" dirty="0">
              <a:latin typeface="Arial"/>
            </a:endParaRPr>
          </a:p>
        </p:txBody>
      </p:sp>
      <p:sp>
        <p:nvSpPr>
          <p:cNvPr id="171" name="CustomShape 4"/>
          <p:cNvSpPr/>
          <p:nvPr/>
        </p:nvSpPr>
        <p:spPr>
          <a:xfrm>
            <a:off x="457200" y="1235160"/>
            <a:ext cx="3646080" cy="2688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1800"/>
              </a:spcBef>
              <a:buSzPct val="100045"/>
              <a:buBlip>
                <a:blip r:embed="rId3"/>
              </a:buBlip>
            </a:pPr>
            <a:r>
              <a:rPr lang="ru-RU" sz="1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Классификация Экмана</a:t>
            </a:r>
            <a:r>
              <a:rPr lang="ru-RU" sz="1800" b="0" strike="noStrike" spc="-1" baseline="33000" dirty="0">
                <a:solidFill>
                  <a:srgbClr val="0230AC"/>
                </a:solidFill>
                <a:latin typeface="Calibri"/>
                <a:ea typeface="DejaVu Sans"/>
              </a:rPr>
              <a:t>1</a:t>
            </a:r>
            <a:endParaRPr lang="ru-RU" sz="18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383"/>
              </a:spcBef>
              <a:buSzPct val="100045"/>
              <a:buBlip>
                <a:blip r:embed="rId3"/>
              </a:buBlip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Радость</a:t>
            </a:r>
            <a:endParaRPr lang="ru-RU" sz="18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383"/>
              </a:spcBef>
              <a:buSzPct val="100045"/>
              <a:buBlip>
                <a:blip r:embed="rId3"/>
              </a:buBlip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Удивление</a:t>
            </a:r>
            <a:endParaRPr lang="ru-RU" sz="18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383"/>
              </a:spcBef>
              <a:buSzPct val="100045"/>
              <a:buBlip>
                <a:blip r:embed="rId3"/>
              </a:buBlip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Отвращение</a:t>
            </a:r>
            <a:endParaRPr lang="ru-RU" sz="18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383"/>
              </a:spcBef>
              <a:buSzPct val="100045"/>
              <a:buBlip>
                <a:blip r:embed="rId3"/>
              </a:buBlip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Печаль</a:t>
            </a:r>
            <a:endParaRPr lang="ru-RU" sz="18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383"/>
              </a:spcBef>
              <a:buSzPct val="100045"/>
              <a:buBlip>
                <a:blip r:embed="rId3"/>
              </a:buBlip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Гнев </a:t>
            </a:r>
            <a:endParaRPr lang="ru-RU" sz="18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383"/>
              </a:spcBef>
              <a:buSzPct val="100045"/>
              <a:buBlip>
                <a:blip r:embed="rId3"/>
              </a:buBlip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Страх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   </a:t>
            </a:r>
            <a:endParaRPr lang="ru-RU" sz="1800" b="0" strike="noStrike" spc="-1" dirty="0">
              <a:latin typeface="Arial"/>
            </a:endParaRPr>
          </a:p>
        </p:txBody>
      </p:sp>
      <p:sp>
        <p:nvSpPr>
          <p:cNvPr id="172" name="CustomShape 5"/>
          <p:cNvSpPr/>
          <p:nvPr/>
        </p:nvSpPr>
        <p:spPr>
          <a:xfrm>
            <a:off x="4417200" y="1271160"/>
            <a:ext cx="3646080" cy="2688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1800"/>
              </a:spcBef>
              <a:buSzPct val="100045"/>
              <a:buBlip>
                <a:blip r:embed="rId3"/>
              </a:buBlip>
            </a:pPr>
            <a:r>
              <a:rPr lang="ru-RU" sz="1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Классификация Изарда</a:t>
            </a:r>
            <a:r>
              <a:rPr lang="ru-RU" sz="1800" b="0" strike="noStrike" spc="-1" baseline="33000" dirty="0">
                <a:solidFill>
                  <a:srgbClr val="0230AC"/>
                </a:solidFill>
                <a:latin typeface="Calibri"/>
                <a:ea typeface="DejaVu Sans"/>
              </a:rPr>
              <a:t>2</a:t>
            </a:r>
            <a:endParaRPr lang="ru-RU" sz="18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buSzPct val="100045"/>
              <a:buBlip>
                <a:blip r:embed="rId3"/>
              </a:buBlip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Радость</a:t>
            </a:r>
            <a:endParaRPr lang="ru-RU" sz="18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buSzPct val="100045"/>
              <a:buBlip>
                <a:blip r:embed="rId3"/>
              </a:buBlip>
            </a:pPr>
            <a:r>
              <a:rPr lang="ru-RU" sz="1800" b="0" u="sng" strike="noStrike" spc="-1" dirty="0">
                <a:solidFill>
                  <a:srgbClr val="0230AC"/>
                </a:solidFill>
                <a:uFillTx/>
                <a:latin typeface="Calibri"/>
                <a:ea typeface="DejaVu Sans"/>
              </a:rPr>
              <a:t>Интерес</a:t>
            </a:r>
            <a:endParaRPr lang="ru-RU" sz="18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buSzPct val="100045"/>
              <a:buBlip>
                <a:blip r:embed="rId3"/>
              </a:buBlip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Удивление</a:t>
            </a:r>
            <a:endParaRPr lang="ru-RU" sz="18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buSzPct val="100045"/>
              <a:buBlip>
                <a:blip r:embed="rId3"/>
              </a:buBlip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Печаль</a:t>
            </a:r>
            <a:endParaRPr lang="ru-RU" sz="18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buSzPct val="100045"/>
              <a:buBlip>
                <a:blip r:embed="rId3"/>
              </a:buBlip>
            </a:pPr>
            <a:r>
              <a:rPr lang="ru-RU" sz="1800" b="0" u="sng" strike="noStrike" spc="-1" dirty="0" smtClean="0">
                <a:solidFill>
                  <a:srgbClr val="0230AC"/>
                </a:solidFill>
                <a:uFillTx/>
                <a:latin typeface="Calibri"/>
                <a:ea typeface="DejaVu Sans"/>
              </a:rPr>
              <a:t>Гнев</a:t>
            </a:r>
            <a:r>
              <a:rPr lang="ru-RU" sz="1800" b="0" strike="noStrike" spc="-1" dirty="0" smtClean="0">
                <a:solidFill>
                  <a:srgbClr val="0230AC"/>
                </a:solidFill>
                <a:latin typeface="Calibri"/>
                <a:ea typeface="DejaVu Sans"/>
              </a:rPr>
              <a:t> </a:t>
            </a:r>
            <a:endParaRPr lang="ru-RU" sz="1800" b="0" strike="noStrike" spc="-1" dirty="0" smtClean="0">
              <a:latin typeface="Arial"/>
            </a:endParaRPr>
          </a:p>
          <a:p>
            <a:pPr marL="343080" indent="-341640">
              <a:lnSpc>
                <a:spcPct val="100000"/>
              </a:lnSpc>
              <a:buSzPct val="100045"/>
              <a:buBlip>
                <a:blip r:embed="rId3"/>
              </a:buBlip>
            </a:pPr>
            <a:r>
              <a:rPr lang="ru-RU" sz="1800" b="0" strike="noStrike" spc="-1" dirty="0" smtClean="0">
                <a:solidFill>
                  <a:srgbClr val="0230AC"/>
                </a:solidFill>
                <a:latin typeface="Calibri"/>
                <a:ea typeface="DejaVu Sans"/>
              </a:rPr>
              <a:t>Отвращение</a:t>
            </a:r>
            <a:endParaRPr lang="ru-RU" sz="18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buSzPct val="100045"/>
              <a:buBlip>
                <a:blip r:embed="rId3"/>
              </a:buBlip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Презрение</a:t>
            </a:r>
            <a:endParaRPr lang="ru-RU" sz="18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buSzPct val="100045"/>
              <a:buBlip>
                <a:blip r:embed="rId3"/>
              </a:buBlip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Страх</a:t>
            </a:r>
            <a:endParaRPr lang="ru-RU" sz="18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buSzPct val="100045"/>
              <a:buBlip>
                <a:blip r:embed="rId3"/>
              </a:buBlip>
            </a:pPr>
            <a:r>
              <a:rPr lang="ru-RU" sz="1800" b="0" u="sng" strike="noStrike" spc="-1" dirty="0">
                <a:solidFill>
                  <a:srgbClr val="0230AC"/>
                </a:solidFill>
                <a:uFillTx/>
                <a:latin typeface="Calibri"/>
                <a:ea typeface="DejaVu Sans"/>
              </a:rPr>
              <a:t>Стыд</a:t>
            </a:r>
            <a:endParaRPr lang="ru-RU" sz="18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buSzPct val="100045"/>
              <a:buBlip>
                <a:blip r:embed="rId3"/>
              </a:buBlip>
            </a:pPr>
            <a:r>
              <a:rPr lang="ru-RU" sz="18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Вина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ru-RU" sz="1800" b="0" strike="noStrike" spc="-1" dirty="0" smtClean="0">
                <a:solidFill>
                  <a:srgbClr val="0230AC"/>
                </a:solidFill>
                <a:latin typeface="Calibri"/>
                <a:ea typeface="DejaVu Sans"/>
              </a:rPr>
              <a:t>   </a:t>
            </a:r>
            <a:endParaRPr lang="ru-RU" sz="1800" b="0" strike="noStrike" spc="-1" dirty="0">
              <a:latin typeface="Arial"/>
            </a:endParaRPr>
          </a:p>
        </p:txBody>
      </p:sp>
      <p:sp>
        <p:nvSpPr>
          <p:cNvPr id="173" name="CustomShape 6"/>
          <p:cNvSpPr/>
          <p:nvPr/>
        </p:nvSpPr>
        <p:spPr>
          <a:xfrm>
            <a:off x="408600" y="4263120"/>
            <a:ext cx="8228880" cy="637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0" strike="noStrike" spc="-1" baseline="30000" dirty="0">
                <a:solidFill>
                  <a:srgbClr val="808080"/>
                </a:solidFill>
                <a:latin typeface="Calibri"/>
                <a:ea typeface="DejaVu Sans"/>
              </a:rPr>
              <a:t>1</a:t>
            </a:r>
            <a:r>
              <a:rPr lang="ru-RU" sz="1200" b="0" strike="noStrike" spc="-1" dirty="0">
                <a:solidFill>
                  <a:srgbClr val="808080"/>
                </a:solidFill>
                <a:latin typeface="Calibri"/>
                <a:ea typeface="DejaVu Sans"/>
              </a:rPr>
              <a:t>Ekman P. </a:t>
            </a:r>
            <a:r>
              <a:rPr lang="ru-RU" sz="1200" b="0" strike="noStrike" spc="-1" dirty="0" err="1">
                <a:solidFill>
                  <a:srgbClr val="808080"/>
                </a:solidFill>
                <a:latin typeface="Calibri"/>
                <a:ea typeface="DejaVu Sans"/>
              </a:rPr>
              <a:t>Basic</a:t>
            </a:r>
            <a:r>
              <a:rPr lang="ru-RU" sz="1200" b="0" strike="noStrike" spc="-1" dirty="0">
                <a:solidFill>
                  <a:srgbClr val="808080"/>
                </a:solidFill>
                <a:latin typeface="Calibri"/>
                <a:ea typeface="DejaVu Sans"/>
              </a:rPr>
              <a:t> </a:t>
            </a:r>
            <a:r>
              <a:rPr lang="ru-RU" sz="1200" b="0" strike="noStrike" spc="-1" dirty="0" err="1">
                <a:solidFill>
                  <a:srgbClr val="808080"/>
                </a:solidFill>
                <a:latin typeface="Calibri"/>
                <a:ea typeface="DejaVu Sans"/>
              </a:rPr>
              <a:t>emotions</a:t>
            </a:r>
            <a:r>
              <a:rPr lang="ru-RU" sz="1200" b="0" strike="noStrike" spc="-1" dirty="0">
                <a:solidFill>
                  <a:srgbClr val="808080"/>
                </a:solidFill>
                <a:latin typeface="Calibri"/>
                <a:ea typeface="DejaVu Sans"/>
              </a:rPr>
              <a:t> // </a:t>
            </a:r>
            <a:r>
              <a:rPr lang="ru-RU" sz="1200" b="0" strike="noStrike" spc="-1" dirty="0" err="1">
                <a:solidFill>
                  <a:srgbClr val="808080"/>
                </a:solidFill>
                <a:latin typeface="Calibri"/>
                <a:ea typeface="DejaVu Sans"/>
              </a:rPr>
              <a:t>Handbook</a:t>
            </a:r>
            <a:r>
              <a:rPr lang="ru-RU" sz="1200" b="0" strike="noStrike" spc="-1" dirty="0">
                <a:solidFill>
                  <a:srgbClr val="808080"/>
                </a:solidFill>
                <a:latin typeface="Calibri"/>
                <a:ea typeface="DejaVu Sans"/>
              </a:rPr>
              <a:t> </a:t>
            </a:r>
            <a:r>
              <a:rPr lang="ru-RU" sz="1200" b="0" strike="noStrike" spc="-1" dirty="0" err="1">
                <a:solidFill>
                  <a:srgbClr val="808080"/>
                </a:solidFill>
                <a:latin typeface="Calibri"/>
                <a:ea typeface="DejaVu Sans"/>
              </a:rPr>
              <a:t>of</a:t>
            </a:r>
            <a:r>
              <a:rPr lang="ru-RU" sz="1200" b="0" strike="noStrike" spc="-1" dirty="0">
                <a:solidFill>
                  <a:srgbClr val="808080"/>
                </a:solidFill>
                <a:latin typeface="Calibri"/>
                <a:ea typeface="DejaVu Sans"/>
              </a:rPr>
              <a:t> </a:t>
            </a:r>
            <a:r>
              <a:rPr lang="ru-RU" sz="1200" b="0" strike="noStrike" spc="-1" dirty="0" err="1">
                <a:solidFill>
                  <a:srgbClr val="808080"/>
                </a:solidFill>
                <a:latin typeface="Calibri"/>
                <a:ea typeface="DejaVu Sans"/>
              </a:rPr>
              <a:t>cognition</a:t>
            </a:r>
            <a:r>
              <a:rPr lang="ru-RU" sz="1200" b="0" strike="noStrike" spc="-1" dirty="0">
                <a:solidFill>
                  <a:srgbClr val="808080"/>
                </a:solidFill>
                <a:latin typeface="Calibri"/>
                <a:ea typeface="DejaVu Sans"/>
              </a:rPr>
              <a:t> </a:t>
            </a:r>
            <a:r>
              <a:rPr lang="ru-RU" sz="1200" b="0" strike="noStrike" spc="-1" dirty="0" err="1">
                <a:solidFill>
                  <a:srgbClr val="808080"/>
                </a:solidFill>
                <a:latin typeface="Calibri"/>
                <a:ea typeface="DejaVu Sans"/>
              </a:rPr>
              <a:t>and</a:t>
            </a:r>
            <a:r>
              <a:rPr lang="ru-RU" sz="1200" b="0" strike="noStrike" spc="-1" dirty="0">
                <a:solidFill>
                  <a:srgbClr val="808080"/>
                </a:solidFill>
                <a:latin typeface="Calibri"/>
                <a:ea typeface="DejaVu Sans"/>
              </a:rPr>
              <a:t> </a:t>
            </a:r>
            <a:r>
              <a:rPr lang="ru-RU" sz="1200" b="0" strike="noStrike" spc="-1" dirty="0" err="1">
                <a:solidFill>
                  <a:srgbClr val="808080"/>
                </a:solidFill>
                <a:latin typeface="Calibri"/>
                <a:ea typeface="DejaVu Sans"/>
              </a:rPr>
              <a:t>emotion</a:t>
            </a:r>
            <a:r>
              <a:rPr lang="ru-RU" sz="1200" b="0" strike="noStrike" spc="-1" dirty="0">
                <a:solidFill>
                  <a:srgbClr val="808080"/>
                </a:solidFill>
                <a:latin typeface="Calibri"/>
                <a:ea typeface="DejaVu Sans"/>
              </a:rPr>
              <a:t> / </a:t>
            </a:r>
            <a:r>
              <a:rPr lang="ru-RU" sz="1200" b="0" strike="noStrike" spc="-1" dirty="0" err="1">
                <a:solidFill>
                  <a:srgbClr val="808080"/>
                </a:solidFill>
                <a:latin typeface="Calibri"/>
                <a:ea typeface="DejaVu Sans"/>
              </a:rPr>
              <a:t>eds</a:t>
            </a:r>
            <a:r>
              <a:rPr lang="ru-RU" sz="1200" b="0" strike="noStrike" spc="-1" dirty="0">
                <a:solidFill>
                  <a:srgbClr val="808080"/>
                </a:solidFill>
                <a:latin typeface="Calibri"/>
                <a:ea typeface="DejaVu Sans"/>
              </a:rPr>
              <a:t>.: T. </a:t>
            </a:r>
            <a:r>
              <a:rPr lang="ru-RU" sz="1200" b="0" strike="noStrike" spc="-1" dirty="0" err="1">
                <a:solidFill>
                  <a:srgbClr val="808080"/>
                </a:solidFill>
                <a:latin typeface="Calibri"/>
                <a:ea typeface="DejaVu Sans"/>
              </a:rPr>
              <a:t>Dalgleish</a:t>
            </a:r>
            <a:r>
              <a:rPr lang="ru-RU" sz="1200" b="0" strike="noStrike" spc="-1" dirty="0">
                <a:solidFill>
                  <a:srgbClr val="808080"/>
                </a:solidFill>
                <a:latin typeface="Calibri"/>
                <a:ea typeface="DejaVu Sans"/>
              </a:rPr>
              <a:t> M. J. </a:t>
            </a:r>
            <a:r>
              <a:rPr lang="ru-RU" sz="1200" b="0" strike="noStrike" spc="-1" dirty="0" err="1">
                <a:solidFill>
                  <a:srgbClr val="808080"/>
                </a:solidFill>
                <a:latin typeface="Calibri"/>
                <a:ea typeface="DejaVu Sans"/>
              </a:rPr>
              <a:t>Power</a:t>
            </a:r>
            <a:r>
              <a:rPr lang="ru-RU" sz="1200" b="0" strike="noStrike" spc="-1" dirty="0">
                <a:solidFill>
                  <a:srgbClr val="808080"/>
                </a:solidFill>
                <a:latin typeface="Calibri"/>
                <a:ea typeface="DejaVu Sans"/>
              </a:rPr>
              <a:t>. — </a:t>
            </a:r>
            <a:r>
              <a:rPr lang="ru-RU" sz="1200" b="0" strike="noStrike" spc="-1" dirty="0" err="1">
                <a:solidFill>
                  <a:srgbClr val="808080"/>
                </a:solidFill>
                <a:latin typeface="Calibri"/>
                <a:ea typeface="DejaVu Sans"/>
              </a:rPr>
              <a:t>Hoboken</a:t>
            </a:r>
            <a:r>
              <a:rPr lang="ru-RU" sz="1200" b="0" strike="noStrike" spc="-1" dirty="0">
                <a:solidFill>
                  <a:srgbClr val="808080"/>
                </a:solidFill>
                <a:latin typeface="Calibri"/>
                <a:ea typeface="DejaVu Sans"/>
              </a:rPr>
              <a:t>, </a:t>
            </a:r>
            <a:r>
              <a:rPr lang="ru-RU" sz="1200" b="0" strike="noStrike" spc="-1" dirty="0" err="1">
                <a:solidFill>
                  <a:srgbClr val="808080"/>
                </a:solidFill>
                <a:latin typeface="Calibri"/>
                <a:ea typeface="DejaVu Sans"/>
              </a:rPr>
              <a:t>New</a:t>
            </a:r>
            <a:r>
              <a:rPr lang="ru-RU" sz="1200" b="0" strike="noStrike" spc="-1" dirty="0">
                <a:solidFill>
                  <a:srgbClr val="808080"/>
                </a:solidFill>
                <a:latin typeface="Calibri"/>
                <a:ea typeface="DejaVu Sans"/>
              </a:rPr>
              <a:t> </a:t>
            </a:r>
            <a:r>
              <a:rPr lang="ru-RU" sz="1200" b="0" strike="noStrike" spc="-1" dirty="0" err="1">
                <a:solidFill>
                  <a:srgbClr val="808080"/>
                </a:solidFill>
                <a:latin typeface="Calibri"/>
                <a:ea typeface="DejaVu Sans"/>
              </a:rPr>
              <a:t>Jersey</a:t>
            </a:r>
            <a:r>
              <a:rPr lang="ru-RU" sz="1200" b="0" strike="noStrike" spc="-1" dirty="0">
                <a:solidFill>
                  <a:srgbClr val="808080"/>
                </a:solidFill>
                <a:latin typeface="Calibri"/>
                <a:ea typeface="DejaVu Sans"/>
              </a:rPr>
              <a:t>: </a:t>
            </a:r>
            <a:r>
              <a:rPr lang="ru-RU" sz="1200" b="0" strike="noStrike" spc="-1" dirty="0" err="1">
                <a:solidFill>
                  <a:srgbClr val="808080"/>
                </a:solidFill>
                <a:latin typeface="Calibri"/>
                <a:ea typeface="DejaVu Sans"/>
              </a:rPr>
              <a:t>John</a:t>
            </a:r>
            <a:r>
              <a:rPr lang="ru-RU" sz="1200" b="0" strike="noStrike" spc="-1" dirty="0">
                <a:solidFill>
                  <a:srgbClr val="808080"/>
                </a:solidFill>
                <a:latin typeface="Calibri"/>
                <a:ea typeface="DejaVu Sans"/>
              </a:rPr>
              <a:t> </a:t>
            </a:r>
            <a:r>
              <a:rPr lang="ru-RU" sz="1200" b="0" strike="noStrike" spc="-1" dirty="0" err="1">
                <a:solidFill>
                  <a:srgbClr val="808080"/>
                </a:solidFill>
                <a:latin typeface="Calibri"/>
                <a:ea typeface="DejaVu Sans"/>
              </a:rPr>
              <a:t>Wiley</a:t>
            </a:r>
            <a:r>
              <a:rPr lang="ru-RU" sz="1200" b="0" strike="noStrike" spc="-1" dirty="0">
                <a:solidFill>
                  <a:srgbClr val="808080"/>
                </a:solidFill>
                <a:latin typeface="Calibri"/>
                <a:ea typeface="DejaVu Sans"/>
              </a:rPr>
              <a:t> &amp; </a:t>
            </a:r>
            <a:r>
              <a:rPr lang="ru-RU" sz="1200" b="0" strike="noStrike" spc="-1" dirty="0" err="1">
                <a:solidFill>
                  <a:srgbClr val="808080"/>
                </a:solidFill>
                <a:latin typeface="Calibri"/>
                <a:ea typeface="DejaVu Sans"/>
              </a:rPr>
              <a:t>Sons</a:t>
            </a:r>
            <a:r>
              <a:rPr lang="ru-RU" sz="1200" b="0" strike="noStrike" spc="-1" dirty="0">
                <a:solidFill>
                  <a:srgbClr val="808080"/>
                </a:solidFill>
                <a:latin typeface="Calibri"/>
                <a:ea typeface="DejaVu Sans"/>
              </a:rPr>
              <a:t>, </a:t>
            </a:r>
            <a:r>
              <a:rPr lang="ru-RU" sz="1200" b="0" strike="noStrike" spc="-1" dirty="0" err="1">
                <a:solidFill>
                  <a:srgbClr val="808080"/>
                </a:solidFill>
                <a:latin typeface="Calibri"/>
                <a:ea typeface="DejaVu Sans"/>
              </a:rPr>
              <a:t>Ltd</a:t>
            </a:r>
            <a:r>
              <a:rPr lang="ru-RU" sz="1200" b="0" strike="noStrike" spc="-1" dirty="0">
                <a:solidFill>
                  <a:srgbClr val="808080"/>
                </a:solidFill>
                <a:latin typeface="Calibri"/>
                <a:ea typeface="DejaVu Sans"/>
              </a:rPr>
              <a:t>., 1999. — P. 45–60.</a:t>
            </a:r>
            <a:endParaRPr lang="ru-RU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200" b="0" strike="noStrike" spc="-1" baseline="30000" dirty="0">
                <a:solidFill>
                  <a:srgbClr val="808080"/>
                </a:solidFill>
                <a:latin typeface="Calibri"/>
                <a:ea typeface="DejaVu Sans"/>
              </a:rPr>
              <a:t>2</a:t>
            </a:r>
            <a:r>
              <a:rPr lang="ru-RU" sz="1200" b="0" strike="noStrike" spc="-1" dirty="0">
                <a:solidFill>
                  <a:srgbClr val="808080"/>
                </a:solidFill>
                <a:latin typeface="Calibri"/>
                <a:ea typeface="DejaVu Sans"/>
              </a:rPr>
              <a:t>Изард К. Э. Психология эмоций. — СПб.: Питер, 1999.</a:t>
            </a:r>
            <a:endParaRPr lang="ru-RU" sz="1200" b="0" strike="noStrike" spc="-1" dirty="0">
              <a:latin typeface="Arial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864937" y="2460614"/>
            <a:ext cx="3129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16000" indent="-215640">
              <a:lnSpc>
                <a:spcPct val="100000"/>
              </a:lnSpc>
            </a:pPr>
            <a:r>
              <a:rPr lang="ru-RU" spc="-1" dirty="0">
                <a:solidFill>
                  <a:srgbClr val="0230AC"/>
                </a:solidFill>
                <a:latin typeface="Calibri"/>
                <a:ea typeface="DejaVu Sans"/>
              </a:rPr>
              <a:t>Зависть = </a:t>
            </a:r>
            <a:r>
              <a:rPr lang="ru-RU" spc="-1" dirty="0" err="1">
                <a:solidFill>
                  <a:srgbClr val="0230AC"/>
                </a:solidFill>
                <a:latin typeface="Calibri"/>
                <a:ea typeface="DejaVu Sans"/>
              </a:rPr>
              <a:t>интерес+гнев+стыд</a:t>
            </a:r>
            <a:endParaRPr lang="ru-RU" spc="-1" dirty="0">
              <a:solidFill>
                <a:srgbClr val="0230AC"/>
              </a:solidFill>
              <a:latin typeface="Calibri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35089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Базовые эмоции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latin typeface="Arial"/>
            </a:endParaRPr>
          </a:p>
        </p:txBody>
      </p:sp>
      <p:sp>
        <p:nvSpPr>
          <p:cNvPr id="156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B33C22EB-F4FE-4431-AF7C-0DBC87ABD5E7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10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57" name="CustomShape 3"/>
          <p:cNvSpPr/>
          <p:nvPr/>
        </p:nvSpPr>
        <p:spPr>
          <a:xfrm>
            <a:off x="457200" y="833400"/>
            <a:ext cx="4714920" cy="396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lnSpc>
                <a:spcPct val="100000"/>
              </a:lnSpc>
              <a:spcBef>
                <a:spcPts val="1800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Изначально: радость, злость, отвращение, страх, грусть и удивление.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800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Дополнительно: презрение, стыд, чувство вины, смущение и благоговейный трепет.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800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Окончательно:  радость, злость, отвращение, страх, грусть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800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Требуют проверки: удивление, презрение, стыд, вина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58" name="Picture 2"/>
          <p:cNvPicPr/>
          <p:nvPr/>
        </p:nvPicPr>
        <p:blipFill>
          <a:blip r:embed="rId3"/>
          <a:stretch/>
        </p:blipFill>
        <p:spPr>
          <a:xfrm>
            <a:off x="6081840" y="833400"/>
            <a:ext cx="2792880" cy="1865880"/>
          </a:xfrm>
          <a:prstGeom prst="rect">
            <a:avLst/>
          </a:prstGeom>
          <a:ln>
            <a:noFill/>
          </a:ln>
        </p:spPr>
      </p:pic>
      <p:sp>
        <p:nvSpPr>
          <p:cNvPr id="159" name="CustomShape 4"/>
          <p:cNvSpPr/>
          <p:nvPr/>
        </p:nvSpPr>
        <p:spPr>
          <a:xfrm>
            <a:off x="6980400" y="2723040"/>
            <a:ext cx="995760" cy="30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4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Пол Экман</a:t>
            </a:r>
            <a:endParaRPr lang="ru-RU" sz="14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 dirty="0" smtClean="0">
                <a:solidFill>
                  <a:srgbClr val="0230AC"/>
                </a:solidFill>
                <a:latin typeface="Calibri"/>
                <a:ea typeface="DejaVu Sans"/>
              </a:rPr>
              <a:t>Классификация </a:t>
            </a:r>
            <a:r>
              <a:rPr lang="ru-RU" sz="2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эмоций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 dirty="0">
              <a:latin typeface="Arial"/>
            </a:endParaRPr>
          </a:p>
        </p:txBody>
      </p:sp>
      <p:sp>
        <p:nvSpPr>
          <p:cNvPr id="186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978B9DAD-CB83-457C-AACF-39FF1F48A3D4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11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87" name="CustomShape 3"/>
          <p:cNvSpPr/>
          <p:nvPr/>
        </p:nvSpPr>
        <p:spPr>
          <a:xfrm>
            <a:off x="457200" y="833400"/>
            <a:ext cx="8063280" cy="396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3"/>
              </a:buBlip>
            </a:pP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Десять </a:t>
            </a:r>
            <a:r>
              <a:rPr lang="ru-RU" spc="-1" dirty="0">
                <a:solidFill>
                  <a:srgbClr val="0230AC"/>
                </a:solidFill>
                <a:latin typeface="Calibri"/>
              </a:rPr>
              <a:t>фундаментальных эмоций (по К. </a:t>
            </a:r>
            <a:r>
              <a:rPr lang="ru-RU" spc="-1" dirty="0" err="1">
                <a:solidFill>
                  <a:srgbClr val="0230AC"/>
                </a:solidFill>
                <a:latin typeface="Calibri"/>
              </a:rPr>
              <a:t>Изарду</a:t>
            </a:r>
            <a:r>
              <a:rPr lang="ru-RU" spc="-1" dirty="0">
                <a:solidFill>
                  <a:srgbClr val="0230AC"/>
                </a:solidFill>
                <a:latin typeface="Calibri"/>
              </a:rPr>
              <a:t>)</a:t>
            </a:r>
            <a:endParaRPr lang="ru-RU" sz="1800" b="0" strike="noStrike" spc="-1" dirty="0" smtClean="0">
              <a:solidFill>
                <a:srgbClr val="0230AC"/>
              </a:solidFill>
              <a:latin typeface="Calibri"/>
              <a:ea typeface="DejaVu Sans"/>
            </a:endParaRPr>
          </a:p>
          <a:p>
            <a:pPr marL="800280" lvl="1" indent="-342000">
              <a:spcBef>
                <a:spcPts val="1199"/>
              </a:spcBef>
              <a:buSzPct val="100045"/>
              <a:buFont typeface="Arial" panose="020B0604020202020204" pitchFamily="34" charset="0"/>
              <a:buChar char="•"/>
            </a:pP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Интерес-возбуждение: является сильным мотивом познавательной деятельности.</a:t>
            </a:r>
          </a:p>
          <a:p>
            <a:pPr marL="800280" lvl="1" indent="-342000">
              <a:spcBef>
                <a:spcPts val="1199"/>
              </a:spcBef>
              <a:buSzPct val="100045"/>
              <a:buFont typeface="Arial" panose="020B0604020202020204" pitchFamily="34" charset="0"/>
              <a:buChar char="•"/>
            </a:pP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Радость: возникает в ситуации удовлетворения личных потребностей.</a:t>
            </a:r>
          </a:p>
          <a:p>
            <a:pPr marL="800280" lvl="1" indent="-342000">
              <a:spcBef>
                <a:spcPts val="1199"/>
              </a:spcBef>
              <a:buSzPct val="100045"/>
              <a:buFont typeface="Arial" panose="020B0604020202020204" pitchFamily="34" charset="0"/>
              <a:buChar char="•"/>
            </a:pP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Страдание: противоположна радости.</a:t>
            </a:r>
          </a:p>
          <a:p>
            <a:pPr marL="800280" lvl="1" indent="-342000">
              <a:spcBef>
                <a:spcPts val="1199"/>
              </a:spcBef>
              <a:buSzPct val="100045"/>
              <a:buFont typeface="Arial" panose="020B0604020202020204" pitchFamily="34" charset="0"/>
              <a:buChar char="•"/>
            </a:pP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Гнев: возникает в ответ на препятствие при достижении цели, а также в ситуациях, когда ограничиваются возможности самореализации.</a:t>
            </a:r>
          </a:p>
          <a:p>
            <a:pPr marL="800280" lvl="1" indent="-342000">
              <a:spcBef>
                <a:spcPts val="1199"/>
              </a:spcBef>
              <a:buSzPct val="100045"/>
              <a:buFont typeface="Arial" panose="020B0604020202020204" pitchFamily="34" charset="0"/>
              <a:buChar char="•"/>
            </a:pP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Стыд: особенно остро переживается, когда человек сравнивает себя с другими, </a:t>
            </a:r>
            <a:r>
              <a:rPr lang="ru-RU" spc="-1" dirty="0">
                <a:solidFill>
                  <a:srgbClr val="0230AC"/>
                </a:solidFill>
                <a:latin typeface="Calibri"/>
              </a:rPr>
              <a:t>парализует мышление, отрицательно влияет на поступки </a:t>
            </a: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человека, однако </a:t>
            </a:r>
            <a:r>
              <a:rPr lang="ru-RU" spc="-1" dirty="0">
                <a:solidFill>
                  <a:srgbClr val="0230AC"/>
                </a:solidFill>
                <a:latin typeface="Calibri"/>
              </a:rPr>
              <a:t>при этом активизирует защитные механизмы личности.</a:t>
            </a:r>
          </a:p>
        </p:txBody>
      </p:sp>
    </p:spTree>
    <p:extLst>
      <p:ext uri="{BB962C8B-B14F-4D97-AF65-F5344CB8AC3E}">
        <p14:creationId xmlns:p14="http://schemas.microsoft.com/office/powerpoint/2010/main" val="1006729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 dirty="0" smtClean="0">
                <a:solidFill>
                  <a:srgbClr val="0230AC"/>
                </a:solidFill>
                <a:latin typeface="Calibri"/>
                <a:ea typeface="DejaVu Sans"/>
              </a:rPr>
              <a:t>Классификация </a:t>
            </a:r>
            <a:r>
              <a:rPr lang="ru-RU" sz="2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эмоций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 dirty="0">
              <a:latin typeface="Arial"/>
            </a:endParaRPr>
          </a:p>
        </p:txBody>
      </p:sp>
      <p:sp>
        <p:nvSpPr>
          <p:cNvPr id="186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978B9DAD-CB83-457C-AACF-39FF1F48A3D4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12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87" name="CustomShape 3"/>
          <p:cNvSpPr/>
          <p:nvPr/>
        </p:nvSpPr>
        <p:spPr>
          <a:xfrm>
            <a:off x="457200" y="833400"/>
            <a:ext cx="8063280" cy="396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3"/>
              </a:buBlip>
            </a:pP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Десять </a:t>
            </a:r>
            <a:r>
              <a:rPr lang="ru-RU" spc="-1" dirty="0">
                <a:solidFill>
                  <a:srgbClr val="0230AC"/>
                </a:solidFill>
                <a:latin typeface="Calibri"/>
              </a:rPr>
              <a:t>фундаментальных эмоций (по К. </a:t>
            </a:r>
            <a:r>
              <a:rPr lang="ru-RU" spc="-1" dirty="0" err="1">
                <a:solidFill>
                  <a:srgbClr val="0230AC"/>
                </a:solidFill>
                <a:latin typeface="Calibri"/>
              </a:rPr>
              <a:t>Изарду</a:t>
            </a:r>
            <a:r>
              <a:rPr lang="ru-RU" spc="-1" dirty="0">
                <a:solidFill>
                  <a:srgbClr val="0230AC"/>
                </a:solidFill>
                <a:latin typeface="Calibri"/>
              </a:rPr>
              <a:t>)</a:t>
            </a:r>
            <a:endParaRPr lang="ru-RU" sz="1800" b="0" strike="noStrike" spc="-1" dirty="0" smtClean="0">
              <a:solidFill>
                <a:srgbClr val="0230AC"/>
              </a:solidFill>
              <a:latin typeface="Calibri"/>
              <a:ea typeface="DejaVu Sans"/>
            </a:endParaRPr>
          </a:p>
          <a:p>
            <a:pPr marL="800280" lvl="1" indent="-342000">
              <a:spcBef>
                <a:spcPts val="1199"/>
              </a:spcBef>
              <a:buSzPct val="100045"/>
              <a:buFont typeface="Arial" panose="020B0604020202020204" pitchFamily="34" charset="0"/>
              <a:buChar char="•"/>
            </a:pP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Гордость: возникает тогда, когда человек переживает свою значительность, важность, достойность и стремится продемонстрировать это другим.</a:t>
            </a:r>
          </a:p>
          <a:p>
            <a:pPr marL="800280" lvl="1" indent="-342000">
              <a:spcBef>
                <a:spcPts val="1199"/>
              </a:spcBef>
              <a:buSzPct val="100045"/>
              <a:buFont typeface="Arial" panose="020B0604020202020204" pitchFamily="34" charset="0"/>
              <a:buChar char="•"/>
            </a:pP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Отвращение: возникает в отношении людей и явлений, которые воспринимаются как уродливые, отвратительные и т. д.</a:t>
            </a:r>
          </a:p>
          <a:p>
            <a:pPr marL="800280" lvl="1" indent="-342000">
              <a:spcBef>
                <a:spcPts val="1199"/>
              </a:spcBef>
              <a:buSzPct val="100045"/>
              <a:buFont typeface="Arial" panose="020B0604020202020204" pitchFamily="34" charset="0"/>
              <a:buChar char="•"/>
            </a:pP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Презрение: близка к отвращению, но возникает по отношению к людям, когда их поведение или какие-то личностные качества не соответствуют его нравственным требованиям.</a:t>
            </a:r>
          </a:p>
          <a:p>
            <a:pPr marL="800280" lvl="1" indent="-342000">
              <a:spcBef>
                <a:spcPts val="1199"/>
              </a:spcBef>
              <a:buSzPct val="100045"/>
              <a:buFont typeface="Arial" panose="020B0604020202020204" pitchFamily="34" charset="0"/>
              <a:buChar char="•"/>
            </a:pP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Вина: раскаяние и осуждение себя (не успел, не смог, не предупредил), желание как-то искупить свою вину (помочь, попросить прощения).</a:t>
            </a:r>
          </a:p>
          <a:p>
            <a:pPr marL="800280" lvl="1" indent="-342000">
              <a:spcBef>
                <a:spcPts val="1199"/>
              </a:spcBef>
              <a:buSzPct val="100045"/>
              <a:buFont typeface="Arial" panose="020B0604020202020204" pitchFamily="34" charset="0"/>
              <a:buChar char="•"/>
            </a:pP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Страх: возникает при опасности и угрозе человеку.</a:t>
            </a:r>
          </a:p>
        </p:txBody>
      </p:sp>
    </p:spTree>
    <p:extLst>
      <p:ext uri="{BB962C8B-B14F-4D97-AF65-F5344CB8AC3E}">
        <p14:creationId xmlns:p14="http://schemas.microsoft.com/office/powerpoint/2010/main" val="409021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Эмоциональные состояния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153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614721CE-5B97-4A7C-9C9E-97071B7D0F9A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13</a:t>
            </a:fld>
            <a:endParaRPr lang="ru-RU" sz="1800" b="0" strike="noStrike" spc="-1">
              <a:latin typeface="Arial"/>
            </a:endParaRPr>
          </a:p>
        </p:txBody>
      </p:sp>
      <p:pic>
        <p:nvPicPr>
          <p:cNvPr id="154" name="Picture 2"/>
          <p:cNvPicPr/>
          <p:nvPr/>
        </p:nvPicPr>
        <p:blipFill>
          <a:blip r:embed="rId2"/>
          <a:stretch/>
        </p:blipFill>
        <p:spPr>
          <a:xfrm>
            <a:off x="1162080" y="937800"/>
            <a:ext cx="6612480" cy="3925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72000" y="21240"/>
            <a:ext cx="6666120" cy="48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Пространственные модели эмоций 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06D6537A-262D-4AB9-BC34-8F97B99C2ED4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14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457200" y="617400"/>
            <a:ext cx="8149320" cy="749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1800"/>
              </a:spcBef>
              <a:buSzPct val="100045"/>
              <a:buBlip>
                <a:blip r:embed="rId3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Эмоции могут быть представлены как бесконечный спектр 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   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77" name="Рисунок 3"/>
          <p:cNvPicPr/>
          <p:nvPr/>
        </p:nvPicPr>
        <p:blipFill>
          <a:blip r:embed="rId4"/>
          <a:stretch/>
        </p:blipFill>
        <p:spPr>
          <a:xfrm>
            <a:off x="376920" y="936000"/>
            <a:ext cx="3654720" cy="2588040"/>
          </a:xfrm>
          <a:prstGeom prst="rect">
            <a:avLst/>
          </a:prstGeom>
          <a:ln>
            <a:noFill/>
          </a:ln>
        </p:spPr>
      </p:pic>
      <p:sp>
        <p:nvSpPr>
          <p:cNvPr id="178" name="CustomShape 4"/>
          <p:cNvSpPr/>
          <p:nvPr/>
        </p:nvSpPr>
        <p:spPr>
          <a:xfrm>
            <a:off x="265500" y="3524040"/>
            <a:ext cx="4266360" cy="1581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200" b="1" strike="noStrike" spc="-1" dirty="0">
                <a:solidFill>
                  <a:srgbClr val="FF0000"/>
                </a:solidFill>
                <a:latin typeface="Verdana"/>
                <a:ea typeface="DejaVu Sans"/>
              </a:rPr>
              <a:t>Модель Вундта. </a:t>
            </a:r>
            <a:r>
              <a:rPr lang="ru-RU" sz="14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Структура эмоции характеризуются тремя измерениями: удовольствием - неудовольствием, возбуждением – успокоением и напряжением – разрешением.  Эмоциональные переживания характеризуются одним, двумя или всеми тремя из указанных полярных измерений.</a:t>
            </a:r>
            <a:r>
              <a:rPr lang="ru-RU" sz="1200" b="0" strike="noStrike" spc="-1" dirty="0">
                <a:solidFill>
                  <a:srgbClr val="424242"/>
                </a:solidFill>
                <a:latin typeface="Verdana"/>
                <a:ea typeface="DejaVu Sans"/>
              </a:rPr>
              <a:t> </a:t>
            </a:r>
            <a:endParaRPr lang="ru-RU" sz="1200" b="0" strike="noStrike" spc="-1" dirty="0">
              <a:latin typeface="Arial"/>
            </a:endParaRPr>
          </a:p>
        </p:txBody>
      </p:sp>
      <p:pic>
        <p:nvPicPr>
          <p:cNvPr id="179" name="Рисунок 15"/>
          <p:cNvPicPr/>
          <p:nvPr/>
        </p:nvPicPr>
        <p:blipFill>
          <a:blip r:embed="rId5"/>
          <a:stretch/>
        </p:blipFill>
        <p:spPr>
          <a:xfrm>
            <a:off x="4189320" y="872389"/>
            <a:ext cx="4737240" cy="3309120"/>
          </a:xfrm>
          <a:prstGeom prst="rect">
            <a:avLst/>
          </a:prstGeom>
          <a:ln>
            <a:noFill/>
          </a:ln>
        </p:spPr>
      </p:pic>
      <p:sp>
        <p:nvSpPr>
          <p:cNvPr id="180" name="CustomShape 5"/>
          <p:cNvSpPr/>
          <p:nvPr/>
        </p:nvSpPr>
        <p:spPr>
          <a:xfrm>
            <a:off x="4934880" y="3987900"/>
            <a:ext cx="4090320" cy="1155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400" b="1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Модель Рассела. </a:t>
            </a:r>
            <a:r>
              <a:rPr lang="ru-RU" sz="1400" b="0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Оси координат: валентность эмоции (от отрицательной до положительной) и активация психики (от спокойной до активной). Включает 28 слов, отражающих эмоциональные состояния.</a:t>
            </a:r>
            <a:endParaRPr lang="ru-RU" sz="14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7660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ustomShape 1"/>
          <p:cNvSpPr/>
          <p:nvPr/>
        </p:nvSpPr>
        <p:spPr>
          <a:xfrm>
            <a:off x="72000" y="21240"/>
            <a:ext cx="6666120" cy="482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Пространственные модели эмоций 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latin typeface="Arial"/>
            </a:endParaRPr>
          </a:p>
        </p:txBody>
      </p:sp>
      <p:sp>
        <p:nvSpPr>
          <p:cNvPr id="186" name="CustomShape 2"/>
          <p:cNvSpPr/>
          <p:nvPr/>
        </p:nvSpPr>
        <p:spPr>
          <a:xfrm>
            <a:off x="8607960" y="1440"/>
            <a:ext cx="5346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6AE0DA42-1321-4474-BC9B-9A7A81EF14DE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15</a:t>
            </a:fld>
            <a:endParaRPr lang="ru-RU" sz="1800" b="0" strike="noStrike" spc="-1">
              <a:latin typeface="Arial"/>
            </a:endParaRPr>
          </a:p>
        </p:txBody>
      </p:sp>
      <p:pic>
        <p:nvPicPr>
          <p:cNvPr id="187" name="Рисунок 186"/>
          <p:cNvPicPr/>
          <p:nvPr/>
        </p:nvPicPr>
        <p:blipFill>
          <a:blip r:embed="rId3"/>
          <a:stretch/>
        </p:blipFill>
        <p:spPr>
          <a:xfrm>
            <a:off x="4464000" y="1180080"/>
            <a:ext cx="4305240" cy="3427560"/>
          </a:xfrm>
          <a:prstGeom prst="rect">
            <a:avLst/>
          </a:prstGeom>
          <a:ln>
            <a:noFill/>
          </a:ln>
        </p:spPr>
      </p:pic>
      <p:pic>
        <p:nvPicPr>
          <p:cNvPr id="188" name="Рисунок 5"/>
          <p:cNvPicPr/>
          <p:nvPr/>
        </p:nvPicPr>
        <p:blipFill>
          <a:blip r:embed="rId4"/>
          <a:stretch/>
        </p:blipFill>
        <p:spPr>
          <a:xfrm>
            <a:off x="504000" y="1519920"/>
            <a:ext cx="3109680" cy="2746800"/>
          </a:xfrm>
          <a:prstGeom prst="rect">
            <a:avLst/>
          </a:prstGeom>
          <a:ln>
            <a:noFill/>
          </a:ln>
        </p:spPr>
      </p:pic>
      <p:sp>
        <p:nvSpPr>
          <p:cNvPr id="189" name="CustomShape 3"/>
          <p:cNvSpPr/>
          <p:nvPr/>
        </p:nvSpPr>
        <p:spPr>
          <a:xfrm>
            <a:off x="504000" y="4267080"/>
            <a:ext cx="3057840" cy="63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 baseline="30000">
                <a:solidFill>
                  <a:srgbClr val="0230AC"/>
                </a:solidFill>
                <a:latin typeface="Calibri"/>
                <a:ea typeface="DejaVu Sans"/>
              </a:rPr>
              <a:t>1-8 последовательность базисных эмоций 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800" b="0" strike="noStrike" spc="-1" baseline="30000">
                <a:solidFill>
                  <a:srgbClr val="0230AC"/>
                </a:solidFill>
                <a:latin typeface="Calibri"/>
                <a:ea typeface="DejaVu Sans"/>
              </a:rPr>
              <a:t>I-III- уровни интенсивности эмоций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90" name="CustomShape 4"/>
          <p:cNvSpPr/>
          <p:nvPr/>
        </p:nvSpPr>
        <p:spPr>
          <a:xfrm>
            <a:off x="296640" y="607320"/>
            <a:ext cx="4743000" cy="912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Определяется число базовых измерений (первичных эмоций), определяющих мерность пространства</a:t>
            </a:r>
            <a:endParaRPr lang="ru-RU" sz="18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9179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Колесо Роберта Плутчика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161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2716A5C0-16AC-413C-BE33-E1076BB9E6DB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16</a:t>
            </a:fld>
            <a:endParaRPr lang="ru-RU" sz="1800" b="0" strike="noStrike" spc="-1">
              <a:latin typeface="Arial"/>
            </a:endParaRPr>
          </a:p>
        </p:txBody>
      </p:sp>
      <p:pic>
        <p:nvPicPr>
          <p:cNvPr id="162" name="Рисунок 1"/>
          <p:cNvPicPr/>
          <p:nvPr/>
        </p:nvPicPr>
        <p:blipFill>
          <a:blip r:embed="rId3"/>
          <a:stretch/>
        </p:blipFill>
        <p:spPr>
          <a:xfrm>
            <a:off x="2376720" y="660240"/>
            <a:ext cx="4389840" cy="4405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 dirty="0" smtClean="0">
                <a:solidFill>
                  <a:srgbClr val="0230AC"/>
                </a:solidFill>
                <a:latin typeface="Calibri"/>
                <a:ea typeface="DejaVu Sans"/>
              </a:rPr>
              <a:t>Классификация </a:t>
            </a:r>
            <a:r>
              <a:rPr lang="ru-RU" sz="2800" b="1" strike="noStrike" spc="-1" dirty="0">
                <a:solidFill>
                  <a:srgbClr val="0230AC"/>
                </a:solidFill>
                <a:latin typeface="Calibri"/>
                <a:ea typeface="DejaVu Sans"/>
              </a:rPr>
              <a:t>эмоций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 dirty="0">
              <a:latin typeface="Arial"/>
            </a:endParaRPr>
          </a:p>
        </p:txBody>
      </p:sp>
      <p:sp>
        <p:nvSpPr>
          <p:cNvPr id="186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978B9DAD-CB83-457C-AACF-39FF1F48A3D4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17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87" name="CustomShape 3"/>
          <p:cNvSpPr/>
          <p:nvPr/>
        </p:nvSpPr>
        <p:spPr>
          <a:xfrm>
            <a:off x="457200" y="833400"/>
            <a:ext cx="8063280" cy="396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3"/>
              </a:buBlip>
            </a:pPr>
            <a:r>
              <a:rPr lang="ru-RU" sz="1800" b="0" strike="noStrike" spc="-1" dirty="0" smtClean="0">
                <a:solidFill>
                  <a:srgbClr val="0230AC"/>
                </a:solidFill>
                <a:latin typeface="Calibri"/>
                <a:ea typeface="DejaVu Sans"/>
              </a:rPr>
              <a:t>По степени влияния </a:t>
            </a:r>
            <a:r>
              <a:rPr lang="ru-RU" spc="-1" dirty="0">
                <a:solidFill>
                  <a:srgbClr val="0230AC"/>
                </a:solidFill>
                <a:latin typeface="Calibri"/>
              </a:rPr>
              <a:t>на человека: </a:t>
            </a: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стенические </a:t>
            </a:r>
            <a:r>
              <a:rPr lang="ru-RU" spc="-1" dirty="0">
                <a:solidFill>
                  <a:srgbClr val="0230AC"/>
                </a:solidFill>
                <a:latin typeface="Calibri"/>
              </a:rPr>
              <a:t>и астенические</a:t>
            </a:r>
            <a:endParaRPr lang="ru-RU" sz="1800" b="0" strike="noStrike" spc="-1" dirty="0" smtClean="0">
              <a:solidFill>
                <a:srgbClr val="0230AC"/>
              </a:solidFill>
              <a:latin typeface="Calibri"/>
              <a:ea typeface="DejaVu Sans"/>
            </a:endParaRPr>
          </a:p>
          <a:p>
            <a:pPr marL="800280" lvl="1" indent="-342000">
              <a:spcBef>
                <a:spcPts val="1199"/>
              </a:spcBef>
              <a:buSzPct val="100045"/>
              <a:buFont typeface="Arial" panose="020B0604020202020204" pitchFamily="34" charset="0"/>
              <a:buChar char="•"/>
            </a:pP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Стенические (</a:t>
            </a:r>
            <a:r>
              <a:rPr lang="ru-RU" spc="-1" dirty="0" err="1" smtClean="0">
                <a:solidFill>
                  <a:srgbClr val="0230AC"/>
                </a:solidFill>
                <a:latin typeface="Calibri"/>
              </a:rPr>
              <a:t>stenos</a:t>
            </a: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 – возбуждение) - эмоции, повышающие жизнедеятельность организма (например, радость)</a:t>
            </a:r>
          </a:p>
          <a:p>
            <a:pPr marL="800280" lvl="1" indent="-342000">
              <a:spcBef>
                <a:spcPts val="1199"/>
              </a:spcBef>
              <a:buSzPct val="100045"/>
              <a:buFont typeface="Arial" panose="020B0604020202020204" pitchFamily="34" charset="0"/>
              <a:buChar char="•"/>
            </a:pP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Астенические – угнетающие, тормозящие, пассивные (например, печаль)</a:t>
            </a:r>
          </a:p>
        </p:txBody>
      </p:sp>
    </p:spTree>
    <p:extLst>
      <p:ext uri="{BB962C8B-B14F-4D97-AF65-F5344CB8AC3E}">
        <p14:creationId xmlns:p14="http://schemas.microsoft.com/office/powerpoint/2010/main" val="3952261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Теория дуальных процессов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latin typeface="Arial"/>
            </a:endParaRPr>
          </a:p>
        </p:txBody>
      </p:sp>
      <p:sp>
        <p:nvSpPr>
          <p:cNvPr id="164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A2E82E51-C3DB-4D90-A678-8306C760229E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18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65" name="CustomShape 3"/>
          <p:cNvSpPr/>
          <p:nvPr/>
        </p:nvSpPr>
        <p:spPr>
          <a:xfrm>
            <a:off x="457200" y="2857680"/>
            <a:ext cx="8063280" cy="159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1640">
              <a:lnSpc>
                <a:spcPct val="100000"/>
              </a:lnSpc>
              <a:spcBef>
                <a:spcPts val="601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Человек обладает двумя способами принятия решения:</a:t>
            </a:r>
            <a:endParaRPr lang="ru-RU" sz="180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601"/>
              </a:spcBef>
              <a:buClr>
                <a:srgbClr val="0230AC"/>
              </a:buClr>
              <a:buFont typeface="Arial"/>
              <a:buChar char="•"/>
            </a:pPr>
            <a:r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Рациональный</a:t>
            </a:r>
            <a:endParaRPr lang="ru-RU" sz="180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601"/>
              </a:spcBef>
              <a:buClr>
                <a:srgbClr val="0230AC"/>
              </a:buClr>
              <a:buFont typeface="Arial"/>
              <a:buChar char="•"/>
            </a:pPr>
            <a:r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Эмоциональный</a:t>
            </a: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 </a:t>
            </a:r>
            <a:endParaRPr lang="ru-RU" sz="1800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601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Часто рекомендуют противоположные решения.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66" name="CustomShape 4"/>
          <p:cNvSpPr/>
          <p:nvPr/>
        </p:nvSpPr>
        <p:spPr>
          <a:xfrm>
            <a:off x="905760" y="1231920"/>
            <a:ext cx="2968920" cy="1186920"/>
          </a:xfrm>
          <a:prstGeom prst="rect">
            <a:avLst/>
          </a:prstGeom>
          <a:ln>
            <a:rou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1" strike="noStrike" spc="-1">
                <a:solidFill>
                  <a:srgbClr val="FFFFFF"/>
                </a:solidFill>
                <a:latin typeface="Calibri"/>
                <a:ea typeface="DejaVu Sans"/>
              </a:rPr>
              <a:t>Эмоциональный </a:t>
            </a:r>
            <a:endParaRPr lang="ru-RU" sz="1800" b="0" strike="noStrike" spc="-1">
              <a:latin typeface="Arial"/>
            </a:endParaRPr>
          </a:p>
          <a:p>
            <a:pPr marL="285840" indent="-2847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Параллельный</a:t>
            </a:r>
            <a:endParaRPr lang="ru-RU" sz="1800" b="0" strike="noStrike" spc="-1">
              <a:latin typeface="Arial"/>
            </a:endParaRPr>
          </a:p>
          <a:p>
            <a:pPr marL="285840" indent="-2847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Ассоциативный</a:t>
            </a:r>
            <a:endParaRPr lang="ru-RU" sz="1800" b="0" strike="noStrike" spc="-1">
              <a:latin typeface="Arial"/>
            </a:endParaRPr>
          </a:p>
          <a:p>
            <a:pPr marL="285840" indent="-2847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Интуитивный 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67" name="CustomShape 5"/>
          <p:cNvSpPr/>
          <p:nvPr/>
        </p:nvSpPr>
        <p:spPr>
          <a:xfrm>
            <a:off x="5198760" y="1231920"/>
            <a:ext cx="2936520" cy="1186920"/>
          </a:xfrm>
          <a:prstGeom prst="rect">
            <a:avLst/>
          </a:prstGeom>
          <a:ln>
            <a:rou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800" b="1" strike="noStrike" spc="-1">
                <a:solidFill>
                  <a:srgbClr val="FFFFFF"/>
                </a:solidFill>
                <a:latin typeface="Calibri"/>
                <a:ea typeface="DejaVu Sans"/>
              </a:rPr>
              <a:t>Когнитивный</a:t>
            </a:r>
            <a:endParaRPr lang="ru-RU" sz="1800" b="0" strike="noStrike" spc="-1">
              <a:latin typeface="Arial"/>
            </a:endParaRPr>
          </a:p>
          <a:p>
            <a:pPr marL="285840" indent="-2847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Последовательный</a:t>
            </a:r>
            <a:endParaRPr lang="ru-RU" sz="1800" b="0" strike="noStrike" spc="-1">
              <a:latin typeface="Arial"/>
            </a:endParaRPr>
          </a:p>
          <a:p>
            <a:pPr marL="285840" indent="-2847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Основанный на правилах</a:t>
            </a:r>
            <a:endParaRPr lang="ru-RU" sz="1800" b="0" strike="noStrike" spc="-1">
              <a:latin typeface="Arial"/>
            </a:endParaRPr>
          </a:p>
          <a:p>
            <a:pPr marL="285840" indent="-2847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Рациональный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68" name="CustomShape 6"/>
          <p:cNvSpPr/>
          <p:nvPr/>
        </p:nvSpPr>
        <p:spPr>
          <a:xfrm>
            <a:off x="4140360" y="1901880"/>
            <a:ext cx="792720" cy="37980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ln>
            <a:rou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</p:sp>
      <p:sp>
        <p:nvSpPr>
          <p:cNvPr id="169" name="CustomShape 7"/>
          <p:cNvSpPr/>
          <p:nvPr/>
        </p:nvSpPr>
        <p:spPr>
          <a:xfrm flipH="1" flipV="1">
            <a:off x="4091760" y="1449720"/>
            <a:ext cx="792720" cy="37980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ln>
            <a:rou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Эмоции: недостаток или преимущество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latin typeface="Arial"/>
            </a:endParaRPr>
          </a:p>
        </p:txBody>
      </p:sp>
      <p:sp>
        <p:nvSpPr>
          <p:cNvPr id="171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98BE97B1-A19B-4A28-A071-336A48C67228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19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72" name="CustomShape 3"/>
          <p:cNvSpPr/>
          <p:nvPr/>
        </p:nvSpPr>
        <p:spPr>
          <a:xfrm>
            <a:off x="457200" y="833400"/>
            <a:ext cx="8063280" cy="396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lnSpc>
                <a:spcPct val="100000"/>
              </a:lnSpc>
              <a:spcBef>
                <a:spcPts val="1800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EC0044"/>
                </a:solidFill>
                <a:latin typeface="Calibri"/>
                <a:ea typeface="DejaVu Sans"/>
              </a:rPr>
              <a:t>«Только тот использует свою страсть, кто не может использовать свой разум» (Цицерон).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800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EC0044"/>
                </a:solidFill>
                <a:latin typeface="Calibri"/>
                <a:ea typeface="DejaVu Sans"/>
              </a:rPr>
              <a:t>«Страсти подобны демонам … наша единственная безопасность состоит в том, чтобы держать их спящими. Если они проснутся, мы пропали» (Гете).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800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0B050"/>
                </a:solidFill>
                <a:latin typeface="Calibri"/>
                <a:ea typeface="DejaVu Sans"/>
              </a:rPr>
              <a:t>«Страсти – это ветры, которые наполняют паруса судна; они иногда топят его, но без них невозможно было бы проложить путь» (Вольтер).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800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0B050"/>
                </a:solidFill>
                <a:latin typeface="Calibri"/>
                <a:ea typeface="DejaVu Sans"/>
              </a:rPr>
              <a:t>«Людям все равно, сколько вы знаете, до тех пор, пока они не узнают, насколько вам не все равно» (Теодор Рузвельт).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Без эмоций у нас не было бы никакой мотивации, никакого импульса или побуждения действовать или даже рассуждать, эмоции необходимы для принятия решений.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Тепловая карта эмоций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latin typeface="Arial"/>
            </a:endParaRPr>
          </a:p>
        </p:txBody>
      </p:sp>
      <p:sp>
        <p:nvSpPr>
          <p:cNvPr id="174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B3B1FC54-01EE-4007-A9F7-37FB430B62BA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20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75" name="CustomShape 3"/>
          <p:cNvSpPr/>
          <p:nvPr/>
        </p:nvSpPr>
        <p:spPr>
          <a:xfrm>
            <a:off x="457200" y="833400"/>
            <a:ext cx="8063280" cy="396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76" name="Рисунок 175"/>
          <p:cNvPicPr/>
          <p:nvPr/>
        </p:nvPicPr>
        <p:blipFill>
          <a:blip r:embed="rId2"/>
          <a:stretch/>
        </p:blipFill>
        <p:spPr>
          <a:xfrm>
            <a:off x="2664000" y="599760"/>
            <a:ext cx="4316760" cy="4437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Тепловая карта эмоций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latin typeface="Arial"/>
            </a:endParaRPr>
          </a:p>
        </p:txBody>
      </p:sp>
      <p:sp>
        <p:nvSpPr>
          <p:cNvPr id="178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D11ADD66-9B03-4DB9-982E-9C131903E6AD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21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79" name="CustomShape 3"/>
          <p:cNvSpPr/>
          <p:nvPr/>
        </p:nvSpPr>
        <p:spPr>
          <a:xfrm>
            <a:off x="457200" y="833400"/>
            <a:ext cx="8063280" cy="396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80" name="Рисунок 179"/>
          <p:cNvPicPr/>
          <p:nvPr/>
        </p:nvPicPr>
        <p:blipFill>
          <a:blip r:embed="rId2"/>
          <a:stretch/>
        </p:blipFill>
        <p:spPr>
          <a:xfrm>
            <a:off x="1776240" y="922320"/>
            <a:ext cx="5218920" cy="3613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Тепловая карта эмоций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latin typeface="Arial"/>
            </a:endParaRPr>
          </a:p>
        </p:txBody>
      </p:sp>
      <p:sp>
        <p:nvSpPr>
          <p:cNvPr id="182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E0526EA4-92CE-40F8-B411-D00BF755787F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22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83" name="CustomShape 3"/>
          <p:cNvSpPr/>
          <p:nvPr/>
        </p:nvSpPr>
        <p:spPr>
          <a:xfrm>
            <a:off x="457200" y="833400"/>
            <a:ext cx="8063280" cy="396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84" name="Рисунок 183"/>
          <p:cNvPicPr/>
          <p:nvPr/>
        </p:nvPicPr>
        <p:blipFill>
          <a:blip r:embed="rId2"/>
          <a:stretch/>
        </p:blipFill>
        <p:spPr>
          <a:xfrm>
            <a:off x="2204280" y="932040"/>
            <a:ext cx="4781160" cy="3304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Функции эмоций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latin typeface="Arial"/>
            </a:endParaRPr>
          </a:p>
        </p:txBody>
      </p:sp>
      <p:sp>
        <p:nvSpPr>
          <p:cNvPr id="186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978B9DAD-CB83-457C-AACF-39FF1F48A3D4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23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87" name="CustomShape 3"/>
          <p:cNvSpPr/>
          <p:nvPr/>
        </p:nvSpPr>
        <p:spPr>
          <a:xfrm>
            <a:off x="457200" y="833400"/>
            <a:ext cx="8063280" cy="396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3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Физические: </a:t>
            </a:r>
            <a:endParaRPr lang="ru-RU" sz="180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1199"/>
              </a:spcBef>
              <a:buClr>
                <a:srgbClr val="0230AC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Подготовка к действию: заряжает организм энергией, меняет положение тела.  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3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Когнитивные: </a:t>
            </a:r>
            <a:endParaRPr lang="ru-RU" sz="180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1199"/>
              </a:spcBef>
              <a:buClr>
                <a:srgbClr val="0230AC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Непрерывная оценка значимых событий.</a:t>
            </a:r>
            <a:endParaRPr lang="ru-RU" sz="180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1199"/>
              </a:spcBef>
              <a:buClr>
                <a:srgbClr val="0230AC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Изменение поведения и целей.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3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Социальные: </a:t>
            </a:r>
            <a:endParaRPr lang="ru-RU" sz="180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1199"/>
              </a:spcBef>
              <a:buClr>
                <a:srgbClr val="0230AC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Сигнализация: передача информации о психическом состоянии.</a:t>
            </a:r>
            <a:endParaRPr lang="ru-RU" sz="180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1199"/>
              </a:spcBef>
              <a:buClr>
                <a:srgbClr val="0230AC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Координация: ориентация и координация группового реагирования. 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Функции эмоций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latin typeface="Arial"/>
            </a:endParaRPr>
          </a:p>
        </p:txBody>
      </p:sp>
      <p:sp>
        <p:nvSpPr>
          <p:cNvPr id="186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978B9DAD-CB83-457C-AACF-39FF1F48A3D4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24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87" name="CustomShape 3"/>
          <p:cNvSpPr/>
          <p:nvPr/>
        </p:nvSpPr>
        <p:spPr>
          <a:xfrm>
            <a:off x="457200" y="833400"/>
            <a:ext cx="8063280" cy="396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3"/>
              </a:buBlip>
            </a:pPr>
            <a:r>
              <a:rPr lang="ru-RU" sz="1800" b="0" strike="noStrike" spc="-1" dirty="0" smtClean="0">
                <a:solidFill>
                  <a:srgbClr val="0230AC"/>
                </a:solidFill>
                <a:latin typeface="Calibri"/>
                <a:ea typeface="DejaVu Sans"/>
              </a:rPr>
              <a:t>Защитная:</a:t>
            </a:r>
          </a:p>
          <a:p>
            <a:pPr marL="800280" lvl="1" indent="-342000">
              <a:spcBef>
                <a:spcPts val="1199"/>
              </a:spcBef>
              <a:buSzPct val="100045"/>
              <a:buFont typeface="Arial" panose="020B0604020202020204" pitchFamily="34" charset="0"/>
              <a:buChar char="•"/>
            </a:pPr>
            <a:r>
              <a:rPr lang="ru-RU" spc="-1" dirty="0">
                <a:solidFill>
                  <a:srgbClr val="0230AC"/>
                </a:solidFill>
                <a:latin typeface="Calibri"/>
              </a:rPr>
              <a:t>п</a:t>
            </a: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оложительные </a:t>
            </a:r>
            <a:r>
              <a:rPr lang="ru-RU" spc="-1" dirty="0">
                <a:solidFill>
                  <a:srgbClr val="0230AC"/>
                </a:solidFill>
                <a:latin typeface="Calibri"/>
              </a:rPr>
              <a:t>эмоции, возникающие при достижении цели, запоминаются и при похожей ситуации могут извлекаться из памяти для получения такого же полезного </a:t>
            </a: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результата; </a:t>
            </a:r>
          </a:p>
          <a:p>
            <a:pPr marL="800280" lvl="1" indent="-342000">
              <a:spcBef>
                <a:spcPts val="1199"/>
              </a:spcBef>
              <a:buSzPct val="100045"/>
              <a:buFont typeface="Arial" panose="020B0604020202020204" pitchFamily="34" charset="0"/>
              <a:buChar char="•"/>
            </a:pP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отрицательные эмоции </a:t>
            </a:r>
            <a:r>
              <a:rPr lang="ru-RU" spc="-1" dirty="0">
                <a:solidFill>
                  <a:srgbClr val="0230AC"/>
                </a:solidFill>
                <a:latin typeface="Calibri"/>
              </a:rPr>
              <a:t>предупреждают от повторного совершения ошибок.</a:t>
            </a:r>
          </a:p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3"/>
              </a:buBlip>
            </a:pPr>
            <a:r>
              <a:rPr lang="ru-RU" sz="1800" b="0" strike="noStrike" spc="-1" dirty="0" smtClean="0">
                <a:solidFill>
                  <a:srgbClr val="0230AC"/>
                </a:solidFill>
                <a:latin typeface="Calibri"/>
                <a:ea typeface="DejaVu Sans"/>
              </a:rPr>
              <a:t>Воздействие на познавательные процессы:</a:t>
            </a:r>
            <a:endParaRPr lang="ru-RU" sz="1800" b="0" strike="noStrike" spc="-1" dirty="0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1199"/>
              </a:spcBef>
              <a:buClr>
                <a:srgbClr val="0230AC"/>
              </a:buClr>
              <a:buFont typeface="Arial"/>
              <a:buChar char="•"/>
            </a:pPr>
            <a:r>
              <a:rPr lang="ru-RU" spc="-1" dirty="0">
                <a:solidFill>
                  <a:srgbClr val="0230AC"/>
                </a:solidFill>
                <a:latin typeface="Calibri"/>
              </a:rPr>
              <a:t>эмоционально окрашенные события </a:t>
            </a: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запоминаются </a:t>
            </a:r>
            <a:r>
              <a:rPr lang="ru-RU" spc="-1" dirty="0">
                <a:solidFill>
                  <a:srgbClr val="0230AC"/>
                </a:solidFill>
                <a:latin typeface="Calibri"/>
              </a:rPr>
              <a:t>лучше, чем </a:t>
            </a: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нейтральные; </a:t>
            </a:r>
            <a:endParaRPr lang="ru-RU" spc="-1" dirty="0">
              <a:solidFill>
                <a:srgbClr val="0230AC"/>
              </a:solidFill>
              <a:latin typeface="Calibri"/>
            </a:endParaRPr>
          </a:p>
          <a:p>
            <a:pPr marL="743040" lvl="1" indent="-284760">
              <a:lnSpc>
                <a:spcPct val="100000"/>
              </a:lnSpc>
              <a:spcBef>
                <a:spcPts val="1199"/>
              </a:spcBef>
              <a:buClr>
                <a:srgbClr val="0230AC"/>
              </a:buClr>
              <a:buFont typeface="Arial"/>
              <a:buChar char="•"/>
            </a:pP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благодаря эмоциональным механизмам лучше работает </a:t>
            </a:r>
            <a:r>
              <a:rPr lang="ru-RU" spc="-1" dirty="0">
                <a:solidFill>
                  <a:srgbClr val="0230AC"/>
                </a:solidFill>
                <a:latin typeface="Calibri"/>
              </a:rPr>
              <a:t>воображение</a:t>
            </a: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.</a:t>
            </a:r>
          </a:p>
          <a:p>
            <a:pPr marL="458280" lvl="1">
              <a:lnSpc>
                <a:spcPct val="100000"/>
              </a:lnSpc>
              <a:spcBef>
                <a:spcPts val="1199"/>
              </a:spcBef>
              <a:buClr>
                <a:srgbClr val="0230AC"/>
              </a:buClr>
            </a:pPr>
            <a:endParaRPr lang="ru-RU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501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Функции эмоций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latin typeface="Arial"/>
            </a:endParaRPr>
          </a:p>
        </p:txBody>
      </p:sp>
      <p:sp>
        <p:nvSpPr>
          <p:cNvPr id="186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978B9DAD-CB83-457C-AACF-39FF1F48A3D4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25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87" name="CustomShape 3"/>
          <p:cNvSpPr/>
          <p:nvPr/>
        </p:nvSpPr>
        <p:spPr>
          <a:xfrm>
            <a:off x="457200" y="833400"/>
            <a:ext cx="8063280" cy="396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3"/>
              </a:buBlip>
            </a:pPr>
            <a:r>
              <a:rPr lang="ru-RU" sz="1800" b="0" strike="noStrike" spc="-1" dirty="0" smtClean="0">
                <a:solidFill>
                  <a:srgbClr val="0230AC"/>
                </a:solidFill>
                <a:latin typeface="Calibri"/>
                <a:ea typeface="DejaVu Sans"/>
              </a:rPr>
              <a:t>Коммуникативная</a:t>
            </a:r>
          </a:p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3"/>
              </a:buBlip>
            </a:pPr>
            <a:r>
              <a:rPr lang="ru-RU" spc="-1" dirty="0" err="1" smtClean="0">
                <a:solidFill>
                  <a:srgbClr val="0230AC"/>
                </a:solidFill>
                <a:latin typeface="Calibri"/>
              </a:rPr>
              <a:t>Дезорганизующая</a:t>
            </a:r>
            <a:endParaRPr lang="ru-RU" spc="-1" dirty="0" smtClean="0">
              <a:solidFill>
                <a:srgbClr val="0230AC"/>
              </a:solidFill>
              <a:latin typeface="Calibri"/>
            </a:endParaRPr>
          </a:p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3"/>
              </a:buBlip>
            </a:pPr>
            <a:r>
              <a:rPr lang="ru-RU" spc="-1" dirty="0" smtClean="0">
                <a:solidFill>
                  <a:srgbClr val="0230AC"/>
                </a:solidFill>
                <a:latin typeface="Calibri"/>
              </a:rPr>
              <a:t>Мобилизующая</a:t>
            </a:r>
            <a:endParaRPr lang="ru-RU" spc="-1" dirty="0">
              <a:solidFill>
                <a:srgbClr val="0230AC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56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Цели и направления исследований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latin typeface="Arial"/>
            </a:endParaRPr>
          </a:p>
        </p:txBody>
      </p:sp>
      <p:sp>
        <p:nvSpPr>
          <p:cNvPr id="189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5CA8E299-54F1-409E-AE07-C3E9A2349F23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26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90" name="CustomShape 3"/>
          <p:cNvSpPr/>
          <p:nvPr/>
        </p:nvSpPr>
        <p:spPr>
          <a:xfrm>
            <a:off x="457200" y="833400"/>
            <a:ext cx="8063280" cy="396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lnSpc>
                <a:spcPct val="100000"/>
              </a:lnSpc>
              <a:spcBef>
                <a:spcPts val="300"/>
              </a:spcBef>
              <a:buSzPct val="100051"/>
              <a:buBlip>
                <a:blip r:embed="rId2"/>
              </a:buBlip>
            </a:pPr>
            <a:r>
              <a:rPr lang="ru-RU" sz="1600" b="1" strike="noStrike" spc="-1">
                <a:solidFill>
                  <a:srgbClr val="0230AC"/>
                </a:solidFill>
                <a:latin typeface="Calibri"/>
                <a:ea typeface="DejaVu Sans"/>
              </a:rPr>
              <a:t>Цели</a:t>
            </a: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: </a:t>
            </a:r>
            <a:endParaRPr lang="ru-RU" sz="160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0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Создание</a:t>
            </a:r>
            <a:r>
              <a:rPr lang="ru-RU" sz="1600" b="1" strike="noStrike" spc="-1">
                <a:solidFill>
                  <a:srgbClr val="0230AC"/>
                </a:solidFill>
                <a:latin typeface="Calibri"/>
                <a:ea typeface="DejaVu Sans"/>
              </a:rPr>
              <a:t> систем</a:t>
            </a: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, которые обнаруживают эмоции пользователя. </a:t>
            </a:r>
            <a:endParaRPr lang="ru-RU" sz="160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0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Создание</a:t>
            </a:r>
            <a:r>
              <a:rPr lang="ru-RU" sz="1600" b="1" strike="noStrike" spc="-1">
                <a:solidFill>
                  <a:srgbClr val="0230AC"/>
                </a:solidFill>
                <a:latin typeface="Calibri"/>
                <a:ea typeface="DejaVu Sans"/>
              </a:rPr>
              <a:t> систем</a:t>
            </a: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, которые выражают то, что человек воспринимает в качестве  эмоций.</a:t>
            </a:r>
            <a:endParaRPr lang="ru-RU" sz="160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0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Создание</a:t>
            </a:r>
            <a:r>
              <a:rPr lang="ru-RU" sz="1600" b="1" strike="noStrike" spc="-1">
                <a:solidFill>
                  <a:srgbClr val="0230AC"/>
                </a:solidFill>
                <a:latin typeface="Calibri"/>
                <a:ea typeface="DejaVu Sans"/>
              </a:rPr>
              <a:t> систем</a:t>
            </a: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, которые на самом деле «переживают» эмоцию. Идентификация эмоций по выражению лица, голосу, тексту, физиологическим характеристикам.</a:t>
            </a:r>
            <a:endParaRPr lang="ru-RU" sz="16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300"/>
              </a:spcBef>
              <a:buSzPct val="100051"/>
              <a:buBlip>
                <a:blip r:embed="rId2"/>
              </a:buBlip>
            </a:pPr>
            <a:r>
              <a:rPr lang="ru-RU" sz="1600" b="1" strike="noStrike" spc="-1">
                <a:solidFill>
                  <a:srgbClr val="0230AC"/>
                </a:solidFill>
                <a:latin typeface="Calibri"/>
                <a:ea typeface="DejaVu Sans"/>
              </a:rPr>
              <a:t>Направления</a:t>
            </a: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: </a:t>
            </a:r>
            <a:endParaRPr lang="ru-RU" sz="160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0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600" b="1" strike="noStrike" spc="-1">
                <a:solidFill>
                  <a:srgbClr val="0230AC"/>
                </a:solidFill>
                <a:latin typeface="Calibri"/>
                <a:ea typeface="DejaVu Sans"/>
              </a:rPr>
              <a:t>Воспроизведение эмоций</a:t>
            </a: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 при синтезе речи и выражений лица.</a:t>
            </a:r>
            <a:endParaRPr lang="ru-RU" sz="160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0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600" b="1" strike="noStrike" spc="-1">
                <a:solidFill>
                  <a:srgbClr val="0230AC"/>
                </a:solidFill>
                <a:latin typeface="Calibri"/>
                <a:ea typeface="DejaVu Sans"/>
              </a:rPr>
              <a:t>Моделирование влияния эмоций </a:t>
            </a: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на принятие решений, моделирование факторов, вызывающих эмоции. </a:t>
            </a:r>
            <a:endParaRPr lang="ru-RU" sz="160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0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600" b="1" strike="noStrike" spc="-1">
                <a:solidFill>
                  <a:srgbClr val="0230AC"/>
                </a:solidFill>
                <a:latin typeface="Calibri"/>
                <a:ea typeface="DejaVu Sans"/>
              </a:rPr>
              <a:t>Разработка приложений </a:t>
            </a: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для медицины, образования, игр и развлечений.</a:t>
            </a:r>
            <a:endParaRPr lang="ru-RU" sz="160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00"/>
              </a:spcBef>
              <a:buClr>
                <a:srgbClr val="0230AC"/>
              </a:buClr>
              <a:buFont typeface="Arial"/>
              <a:buChar char="•"/>
            </a:pPr>
            <a:r>
              <a:rPr lang="ru-RU" sz="1600" b="1" strike="noStrike" spc="-1">
                <a:solidFill>
                  <a:srgbClr val="0230AC"/>
                </a:solidFill>
                <a:latin typeface="Calibri"/>
                <a:ea typeface="DejaVu Sans"/>
              </a:rPr>
              <a:t>Исследование когнитивных процессов</a:t>
            </a: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.</a:t>
            </a:r>
            <a:endParaRPr lang="ru-RU" sz="16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Сферы применения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latin typeface="Arial"/>
            </a:endParaRPr>
          </a:p>
        </p:txBody>
      </p:sp>
      <p:sp>
        <p:nvSpPr>
          <p:cNvPr id="192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37BE02F6-2CC7-4A68-97DA-8D4B5B1E7956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27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93" name="CustomShape 3"/>
          <p:cNvSpPr/>
          <p:nvPr/>
        </p:nvSpPr>
        <p:spPr>
          <a:xfrm>
            <a:off x="457200" y="833400"/>
            <a:ext cx="8063280" cy="396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lnSpc>
                <a:spcPct val="100000"/>
              </a:lnSpc>
              <a:spcBef>
                <a:spcPts val="300"/>
              </a:spcBef>
              <a:buSzPct val="100051"/>
              <a:buBlip>
                <a:blip r:embed="rId2"/>
              </a:buBlip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Образование — эмоциональное состояние оказывает существенное влияние на его способности к обучению. </a:t>
            </a:r>
            <a:endParaRPr lang="ru-RU" sz="16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300"/>
              </a:spcBef>
              <a:buSzPct val="100051"/>
              <a:buBlip>
                <a:blip r:embed="rId2"/>
              </a:buBlip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Медицина (использование социальных роботов).</a:t>
            </a:r>
            <a:endParaRPr lang="ru-RU" sz="16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300"/>
              </a:spcBef>
              <a:buSzPct val="100051"/>
              <a:buBlip>
                <a:blip r:embed="rId2"/>
              </a:buBlip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Компьютерные игры.</a:t>
            </a:r>
            <a:endParaRPr lang="ru-RU" sz="16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300"/>
              </a:spcBef>
              <a:buSzPct val="100051"/>
              <a:buBlip>
                <a:blip r:embed="rId2"/>
              </a:buBlip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Социальный мониторинг.</a:t>
            </a:r>
            <a:endParaRPr lang="ru-RU" sz="16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300"/>
              </a:spcBef>
              <a:buSzPct val="100051"/>
              <a:buBlip>
                <a:blip r:embed="rId2"/>
              </a:buBlip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Маркетинг.</a:t>
            </a:r>
            <a:endParaRPr lang="ru-RU" sz="16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300"/>
              </a:spcBef>
              <a:buSzPct val="100051"/>
              <a:buBlip>
                <a:blip r:embed="rId2"/>
              </a:buBlip>
            </a:pPr>
            <a:r>
              <a:rPr lang="ru-RU" sz="1600" b="0" strike="noStrike" spc="-1">
                <a:solidFill>
                  <a:srgbClr val="0230AC"/>
                </a:solidFill>
                <a:latin typeface="Calibri"/>
                <a:ea typeface="DejaVu Sans"/>
              </a:rPr>
              <a:t>Отслеживание состояний водителей. </a:t>
            </a:r>
            <a:endParaRPr lang="ru-RU" sz="16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Измерение эмоций  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latin typeface="Arial"/>
            </a:endParaRPr>
          </a:p>
        </p:txBody>
      </p:sp>
      <p:sp>
        <p:nvSpPr>
          <p:cNvPr id="195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F6D9F4E8-2224-43A4-8F75-86E13CE0D612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28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196" name="CustomShape 3"/>
          <p:cNvSpPr/>
          <p:nvPr/>
        </p:nvSpPr>
        <p:spPr>
          <a:xfrm>
            <a:off x="457200" y="833400"/>
            <a:ext cx="8063280" cy="4169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Выражение лица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Цвет лица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Голос 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Жесты 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Движения глаз  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Активность сердечно-сосудистой системы 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Электрическая активность мышц лица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Электрическая активность кожи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Электрическая активность мозга 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Анализ текста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197" name="Рисунок 1"/>
          <p:cNvPicPr/>
          <p:nvPr/>
        </p:nvPicPr>
        <p:blipFill>
          <a:blip r:embed="rId3"/>
          <a:stretch/>
        </p:blipFill>
        <p:spPr>
          <a:xfrm>
            <a:off x="5627520" y="833400"/>
            <a:ext cx="3096360" cy="3096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Применяемые алгоритмы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latin typeface="Arial"/>
            </a:endParaRPr>
          </a:p>
        </p:txBody>
      </p:sp>
      <p:sp>
        <p:nvSpPr>
          <p:cNvPr id="199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0B1444DF-49CF-4D0C-A7D6-853BDCA02CD5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29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00" name="CustomShape 3"/>
          <p:cNvSpPr/>
          <p:nvPr/>
        </p:nvSpPr>
        <p:spPr>
          <a:xfrm>
            <a:off x="457200" y="833400"/>
            <a:ext cx="8063280" cy="396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Алгоритм k-ближайших соседей 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Метод опорных векторов 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Деревья решений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Гауссова модель смеси 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Искусственные нейронные смеси 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Скрытая марковская модель 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201" name="Рисунок 1"/>
          <p:cNvPicPr/>
          <p:nvPr/>
        </p:nvPicPr>
        <p:blipFill>
          <a:blip r:embed="rId3"/>
          <a:stretch/>
        </p:blipFill>
        <p:spPr>
          <a:xfrm>
            <a:off x="5449320" y="833400"/>
            <a:ext cx="3425400" cy="2890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ustomShape 1"/>
          <p:cNvSpPr/>
          <p:nvPr/>
        </p:nvSpPr>
        <p:spPr>
          <a:xfrm>
            <a:off x="0" y="0"/>
            <a:ext cx="6666480" cy="48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230AC"/>
                </a:solidFill>
                <a:latin typeface="Calibri"/>
                <a:ea typeface="DejaVu Sans"/>
              </a:rPr>
              <a:t>Задачи дисциплины 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latin typeface="Arial"/>
            </a:endParaRPr>
          </a:p>
        </p:txBody>
      </p:sp>
      <p:sp>
        <p:nvSpPr>
          <p:cNvPr id="203" name="CustomShape 2"/>
          <p:cNvSpPr/>
          <p:nvPr/>
        </p:nvSpPr>
        <p:spPr>
          <a:xfrm>
            <a:off x="8607960" y="1440"/>
            <a:ext cx="5349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fld id="{9A62D8FB-6076-4ADC-96AC-B577E3F72507}" type="slidenum">
              <a:rPr lang="ru-RU" sz="1800" b="1" strike="noStrike" spc="-1">
                <a:solidFill>
                  <a:srgbClr val="0230AC"/>
                </a:solidFill>
                <a:latin typeface="Calibri"/>
                <a:ea typeface="DejaVu Sans"/>
              </a:rPr>
              <a:t>30</a:t>
            </a:fld>
            <a:endParaRPr lang="ru-RU" sz="1800" b="0" strike="noStrike" spc="-1">
              <a:latin typeface="Arial"/>
            </a:endParaRPr>
          </a:p>
        </p:txBody>
      </p:sp>
      <p:sp>
        <p:nvSpPr>
          <p:cNvPr id="204" name="CustomShape 3"/>
          <p:cNvSpPr/>
          <p:nvPr/>
        </p:nvSpPr>
        <p:spPr>
          <a:xfrm>
            <a:off x="457200" y="833400"/>
            <a:ext cx="8063280" cy="4169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Формирование базового понимания теории эмоций и ряда социальных наук.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Формирование понимания функций эмоций в контексте автономных  систем и человеко-машинного взаимодействия.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Формирование представления о текущем состоянии области аффективных вычислений.</a:t>
            </a:r>
            <a:endParaRPr lang="ru-RU" sz="1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1199"/>
              </a:spcBef>
              <a:buSzPct val="100045"/>
              <a:buBlip>
                <a:blip r:embed="rId2"/>
              </a:buBlip>
            </a:pPr>
            <a:r>
              <a:rPr lang="ru-RU" sz="1800" b="0" strike="noStrike" spc="-1">
                <a:solidFill>
                  <a:srgbClr val="0230AC"/>
                </a:solidFill>
                <a:latin typeface="Calibri"/>
                <a:ea typeface="DejaVu Sans"/>
              </a:rPr>
              <a:t>Формирование понимания методологических вопросов, связанных со сбором и анализом данных об эмоциях человека.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CustomShape 1"/>
          <p:cNvSpPr/>
          <p:nvPr/>
        </p:nvSpPr>
        <p:spPr>
          <a:xfrm>
            <a:off x="457200" y="1699920"/>
            <a:ext cx="8228520" cy="61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200" b="1" strike="noStrike" spc="-1">
                <a:solidFill>
                  <a:srgbClr val="FFFFFF"/>
                </a:solidFill>
                <a:latin typeface="Calibri"/>
                <a:ea typeface="DejaVu Sans"/>
              </a:rPr>
              <a:t>Спасибо за внимание!</a:t>
            </a: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230AC"/>
      </a:dk2>
      <a:lt2>
        <a:srgbClr val="FFFFFF"/>
      </a:lt2>
      <a:accent1>
        <a:srgbClr val="EC0044"/>
      </a:accent1>
      <a:accent2>
        <a:srgbClr val="0230AC"/>
      </a:accent2>
      <a:accent3>
        <a:srgbClr val="8F32AC"/>
      </a:accent3>
      <a:accent4>
        <a:srgbClr val="0057AC"/>
      </a:accent4>
      <a:accent5>
        <a:srgbClr val="EC5A00"/>
      </a:accent5>
      <a:accent6>
        <a:srgbClr val="ECEC00"/>
      </a:accent6>
      <a:hlink>
        <a:srgbClr val="4BBCFF"/>
      </a:hlink>
      <a:folHlink>
        <a:srgbClr val="C000C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230AC"/>
      </a:dk2>
      <a:lt2>
        <a:srgbClr val="FFFFFF"/>
      </a:lt2>
      <a:accent1>
        <a:srgbClr val="EC0044"/>
      </a:accent1>
      <a:accent2>
        <a:srgbClr val="0230AC"/>
      </a:accent2>
      <a:accent3>
        <a:srgbClr val="8F32AC"/>
      </a:accent3>
      <a:accent4>
        <a:srgbClr val="0057AC"/>
      </a:accent4>
      <a:accent5>
        <a:srgbClr val="EC5A00"/>
      </a:accent5>
      <a:accent6>
        <a:srgbClr val="ECEC00"/>
      </a:accent6>
      <a:hlink>
        <a:srgbClr val="4BBCFF"/>
      </a:hlink>
      <a:folHlink>
        <a:srgbClr val="C000C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230AC"/>
      </a:dk2>
      <a:lt2>
        <a:srgbClr val="FFFFFF"/>
      </a:lt2>
      <a:accent1>
        <a:srgbClr val="EC0044"/>
      </a:accent1>
      <a:accent2>
        <a:srgbClr val="0230AC"/>
      </a:accent2>
      <a:accent3>
        <a:srgbClr val="8F32AC"/>
      </a:accent3>
      <a:accent4>
        <a:srgbClr val="0057AC"/>
      </a:accent4>
      <a:accent5>
        <a:srgbClr val="EC5A00"/>
      </a:accent5>
      <a:accent6>
        <a:srgbClr val="ECEC00"/>
      </a:accent6>
      <a:hlink>
        <a:srgbClr val="4BBCFF"/>
      </a:hlink>
      <a:folHlink>
        <a:srgbClr val="C000C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230AC"/>
      </a:dk2>
      <a:lt2>
        <a:srgbClr val="FFFFFF"/>
      </a:lt2>
      <a:accent1>
        <a:srgbClr val="EC0044"/>
      </a:accent1>
      <a:accent2>
        <a:srgbClr val="0230AC"/>
      </a:accent2>
      <a:accent3>
        <a:srgbClr val="8F32AC"/>
      </a:accent3>
      <a:accent4>
        <a:srgbClr val="0057AC"/>
      </a:accent4>
      <a:accent5>
        <a:srgbClr val="EC5A00"/>
      </a:accent5>
      <a:accent6>
        <a:srgbClr val="ECEC00"/>
      </a:accent6>
      <a:hlink>
        <a:srgbClr val="4BBCFF"/>
      </a:hlink>
      <a:folHlink>
        <a:srgbClr val="C000C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9550</TotalTime>
  <Words>1516</Words>
  <Application>Microsoft Office PowerPoint</Application>
  <PresentationFormat>Экран (16:9)</PresentationFormat>
  <Paragraphs>228</Paragraphs>
  <Slides>31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31</vt:i4>
      </vt:variant>
    </vt:vector>
  </HeadingPairs>
  <TitlesOfParts>
    <vt:vector size="42" baseType="lpstr">
      <vt:lpstr>Arial</vt:lpstr>
      <vt:lpstr>Calibri</vt:lpstr>
      <vt:lpstr>DejaVu Sans</vt:lpstr>
      <vt:lpstr>Symbol</vt:lpstr>
      <vt:lpstr>T4</vt:lpstr>
      <vt:lpstr>Times New Roman</vt:lpstr>
      <vt:lpstr>Verdana</vt:lpstr>
      <vt:lpstr>Wingdings</vt:lpstr>
      <vt:lpstr>Office Theme</vt:lpstr>
      <vt:lpstr>Office Theme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</dc:creator>
  <dc:description/>
  <cp:lastModifiedBy>user</cp:lastModifiedBy>
  <cp:revision>327</cp:revision>
  <cp:lastPrinted>2020-01-17T10:12:59Z</cp:lastPrinted>
  <dcterms:created xsi:type="dcterms:W3CDTF">2014-06-27T12:30:22Z</dcterms:created>
  <dcterms:modified xsi:type="dcterms:W3CDTF">2025-04-21T15:43:40Z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Экран (16:9)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17</vt:i4>
  </property>
</Properties>
</file>